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7mulbShFMoXGQy9jDhn4yO+4Q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g3e955750272_3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g3e955750272_3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안녕하세요, 팀 PolicyRec입니다.</a:t>
            </a:r>
            <a:endParaRPr/>
          </a:p>
          <a:p>
            <a:pPr indent="0" lvl="0" marL="0" rtl="0" algn="l">
              <a:lnSpc>
                <a:spcPct val="100000"/>
              </a:lnSpc>
              <a:spcBef>
                <a:spcPts val="0"/>
              </a:spcBef>
              <a:spcAft>
                <a:spcPts val="0"/>
              </a:spcAft>
              <a:buSzPts val="1400"/>
              <a:buNone/>
            </a:pPr>
            <a:r>
              <a:rPr lang="en-US"/>
              <a:t>PolicyRec은 Policy와 Recommendation을 조합한 이름이고, 사용자가 자기 상황에 맞는 정책 탐색을 쉽게 할 수 있도록 만든 웹 서비스입니다.</a:t>
            </a:r>
            <a:endParaRPr/>
          </a:p>
          <a:p>
            <a:pPr indent="0" lvl="0" marL="0" rtl="0" algn="l">
              <a:lnSpc>
                <a:spcPct val="100000"/>
              </a:lnSpc>
              <a:spcBef>
                <a:spcPts val="0"/>
              </a:spcBef>
              <a:spcAft>
                <a:spcPts val="0"/>
              </a:spcAft>
              <a:buSzPts val="1400"/>
              <a:buNone/>
            </a:pPr>
            <a:r>
              <a:rPr lang="en-US"/>
              <a:t>팀은 공식 API 수집·정제, Supabase 적재, Next.js 웹 구현·테스트를 나눠 진행했습니다.</a:t>
            </a:r>
            <a:endParaRPr/>
          </a:p>
          <a:p>
            <a:pPr indent="0" lvl="0" marL="0" rtl="0" algn="l">
              <a:lnSpc>
                <a:spcPct val="100000"/>
              </a:lnSpc>
              <a:spcBef>
                <a:spcPts val="0"/>
              </a:spcBef>
              <a:spcAft>
                <a:spcPts val="0"/>
              </a:spcAft>
              <a:buSzPts val="1400"/>
              <a:buNone/>
            </a:pPr>
            <a:r>
              <a:rPr lang="en-US"/>
              <a:t>오늘은 먼저 비로그인 상태의 검색·챗봇 흐름, 이어서 로그인 후 스크랩·마이페이지·AI 추천 흐름, 마지막으로 서비스 뒤의 데이터와 구조를 순서대로 보여드리겠습니다.</a:t>
            </a:r>
            <a:endParaRPr/>
          </a:p>
        </p:txBody>
      </p:sp>
      <p:sp>
        <p:nvSpPr>
          <p:cNvPr id="16" name="Google Shape;16;g3e955750272_3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955750272_3_8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e955750272_3_81: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정책 지원사업은 많지만, 사용자가 자기 상황에 맞는 정책을 찾으려면 여러 사이트를 오가며 확인해야 합니다.</a:t>
            </a:r>
            <a:endParaRPr/>
          </a:p>
          <a:p>
            <a:pPr indent="0" lvl="0" marL="0" rtl="0" algn="l">
              <a:lnSpc>
                <a:spcPct val="100000"/>
              </a:lnSpc>
              <a:spcBef>
                <a:spcPts val="0"/>
              </a:spcBef>
              <a:spcAft>
                <a:spcPts val="0"/>
              </a:spcAft>
              <a:buSzPts val="1400"/>
              <a:buNone/>
            </a:pPr>
            <a:r>
              <a:rPr lang="en-US"/>
              <a:t>사이트를 찾았다고 해도 제목만으로는 충분하지 않고, 지역·나이·분야·신청 기간·지원 대상 같은 세부 조건을 직접 비교해야 해서 처음 찾는 사용자에게는 시작점부터 어렵습니다.</a:t>
            </a:r>
            <a:endParaRPr/>
          </a:p>
          <a:p>
            <a:pPr indent="0" lvl="0" marL="0" rtl="0" algn="l">
              <a:lnSpc>
                <a:spcPct val="100000"/>
              </a:lnSpc>
              <a:spcBef>
                <a:spcPts val="0"/>
              </a:spcBef>
              <a:spcAft>
                <a:spcPts val="0"/>
              </a:spcAft>
              <a:buSzPts val="1400"/>
              <a:buNone/>
            </a:pPr>
            <a:r>
              <a:rPr lang="en-US"/>
              <a:t>이 지점이 PolicyRec이 필요하다고 본 문제 의식입니다.</a:t>
            </a:r>
            <a:endParaRPr/>
          </a:p>
        </p:txBody>
      </p:sp>
      <p:sp>
        <p:nvSpPr>
          <p:cNvPr id="95" name="Google Shape;95;g3e955750272_3_81: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955750272_3_12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e955750272_3_12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저희가 만든 건 공고를 많이 보여주는 서비스가 아니라, 사용자가 복잡한 정책 정보를 더 쉽게 탐색할 수 있도록 돕는 서비스입니다.</a:t>
            </a:r>
            <a:endParaRPr/>
          </a:p>
          <a:p>
            <a:pPr indent="0" lvl="0" marL="0" rtl="0" algn="l">
              <a:lnSpc>
                <a:spcPct val="100000"/>
              </a:lnSpc>
              <a:spcBef>
                <a:spcPts val="0"/>
              </a:spcBef>
              <a:spcAft>
                <a:spcPts val="0"/>
              </a:spcAft>
              <a:buSzPts val="1400"/>
              <a:buNone/>
            </a:pPr>
            <a:r>
              <a:rPr lang="en-US"/>
              <a:t>여러 사이트에 흩어진 정책 정보를 한곳에 모으고, 검색과 추천으로 사용자 상황에 맞게 보여주는 것이 목표였습니다.</a:t>
            </a:r>
            <a:endParaRPr/>
          </a:p>
          <a:p>
            <a:pPr indent="0" lvl="0" marL="0" rtl="0" algn="l">
              <a:lnSpc>
                <a:spcPct val="100000"/>
              </a:lnSpc>
              <a:spcBef>
                <a:spcPts val="0"/>
              </a:spcBef>
              <a:spcAft>
                <a:spcPts val="0"/>
              </a:spcAft>
              <a:buSzPts val="1400"/>
              <a:buNone/>
            </a:pPr>
            <a:r>
              <a:rPr lang="en-US"/>
              <a:t>데이터는 온통청년·기업마당·K-Startup 3개 공식 API를 사용했습니다. 모든 정책 사이트를 한 번에 통합하기보다, 청년 개인·기업/소상공인·창업 지원을 대표할 수 있는 공식 API 3개를 우선 선정했습니다.</a:t>
            </a:r>
            <a:endParaRPr/>
          </a:p>
        </p:txBody>
      </p:sp>
      <p:sp>
        <p:nvSpPr>
          <p:cNvPr id="136" name="Google Shape;136;g3e955750272_3_12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955750272_3_16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e955750272_3_16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웹은 다섯 가지 흐름으로 구성했습니다.</a:t>
            </a:r>
            <a:endParaRPr/>
          </a:p>
          <a:p>
            <a:pPr indent="0" lvl="0" marL="0" rtl="0" algn="l">
              <a:lnSpc>
                <a:spcPct val="100000"/>
              </a:lnSpc>
              <a:spcBef>
                <a:spcPts val="0"/>
              </a:spcBef>
              <a:spcAft>
                <a:spcPts val="0"/>
              </a:spcAft>
              <a:buSzPts val="1400"/>
              <a:buNone/>
            </a:pPr>
            <a:r>
              <a:rPr lang="en-US"/>
              <a:t>첫째 통합검색, 둘째 챗봇, 셋째 조건검색, 넷째 스크랩, 다섯째 추천입니다.</a:t>
            </a:r>
            <a:endParaRPr/>
          </a:p>
          <a:p>
            <a:pPr indent="0" lvl="0" marL="0" rtl="0" algn="l">
              <a:lnSpc>
                <a:spcPct val="100000"/>
              </a:lnSpc>
              <a:spcBef>
                <a:spcPts val="0"/>
              </a:spcBef>
              <a:spcAft>
                <a:spcPts val="0"/>
              </a:spcAft>
              <a:buSzPts val="1400"/>
              <a:buNone/>
            </a:pPr>
            <a:r>
              <a:rPr lang="en-US"/>
              <a:t>챗봇은 현재 질문으로 관련 공고를 검색한 뒤, 검색 결과를 바탕으로 Gemini가 답변을 생성하는 방식이라는 점만 기억해 주세요. 이후 시연에서 더 자세히 보여드립니다.</a:t>
            </a:r>
            <a:endParaRPr/>
          </a:p>
        </p:txBody>
      </p:sp>
      <p:sp>
        <p:nvSpPr>
          <p:cNvPr id="185" name="Google Shape;185;g3e955750272_3_16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955750272_3_2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e955750272_3_2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이제 실제 화면으로 사용 흐름을 보여드립니다.</a:t>
            </a:r>
            <a:endParaRPr/>
          </a:p>
          <a:p>
            <a:pPr indent="0" lvl="0" marL="0" rtl="0" algn="l">
              <a:lnSpc>
                <a:spcPct val="100000"/>
              </a:lnSpc>
              <a:spcBef>
                <a:spcPts val="0"/>
              </a:spcBef>
              <a:spcAft>
                <a:spcPts val="0"/>
              </a:spcAft>
              <a:buSzPts val="1400"/>
              <a:buNone/>
            </a:pPr>
            <a:r>
              <a:rPr lang="en-US"/>
              <a:t>먼저 로그인하지 않아도 사용할 수 있는 통합검색·문장형 검색·챗봇·조건검색·정렬을 보여드리고, 이어서 로그인 후 스크랩·마이페이지·AI 추천 흐름을 이어가겠습니다.</a:t>
            </a:r>
            <a:endParaRPr/>
          </a:p>
          <a:p>
            <a:pPr indent="0" lvl="0" marL="0" rtl="0" algn="l">
              <a:lnSpc>
                <a:spcPct val="100000"/>
              </a:lnSpc>
              <a:spcBef>
                <a:spcPts val="0"/>
              </a:spcBef>
              <a:spcAft>
                <a:spcPts val="0"/>
              </a:spcAft>
              <a:buSzPts val="1400"/>
              <a:buNone/>
            </a:pPr>
            <a:r>
              <a:rPr lang="en-US"/>
              <a:t>시연이 어려우면 다음 슬라이드들의 캡처 영역이 백업 화면 역할을 합니다.</a:t>
            </a:r>
            <a:endParaRPr/>
          </a:p>
        </p:txBody>
      </p:sp>
      <p:sp>
        <p:nvSpPr>
          <p:cNvPr id="237" name="Google Shape;237;g3e955750272_3_2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955750272_3_27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e955750272_3_27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먼저 통합검색입니다.</a:t>
            </a:r>
            <a:endParaRPr/>
          </a:p>
          <a:p>
            <a:pPr indent="0" lvl="0" marL="0" rtl="0" algn="l">
              <a:lnSpc>
                <a:spcPct val="100000"/>
              </a:lnSpc>
              <a:spcBef>
                <a:spcPts val="0"/>
              </a:spcBef>
              <a:spcAft>
                <a:spcPts val="0"/>
              </a:spcAft>
              <a:buSzPts val="1400"/>
              <a:buNone/>
            </a:pPr>
            <a:r>
              <a:rPr lang="en-US"/>
              <a:t>인기검색어 ‘경기도 청년 일자리’를 눌러보겠습니다. 특정 공고명이 아니라 지역·대상·분야 키워드가 담긴 검색어입니다.</a:t>
            </a:r>
            <a:endParaRPr/>
          </a:p>
          <a:p>
            <a:pPr indent="0" lvl="0" marL="0" rtl="0" algn="l">
              <a:lnSpc>
                <a:spcPct val="100000"/>
              </a:lnSpc>
              <a:spcBef>
                <a:spcPts val="0"/>
              </a:spcBef>
              <a:spcAft>
                <a:spcPts val="0"/>
              </a:spcAft>
              <a:buSzPts val="1400"/>
              <a:buNone/>
            </a:pPr>
            <a:r>
              <a:rPr lang="en-US"/>
              <a:t>검색 결과는 관련 공고가 카드 형태로 표시되고, 추천순·마감순·신규순으로 정렬할 수 있습니다.</a:t>
            </a:r>
            <a:endParaRPr/>
          </a:p>
        </p:txBody>
      </p:sp>
      <p:sp>
        <p:nvSpPr>
          <p:cNvPr id="289" name="Google Shape;289;g3e955750272_3_27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955750272_3_30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e955750272_3_30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검색 결과 카드는 공고를 빠르게 비교할 수 있도록 구성했습니다.</a:t>
            </a:r>
            <a:endParaRPr/>
          </a:p>
          <a:p>
            <a:pPr indent="0" lvl="0" marL="0" rtl="0" algn="l">
              <a:lnSpc>
                <a:spcPct val="100000"/>
              </a:lnSpc>
              <a:spcBef>
                <a:spcPts val="0"/>
              </a:spcBef>
              <a:spcAft>
                <a:spcPts val="0"/>
              </a:spcAft>
              <a:buSzPts val="1400"/>
              <a:buNone/>
            </a:pPr>
            <a:r>
              <a:rPr lang="en-US"/>
              <a:t>카드는 제목·기관·지역·분야·모집상태·마감일을 먼저 보여주고, 더보기를 누르면 요약·신청 방법 같은 추가 정보가 펼쳐집니다.</a:t>
            </a:r>
            <a:endParaRPr/>
          </a:p>
          <a:p>
            <a:pPr indent="0" lvl="0" marL="0" rtl="0" algn="l">
              <a:lnSpc>
                <a:spcPct val="100000"/>
              </a:lnSpc>
              <a:spcBef>
                <a:spcPts val="0"/>
              </a:spcBef>
              <a:spcAft>
                <a:spcPts val="0"/>
              </a:spcAft>
              <a:buSzPts val="1400"/>
              <a:buNone/>
            </a:pPr>
            <a:r>
              <a:rPr lang="en-US"/>
              <a:t>API마다 제공하는 상세도가 달라서, 값이 없는 항목은 무리하게 표시하지 않고 실제로 확인 가능한 정보만 보여주도록 정리했습니다.</a:t>
            </a:r>
            <a:endParaRPr/>
          </a:p>
          <a:p>
            <a:pPr indent="0" lvl="0" marL="0" rtl="0" algn="l">
              <a:lnSpc>
                <a:spcPct val="100000"/>
              </a:lnSpc>
              <a:spcBef>
                <a:spcPts val="0"/>
              </a:spcBef>
              <a:spcAft>
                <a:spcPts val="0"/>
              </a:spcAft>
              <a:buSzPts val="1400"/>
              <a:buNone/>
            </a:pPr>
            <a:r>
              <a:rPr lang="en-US"/>
              <a:t>제목이나 공고보기 버튼을 누르면 공식 상세 페이지로 이동합니다. PolicyRec은 신청을 대신하기보다 사용자가 관심 공고를 빠르게 발견하고 공식 원문으로 안전하게 연결되도록 구성했습니다.</a:t>
            </a:r>
            <a:endParaRPr/>
          </a:p>
        </p:txBody>
      </p:sp>
      <p:sp>
        <p:nvSpPr>
          <p:cNvPr id="325" name="Google Shape;325;g3e955750272_3_30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e955750272_3_3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e955750272_3_3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이번에는 키워드가 아니라 문장으로 검색해보겠습니다.</a:t>
            </a:r>
            <a:endParaRPr/>
          </a:p>
          <a:p>
            <a:pPr indent="0" lvl="0" marL="0" rtl="0" algn="l">
              <a:lnSpc>
                <a:spcPct val="100000"/>
              </a:lnSpc>
              <a:spcBef>
                <a:spcPts val="0"/>
              </a:spcBef>
              <a:spcAft>
                <a:spcPts val="0"/>
              </a:spcAft>
              <a:buSzPts val="1400"/>
              <a:buNone/>
            </a:pPr>
            <a:r>
              <a:rPr lang="en-US"/>
              <a:t>‘부산에서 전세피해 지원받을 수 있을까’처럼 지역과 상황이 담긴 문장만으로도 탐색을 시작할 수 있습니다.</a:t>
            </a:r>
            <a:endParaRPr/>
          </a:p>
          <a:p>
            <a:pPr indent="0" lvl="0" marL="0" rtl="0" algn="l">
              <a:lnSpc>
                <a:spcPct val="100000"/>
              </a:lnSpc>
              <a:spcBef>
                <a:spcPts val="0"/>
              </a:spcBef>
              <a:spcAft>
                <a:spcPts val="0"/>
              </a:spcAft>
              <a:buSzPts val="1400"/>
              <a:buNone/>
            </a:pPr>
            <a:r>
              <a:rPr lang="en-US"/>
              <a:t>검색 결과에서는 부산 전세피해 관련 주거 지원 공고를 확인할 수 있습니다.</a:t>
            </a:r>
            <a:endParaRPr/>
          </a:p>
        </p:txBody>
      </p:sp>
      <p:sp>
        <p:nvSpPr>
          <p:cNvPr id="361" name="Google Shape;361;g3e955750272_3_3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e955750272_3_3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e955750272_3_37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이어서 챗봇입니다.</a:t>
            </a:r>
            <a:endParaRPr/>
          </a:p>
          <a:p>
            <a:pPr indent="0" lvl="0" marL="0" rtl="0" algn="l">
              <a:lnSpc>
                <a:spcPct val="100000"/>
              </a:lnSpc>
              <a:spcBef>
                <a:spcPts val="0"/>
              </a:spcBef>
              <a:spcAft>
                <a:spcPts val="0"/>
              </a:spcAft>
              <a:buSzPts val="1400"/>
              <a:buNone/>
            </a:pPr>
            <a:r>
              <a:rPr lang="en-US"/>
              <a:t>통합검색에 입력했던 ‘부산에서 전세피해 지원받을 수 있을까?’ 문장을 챗봇에 똑같이 입력해보겠습니다.</a:t>
            </a:r>
            <a:endParaRPr/>
          </a:p>
          <a:p>
            <a:pPr indent="0" lvl="0" marL="0" rtl="0" algn="l">
              <a:lnSpc>
                <a:spcPct val="100000"/>
              </a:lnSpc>
              <a:spcBef>
                <a:spcPts val="0"/>
              </a:spcBef>
              <a:spcAft>
                <a:spcPts val="0"/>
              </a:spcAft>
              <a:buSzPts val="1400"/>
              <a:buNone/>
            </a:pPr>
            <a:r>
              <a:rPr lang="en-US"/>
              <a:t>챗봇은 현재 질문으로 관련 공고를 먼저 검색하고, 그 결과를 바탕으로 Gemini가 답변을 생성합니다. 부산 전세피해 관련 공고를 찾아 핵심 내용을 설명해주는 흐름으로 대화가 진행됩니다.</a:t>
            </a:r>
            <a:endParaRPr/>
          </a:p>
          <a:p>
            <a:pPr indent="0" lvl="0" marL="0" rtl="0" algn="l">
              <a:lnSpc>
                <a:spcPct val="100000"/>
              </a:lnSpc>
              <a:spcBef>
                <a:spcPts val="0"/>
              </a:spcBef>
              <a:spcAft>
                <a:spcPts val="0"/>
              </a:spcAft>
              <a:buSzPts val="1400"/>
              <a:buNone/>
            </a:pPr>
            <a:r>
              <a:rPr lang="en-US"/>
              <a:t>이어서 후속 질문 ‘부산 전세피해 임차인 주거안정지원금 지원은 어떤 내용이야?’를 입력해 가장 먼저 나온 공고의 세부 내용을 더 확인해보겠습니다.</a:t>
            </a:r>
            <a:endParaRPr/>
          </a:p>
          <a:p>
            <a:pPr indent="0" lvl="0" marL="0" rtl="0" algn="l">
              <a:lnSpc>
                <a:spcPct val="100000"/>
              </a:lnSpc>
              <a:spcBef>
                <a:spcPts val="0"/>
              </a:spcBef>
              <a:spcAft>
                <a:spcPts val="0"/>
              </a:spcAft>
              <a:buSzPts val="1400"/>
              <a:buNone/>
            </a:pPr>
            <a:r>
              <a:rPr lang="en-US"/>
              <a:t>참고로, 챗봇 대화를 다시 확인하거나 이어가는 message 탭 기능은 로그인 사용자 흐름에 해당합니다. 비로그인 시연에서는 이 부분을 강조하지 않겠습니다.</a:t>
            </a:r>
            <a:endParaRPr/>
          </a:p>
        </p:txBody>
      </p:sp>
      <p:sp>
        <p:nvSpPr>
          <p:cNvPr id="395" name="Google Shape;395;g3e955750272_3_37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955750272_3_40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e955750272_3_40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다음은 조건검색입니다.</a:t>
            </a:r>
            <a:endParaRPr/>
          </a:p>
          <a:p>
            <a:pPr indent="0" lvl="0" marL="0" rtl="0" algn="l">
              <a:lnSpc>
                <a:spcPct val="100000"/>
              </a:lnSpc>
              <a:spcBef>
                <a:spcPts val="0"/>
              </a:spcBef>
              <a:spcAft>
                <a:spcPts val="0"/>
              </a:spcAft>
              <a:buSzPts val="1400"/>
              <a:buNone/>
            </a:pPr>
            <a:r>
              <a:rPr lang="en-US"/>
              <a:t>조건검색은 사용자가 알고 있는 조건으로 후보를 좁히는 방식입니다.</a:t>
            </a:r>
            <a:endParaRPr/>
          </a:p>
          <a:p>
            <a:pPr indent="0" lvl="0" marL="0" rtl="0" algn="l">
              <a:lnSpc>
                <a:spcPct val="100000"/>
              </a:lnSpc>
              <a:spcBef>
                <a:spcPts val="0"/>
              </a:spcBef>
              <a:spcAft>
                <a:spcPts val="0"/>
              </a:spcAft>
              <a:buSzPts val="1400"/>
              <a:buNone/>
            </a:pPr>
            <a:r>
              <a:rPr lang="en-US"/>
              <a:t>현재 데이터 규모에서는 검색어와 조건을 한 번에 강하게 적용하면 결과가 지나치게 좁아질 수 있어서, 통합검색과 조건검색을 의도적으로 나누고 사용자가 상황에 맞게 탐색 방식을 고르도록 했습니다.</a:t>
            </a:r>
            <a:endParaRPr/>
          </a:p>
          <a:p>
            <a:pPr indent="0" lvl="0" marL="0" rtl="0" algn="l">
              <a:lnSpc>
                <a:spcPct val="100000"/>
              </a:lnSpc>
              <a:spcBef>
                <a:spcPts val="0"/>
              </a:spcBef>
              <a:spcAft>
                <a:spcPts val="0"/>
              </a:spcAft>
              <a:buSzPts val="1400"/>
              <a:buNone/>
            </a:pPr>
            <a:r>
              <a:rPr lang="en-US"/>
              <a:t>이번에는 분야 ‘주거’, 대상 ‘청년’, 지역 ‘제주특별자치도’, 모집상태 ‘모집중’으로 선택해보겠습니다. 나이는 미입력 상태입니다. 제주 지역의 청년 주거 관련 공고들을 확인할 수 있습니다.</a:t>
            </a:r>
            <a:endParaRPr/>
          </a:p>
        </p:txBody>
      </p:sp>
      <p:sp>
        <p:nvSpPr>
          <p:cNvPr id="431" name="Google Shape;431;g3e955750272_3_40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e955750272_3_44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g3e955750272_3_44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같은 검색 결과 안에서도 사용자가 중요하게 보는 기준은 다를 수 있습니다.</a:t>
            </a:r>
            <a:endParaRPr/>
          </a:p>
          <a:p>
            <a:pPr indent="0" lvl="0" marL="0" rtl="0" algn="l">
              <a:lnSpc>
                <a:spcPct val="100000"/>
              </a:lnSpc>
              <a:spcBef>
                <a:spcPts val="0"/>
              </a:spcBef>
              <a:spcAft>
                <a:spcPts val="0"/>
              </a:spcAft>
              <a:buSzPts val="1400"/>
              <a:buNone/>
            </a:pPr>
            <a:r>
              <a:rPr lang="en-US"/>
              <a:t>그래서 결과는 추천순·마감순·신규순으로 정렬할 수 있도록 했습니다.</a:t>
            </a:r>
            <a:endParaRPr/>
          </a:p>
          <a:p>
            <a:pPr indent="0" lvl="0" marL="0" rtl="0" algn="l">
              <a:lnSpc>
                <a:spcPct val="100000"/>
              </a:lnSpc>
              <a:spcBef>
                <a:spcPts val="0"/>
              </a:spcBef>
              <a:spcAft>
                <a:spcPts val="0"/>
              </a:spcAft>
              <a:buSzPts val="1400"/>
              <a:buNone/>
            </a:pPr>
            <a:r>
              <a:rPr lang="en-US"/>
              <a:t>추천순은 관련도가 높은 공고, 마감순은 마감이 가까운 공고, 신규순은 새로 올라온 공고를 먼저 보여줍니다.</a:t>
            </a:r>
            <a:endParaRPr/>
          </a:p>
          <a:p>
            <a:pPr indent="0" lvl="0" marL="0" rtl="0" algn="l">
              <a:lnSpc>
                <a:spcPct val="100000"/>
              </a:lnSpc>
              <a:spcBef>
                <a:spcPts val="0"/>
              </a:spcBef>
              <a:spcAft>
                <a:spcPts val="0"/>
              </a:spcAft>
              <a:buSzPts val="1400"/>
              <a:buNone/>
            </a:pPr>
            <a:r>
              <a:rPr lang="en-US"/>
              <a:t>조건이 이미 강하게 좁혀진 경우 추천순과 마감순 결과가 일부 비슷하게 보일 수 있지만, 사용자가 확인하고 싶은 기준에 따라 결과를 바꿔볼 수 있도록 정렬 기준을 제공한다는 점이 중요합니다.</a:t>
            </a:r>
            <a:endParaRPr/>
          </a:p>
        </p:txBody>
      </p:sp>
      <p:sp>
        <p:nvSpPr>
          <p:cNvPr id="467" name="Google Shape;467;g3e955750272_3_44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955750272_3_47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e955750272_3_47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지금까지는 비로그인 상태에서 사용할 수 있는 검색·챗봇 흐름이었습니다. 이제 로그인 후 사용할 수 있는 스크랩과 맞춤 추천 흐름을 보여드립니다.</a:t>
            </a:r>
            <a:endParaRPr/>
          </a:p>
          <a:p>
            <a:pPr indent="0" lvl="0" marL="0" rtl="0" algn="l">
              <a:lnSpc>
                <a:spcPct val="100000"/>
              </a:lnSpc>
              <a:spcBef>
                <a:spcPts val="0"/>
              </a:spcBef>
              <a:spcAft>
                <a:spcPts val="0"/>
              </a:spcAft>
              <a:buSzPts val="1400"/>
              <a:buNone/>
            </a:pPr>
            <a:r>
              <a:rPr lang="en-US"/>
              <a:t>관심 있는 공고는 스크랩할 수 있습니다. 정책 공고는 바로 신청하지 않고 나중에 다시 확인하는 경우가 많아, 사용자가 관심 공고를 모아볼 수 있도록 했습니다.</a:t>
            </a:r>
            <a:endParaRPr/>
          </a:p>
          <a:p>
            <a:pPr indent="0" lvl="0" marL="0" rtl="0" algn="l">
              <a:lnSpc>
                <a:spcPct val="100000"/>
              </a:lnSpc>
              <a:spcBef>
                <a:spcPts val="0"/>
              </a:spcBef>
              <a:spcAft>
                <a:spcPts val="0"/>
              </a:spcAft>
              <a:buSzPts val="1400"/>
              <a:buNone/>
            </a:pPr>
            <a:r>
              <a:rPr lang="en-US"/>
              <a:t>카드 오른쪽 상단 별표를 누르면 스크랩이 되고, 스크랩 페이지에서 다시 확인할 수 있습니다.</a:t>
            </a:r>
            <a:endParaRPr/>
          </a:p>
        </p:txBody>
      </p:sp>
      <p:sp>
        <p:nvSpPr>
          <p:cNvPr id="503" name="Google Shape;503;g3e955750272_3_47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955750272_3_5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e955750272_3_5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마이페이지에서는 나이·지역·유형·관심 분야 같은 프로필 조건을 저장하고 수정할 수 있습니다.</a:t>
            </a:r>
            <a:endParaRPr/>
          </a:p>
          <a:p>
            <a:pPr indent="0" lvl="0" marL="0" rtl="0" algn="l">
              <a:lnSpc>
                <a:spcPct val="100000"/>
              </a:lnSpc>
              <a:spcBef>
                <a:spcPts val="0"/>
              </a:spcBef>
              <a:spcAft>
                <a:spcPts val="0"/>
              </a:spcAft>
              <a:buSzPts val="1400"/>
              <a:buNone/>
            </a:pPr>
            <a:r>
              <a:rPr lang="en-US"/>
              <a:t>이 정보와 관심 이력을 바탕으로 메인 화면의 AI 추천공고에서 관련 공고를 우선 보여줍니다.</a:t>
            </a:r>
            <a:endParaRPr/>
          </a:p>
          <a:p>
            <a:pPr indent="0" lvl="0" marL="0" rtl="0" algn="l">
              <a:lnSpc>
                <a:spcPct val="100000"/>
              </a:lnSpc>
              <a:spcBef>
                <a:spcPts val="0"/>
              </a:spcBef>
              <a:spcAft>
                <a:spcPts val="0"/>
              </a:spcAft>
              <a:buSzPts val="1400"/>
              <a:buNone/>
            </a:pPr>
            <a:r>
              <a:rPr lang="en-US"/>
              <a:t>이건 완전한 개인화 학습 모델이 아니라, 저장된 조건과 사용 가능한 관심 이력을 기반으로 관련 공고를 먼저 보여주는 MVP 추천 방식입니다.</a:t>
            </a:r>
            <a:endParaRPr/>
          </a:p>
          <a:p>
            <a:pPr indent="0" lvl="0" marL="0" rtl="0" algn="l">
              <a:lnSpc>
                <a:spcPct val="100000"/>
              </a:lnSpc>
              <a:spcBef>
                <a:spcPts val="0"/>
              </a:spcBef>
              <a:spcAft>
                <a:spcPts val="0"/>
              </a:spcAft>
              <a:buSzPts val="1400"/>
              <a:buNone/>
            </a:pPr>
            <a:r>
              <a:rPr lang="en-US"/>
              <a:t>사용자가 매번 직접 검색하지 않아도, 내 조건과 관심 분야에 가까운 공고를 먼저 확인할 수 있도록 만든 흐름이라고 설명하면 됩니다.</a:t>
            </a:r>
            <a:endParaRPr/>
          </a:p>
        </p:txBody>
      </p:sp>
      <p:sp>
        <p:nvSpPr>
          <p:cNvPr id="537" name="Google Shape;537;g3e955750272_3_5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e955750272_3_56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e955750272_3_56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마지막은 관리자 조회 화면입니다.</a:t>
            </a:r>
            <a:endParaRPr/>
          </a:p>
          <a:p>
            <a:pPr indent="0" lvl="0" marL="0" rtl="0" algn="l">
              <a:lnSpc>
                <a:spcPct val="100000"/>
              </a:lnSpc>
              <a:spcBef>
                <a:spcPts val="0"/>
              </a:spcBef>
              <a:spcAft>
                <a:spcPts val="0"/>
              </a:spcAft>
              <a:buSzPts val="1400"/>
              <a:buNone/>
            </a:pPr>
            <a:r>
              <a:rPr lang="en-US"/>
              <a:t>정책을 추가·수정·삭제하는 CMS가 아니라, 실제 DB 상태를 확인하는 읽기 전용 관리자 화면으로 구성했습니다.</a:t>
            </a:r>
            <a:endParaRPr/>
          </a:p>
          <a:p>
            <a:pPr indent="0" lvl="0" marL="0" rtl="0" algn="l">
              <a:lnSpc>
                <a:spcPct val="100000"/>
              </a:lnSpc>
              <a:spcBef>
                <a:spcPts val="0"/>
              </a:spcBef>
              <a:spcAft>
                <a:spcPts val="0"/>
              </a:spcAft>
              <a:buSzPts val="1400"/>
              <a:buNone/>
            </a:pPr>
            <a:r>
              <a:rPr lang="en-US"/>
              <a:t>정책 서비스는 데이터 품질이 중요하기 때문에, 관리자가 현재 DB에 어떤 공고가 있고 분야·지역 분포는 어떤지, 회원들이 어떤 공고에 관심 있어 하는지를 빠르게 확인할 수 있게 만들었습니다.</a:t>
            </a:r>
            <a:endParaRPr/>
          </a:p>
          <a:p>
            <a:pPr indent="0" lvl="0" marL="0" rtl="0" algn="l">
              <a:lnSpc>
                <a:spcPct val="100000"/>
              </a:lnSpc>
              <a:spcBef>
                <a:spcPts val="0"/>
              </a:spcBef>
              <a:spcAft>
                <a:spcPts val="0"/>
              </a:spcAft>
              <a:buSzPts val="1400"/>
              <a:buNone/>
            </a:pPr>
            <a:r>
              <a:rPr lang="en-US"/>
              <a:t>여기서 정책 추가·수정 같은 CRUD나, 조회수·신청건수·전환율 같은 운영 지표까지 구현된 것은 아닙니다.</a:t>
            </a:r>
            <a:endParaRPr/>
          </a:p>
        </p:txBody>
      </p:sp>
      <p:sp>
        <p:nvSpPr>
          <p:cNvPr id="592" name="Google Shape;592;g3e955750272_3_56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e955750272_3_62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g3e955750272_3_62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이제 서비스 뒤의 데이터 흐름을 살펴보겠습니다.</a:t>
            </a:r>
            <a:endParaRPr/>
          </a:p>
          <a:p>
            <a:pPr indent="0" lvl="0" marL="0" rtl="0" algn="l">
              <a:lnSpc>
                <a:spcPct val="100000"/>
              </a:lnSpc>
              <a:spcBef>
                <a:spcPts val="0"/>
              </a:spcBef>
              <a:spcAft>
                <a:spcPts val="0"/>
              </a:spcAft>
              <a:buSzPts val="1400"/>
              <a:buNone/>
            </a:pPr>
            <a:r>
              <a:rPr lang="en-US"/>
              <a:t>3개 API 데이터를 수집한 뒤 서비스에서 공통으로 쓸 수 있는 구조로 정리했고, 검색을 위해 Gemini로 임베딩을 만들었습니다.</a:t>
            </a:r>
            <a:endParaRPr/>
          </a:p>
          <a:p>
            <a:pPr indent="0" lvl="0" marL="0" rtl="0" algn="l">
              <a:lnSpc>
                <a:spcPct val="100000"/>
              </a:lnSpc>
              <a:spcBef>
                <a:spcPts val="0"/>
              </a:spcBef>
              <a:spcAft>
                <a:spcPts val="0"/>
              </a:spcAft>
              <a:buSzPts val="1400"/>
              <a:buNone/>
            </a:pPr>
            <a:r>
              <a:rPr lang="en-US"/>
              <a:t>main CSV 기준으로 정리한 데이터를 Supabase에 벡터 DB로 저장하고, Next.js 화면과 API Route에서 조회하도록 연결했습니다.</a:t>
            </a:r>
            <a:endParaRPr/>
          </a:p>
          <a:p>
            <a:pPr indent="0" lvl="0" marL="0" rtl="0" algn="l">
              <a:lnSpc>
                <a:spcPct val="100000"/>
              </a:lnSpc>
              <a:spcBef>
                <a:spcPts val="0"/>
              </a:spcBef>
              <a:spcAft>
                <a:spcPts val="0"/>
              </a:spcAft>
              <a:buSzPts val="1400"/>
              <a:buNone/>
            </a:pPr>
            <a:r>
              <a:rPr lang="en-US"/>
              <a:t>이 구조가 통합검색·조건검색·추천·챗봇 응답으로 이어집니다.</a:t>
            </a:r>
            <a:endParaRPr/>
          </a:p>
        </p:txBody>
      </p:sp>
      <p:sp>
        <p:nvSpPr>
          <p:cNvPr id="654" name="Google Shape;654;g3e955750272_3_62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955750272_3_68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g3e955750272_3_68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데이터는 온통청년·기업마당·K-Startup 3개 공식 Open API를 사용했습니다.</a:t>
            </a:r>
            <a:endParaRPr/>
          </a:p>
          <a:p>
            <a:pPr indent="0" lvl="0" marL="0" rtl="0" algn="l">
              <a:lnSpc>
                <a:spcPct val="100000"/>
              </a:lnSpc>
              <a:spcBef>
                <a:spcPts val="0"/>
              </a:spcBef>
              <a:spcAft>
                <a:spcPts val="0"/>
              </a:spcAft>
              <a:buSzPts val="1400"/>
              <a:buNone/>
            </a:pPr>
            <a:r>
              <a:rPr lang="en-US"/>
              <a:t>온통청년은 청년 개인 정책, 기업마당은 기업·소상공인 지원, K-Startup은 창업 지원사업을 보기 위해 선택했습니다.</a:t>
            </a:r>
            <a:endParaRPr/>
          </a:p>
          <a:p>
            <a:pPr indent="0" lvl="0" marL="0" rtl="0" algn="l">
              <a:lnSpc>
                <a:spcPct val="100000"/>
              </a:lnSpc>
              <a:spcBef>
                <a:spcPts val="0"/>
              </a:spcBef>
              <a:spcAft>
                <a:spcPts val="0"/>
              </a:spcAft>
              <a:buSzPts val="1400"/>
              <a:buNone/>
            </a:pPr>
            <a:r>
              <a:rPr lang="en-US"/>
              <a:t>데이터 선정은 많이 가져오기보다 성격이 다른 3군데를 골라 사용자의 탐색 범위를 넓히는 방향이었습니다.</a:t>
            </a:r>
            <a:endParaRPr/>
          </a:p>
        </p:txBody>
      </p:sp>
      <p:sp>
        <p:nvSpPr>
          <p:cNvPr id="712" name="Google Shape;712;g3e955750272_3_68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e955750272_3_72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e955750272_3_72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EDA에서는 세 API의 원천 데이터 구조 차이를 먼저 확인했습니다.</a:t>
            </a:r>
            <a:endParaRPr/>
          </a:p>
          <a:p>
            <a:pPr indent="0" lvl="0" marL="0" rtl="0" algn="l">
              <a:lnSpc>
                <a:spcPct val="100000"/>
              </a:lnSpc>
              <a:spcBef>
                <a:spcPts val="0"/>
              </a:spcBef>
              <a:spcAft>
                <a:spcPts val="0"/>
              </a:spcAft>
              <a:buSzPts val="1400"/>
              <a:buNone/>
            </a:pPr>
            <a:r>
              <a:rPr lang="en-US"/>
              <a:t>기업마당 22컬럼, K-Startup 30컬럼, 온통청년 60컬럼으로 총 112개 원본 컬럼이 있었습니다.</a:t>
            </a:r>
            <a:endParaRPr/>
          </a:p>
          <a:p>
            <a:pPr indent="0" lvl="0" marL="0" rtl="0" algn="l">
              <a:lnSpc>
                <a:spcPct val="100000"/>
              </a:lnSpc>
              <a:spcBef>
                <a:spcPts val="0"/>
              </a:spcBef>
              <a:spcAft>
                <a:spcPts val="0"/>
              </a:spcAft>
              <a:buSzPts val="1400"/>
              <a:buNone/>
            </a:pPr>
            <a:r>
              <a:rPr lang="en-US"/>
              <a:t>컬럼명·날짜 형식·지역 표현·분야 분류 체계가 모두 달라서 단순히 붙이는 방식으로는 검색·필터에 쓰기 어려웠습니다.</a:t>
            </a:r>
            <a:endParaRPr/>
          </a:p>
        </p:txBody>
      </p:sp>
      <p:sp>
        <p:nvSpPr>
          <p:cNvPr id="750" name="Google Shape;750;g3e955750272_3_72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e955750272_3_79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 name="Google Shape;824;g3e955750272_3_795: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그래서 112개 원천 컬럼을 검색과 추천에 필요한 29개 공통 컬럼으로 정리했습니다.</a:t>
            </a:r>
            <a:endParaRPr/>
          </a:p>
          <a:p>
            <a:pPr indent="0" lvl="0" marL="0" rtl="0" algn="l">
              <a:lnSpc>
                <a:spcPct val="100000"/>
              </a:lnSpc>
              <a:spcBef>
                <a:spcPts val="0"/>
              </a:spcBef>
              <a:spcAft>
                <a:spcPts val="0"/>
              </a:spcAft>
              <a:buSzPts val="1400"/>
              <a:buNone/>
            </a:pPr>
            <a:r>
              <a:rPr lang="en-US"/>
              <a:t>raw 데이터는 약 600건이었고, 중복과 형식 정리 과정을 거쳐 main CSV 기준 565건으로 구성했습니다.</a:t>
            </a:r>
            <a:endParaRPr/>
          </a:p>
          <a:p>
            <a:pPr indent="0" lvl="0" marL="0" rtl="0" algn="l">
              <a:lnSpc>
                <a:spcPct val="100000"/>
              </a:lnSpc>
              <a:spcBef>
                <a:spcPts val="0"/>
              </a:spcBef>
              <a:spcAft>
                <a:spcPts val="0"/>
              </a:spcAft>
              <a:buSzPts val="1400"/>
              <a:buNone/>
            </a:pPr>
            <a:r>
              <a:rPr lang="en-US"/>
              <a:t>예를 들어 지역은 ‘서울’, ‘서울특별시’, ‘[서울]’처럼 표현이 다를 수 있고 분야 표현도 API마다 달라서, 서비스 기준으로 맞추기 위해 카테고리·지역·대상 태그·정책 범위 4종 룰표를 사용했습니다.</a:t>
            </a:r>
            <a:endParaRPr/>
          </a:p>
        </p:txBody>
      </p:sp>
      <p:sp>
        <p:nvSpPr>
          <p:cNvPr id="825" name="Google Shape;825;g3e955750272_3_795: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955750272_3_875: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955750272_3_87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955750272_3_95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g3e955750272_3_95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검색과 추천 로직은 기능별로 다르게 구성했습니다.</a:t>
            </a:r>
            <a:endParaRPr/>
          </a:p>
          <a:p>
            <a:pPr indent="0" lvl="0" marL="0" rtl="0" algn="l">
              <a:lnSpc>
                <a:spcPct val="100000"/>
              </a:lnSpc>
              <a:spcBef>
                <a:spcPts val="0"/>
              </a:spcBef>
              <a:spcAft>
                <a:spcPts val="0"/>
              </a:spcAft>
              <a:buSzPts val="1400"/>
              <a:buNone/>
            </a:pPr>
            <a:r>
              <a:rPr lang="en-US"/>
              <a:t>통합검색은 검색어를 embedding으로 바꾸고 공고 embedding과의 의미 유사도를 비교합니다. 검색어 안에 지역·나이 단서가 있으면 보조 점수로 반영합니다.</a:t>
            </a:r>
            <a:endParaRPr/>
          </a:p>
          <a:p>
            <a:pPr indent="0" lvl="0" marL="0" rtl="0" algn="l">
              <a:lnSpc>
                <a:spcPct val="100000"/>
              </a:lnSpc>
              <a:spcBef>
                <a:spcPts val="0"/>
              </a:spcBef>
              <a:spcAft>
                <a:spcPts val="0"/>
              </a:spcAft>
              <a:buSzPts val="1400"/>
              <a:buNone/>
            </a:pPr>
            <a:r>
              <a:rPr lang="en-US"/>
              <a:t>조건검색은 사용자가 직접 고른 지역·분야·모집상태를 DB 단계에서 hard filter로 좁히고, 나이는 선택 입력값으로 처리해 입력된 경우 공고의 연령 범위와 비교합니다.</a:t>
            </a:r>
            <a:endParaRPr/>
          </a:p>
          <a:p>
            <a:pPr indent="0" lvl="0" marL="0" rtl="0" algn="l">
              <a:lnSpc>
                <a:spcPct val="100000"/>
              </a:lnSpc>
              <a:spcBef>
                <a:spcPts val="0"/>
              </a:spcBef>
              <a:spcAft>
                <a:spcPts val="0"/>
              </a:spcAft>
              <a:buSzPts val="1400"/>
              <a:buNone/>
            </a:pPr>
            <a:r>
              <a:rPr lang="en-US"/>
              <a:t>맞춤 추천은 저장된 프로필 조건과 스크랩 이력 중 사용 가능한 신호를 참고해 관련 공고를 우선 노출하는 MVP 방식입니다.</a:t>
            </a:r>
            <a:endParaRPr/>
          </a:p>
          <a:p>
            <a:pPr indent="0" lvl="0" marL="0" rtl="0" algn="l">
              <a:lnSpc>
                <a:spcPct val="100000"/>
              </a:lnSpc>
              <a:spcBef>
                <a:spcPts val="0"/>
              </a:spcBef>
              <a:spcAft>
                <a:spcPts val="0"/>
              </a:spcAft>
              <a:buSzPts val="1400"/>
              <a:buNone/>
            </a:pPr>
            <a:r>
              <a:rPr lang="en-US"/>
              <a:t>챗봇은 현재 질문으로 관련 공고를 먼저 검색한 뒤, 검색 결과를 컨텍스트로 Gemini가 답변을 생성합니다.</a:t>
            </a:r>
            <a:endParaRPr/>
          </a:p>
        </p:txBody>
      </p:sp>
      <p:sp>
        <p:nvSpPr>
          <p:cNvPr id="986" name="Google Shape;986;g3e955750272_3_95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e955750272_3_10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g3e955750272_3_1016: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프로그램 구조는 Next.js 화면·API Route·Supabase·Gemini 역할로 나눠 구현했습니다.</a:t>
            </a:r>
            <a:endParaRPr/>
          </a:p>
          <a:p>
            <a:pPr indent="0" lvl="0" marL="0" rtl="0" algn="l">
              <a:lnSpc>
                <a:spcPct val="100000"/>
              </a:lnSpc>
              <a:spcBef>
                <a:spcPts val="0"/>
              </a:spcBef>
              <a:spcAft>
                <a:spcPts val="0"/>
              </a:spcAft>
              <a:buSzPts val="1400"/>
              <a:buNone/>
            </a:pPr>
            <a:r>
              <a:rPr lang="en-US"/>
              <a:t>Next.js는 사용자가 보는 메인·스크랩·프로필·관리자 화면을 담당하고, API Route는 검색·추천·스크랩·챗봇 요청을 받아 처리하는 중간 역할입니다.</a:t>
            </a:r>
            <a:endParaRPr/>
          </a:p>
          <a:p>
            <a:pPr indent="0" lvl="0" marL="0" rtl="0" algn="l">
              <a:lnSpc>
                <a:spcPct val="100000"/>
              </a:lnSpc>
              <a:spcBef>
                <a:spcPts val="0"/>
              </a:spcBef>
              <a:spcAft>
                <a:spcPts val="0"/>
              </a:spcAft>
              <a:buSzPts val="1400"/>
              <a:buNone/>
            </a:pPr>
            <a:r>
              <a:rPr lang="en-US"/>
              <a:t>Supabase는 공고·계정·프로필·스크랩·챗봇 이력을 역할별 테이블로 나눠 저장하고, Gemini는 embedding과 챗봇 답변 생성에만 사용합니다.</a:t>
            </a:r>
            <a:endParaRPr/>
          </a:p>
          <a:p>
            <a:pPr indent="0" lvl="0" marL="0" rtl="0" algn="l">
              <a:lnSpc>
                <a:spcPct val="100000"/>
              </a:lnSpc>
              <a:spcBef>
                <a:spcPts val="0"/>
              </a:spcBef>
              <a:spcAft>
                <a:spcPts val="0"/>
              </a:spcAft>
              <a:buSzPts val="1400"/>
              <a:buNone/>
            </a:pPr>
            <a:r>
              <a:rPr lang="en-US"/>
              <a:t>스크랩 흐름을 예로 들면 USER가 별표를 누르면 Next.js 화면이 API Route에 요청을 보내고, API Route가 Supabase scraps 테이블에 저장하는 4단계 흐름입니다. 스크랩에는 Gemini가 들어가지 않는다는 점이 추천·챗봇 흐름과 다릅니다.</a:t>
            </a:r>
            <a:endParaRPr/>
          </a:p>
        </p:txBody>
      </p:sp>
      <p:sp>
        <p:nvSpPr>
          <p:cNvPr id="1049" name="Google Shape;1049;g3e955750272_3_1016: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e955750272_3_1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8" name="Google Shape;1138;g3e955750272_3_11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이번 서비스에서 어려웠던 점은 기능을 많이 만드는 것보다 서로 다른 데이터를 같은 기준으로 보이게 만드는 일이었습니다.</a:t>
            </a:r>
            <a:endParaRPr/>
          </a:p>
          <a:p>
            <a:pPr indent="0" lvl="0" marL="0" rtl="0" algn="l">
              <a:lnSpc>
                <a:spcPct val="100000"/>
              </a:lnSpc>
              <a:spcBef>
                <a:spcPts val="0"/>
              </a:spcBef>
              <a:spcAft>
                <a:spcPts val="0"/>
              </a:spcAft>
              <a:buSzPts val="1400"/>
              <a:buNone/>
            </a:pPr>
            <a:r>
              <a:rPr lang="en-US"/>
              <a:t>첫째, API마다 날짜·지역·분야 표현이 달라 4종 룰표로 정제 기준을 맞췄습니다.</a:t>
            </a:r>
            <a:endParaRPr/>
          </a:p>
          <a:p>
            <a:pPr indent="0" lvl="0" marL="0" rtl="0" algn="l">
              <a:lnSpc>
                <a:spcPct val="100000"/>
              </a:lnSpc>
              <a:spcBef>
                <a:spcPts val="0"/>
              </a:spcBef>
              <a:spcAft>
                <a:spcPts val="0"/>
              </a:spcAft>
              <a:buSzPts val="1400"/>
              <a:buNone/>
            </a:pPr>
            <a:r>
              <a:rPr lang="en-US"/>
              <a:t>둘째, 검색어·UI 필터·프로필 조건이 한 로직에 섞이면 결과 기준이 흔들릴 수 있었습니다. 사용자 입장에서 ‘왜 이 결과가 나왔는지’ 이해하기 어려워지기 때문에, 통합검색·조건검색·추천·챗봇을 기능별 흐름으로 분리해 결과 해석 가능성을 확보했습니다.</a:t>
            </a:r>
            <a:endParaRPr/>
          </a:p>
          <a:p>
            <a:pPr indent="0" lvl="0" marL="0" rtl="0" algn="l">
              <a:lnSpc>
                <a:spcPct val="100000"/>
              </a:lnSpc>
              <a:spcBef>
                <a:spcPts val="0"/>
              </a:spcBef>
              <a:spcAft>
                <a:spcPts val="0"/>
              </a:spcAft>
              <a:buSzPts val="1400"/>
              <a:buNone/>
            </a:pPr>
            <a:r>
              <a:rPr lang="en-US"/>
              <a:t>셋째, 원천 API 안에 이미 유사한 공고가 여러 개 존재하는 경우가 있었습니다. 중앙부처에서 안내한 정책을 지자체가 다시 올리는 식인데, 정보 손실을 막기 위해 무리하게 합치지 않고 별도 공고로 유지했습니다. 향후에는 유사 공고를 묶어 중앙 안내와 지역 안내를 구분해 보여주는 방식이 필요합니다.</a:t>
            </a:r>
            <a:endParaRPr/>
          </a:p>
        </p:txBody>
      </p:sp>
      <p:sp>
        <p:nvSpPr>
          <p:cNvPr id="1139" name="Google Shape;1139;g3e955750272_3_11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e955750272_3_114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0" name="Google Shape;1180;g3e955750272_3_114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처음에는 웹과 앱을 둘 다 구현하고 싶었지만, 한정된 시간 안에 안정적인 결과물을 얻기 위해 웹 서비스에 집중했습니다.</a:t>
            </a:r>
            <a:endParaRPr/>
          </a:p>
          <a:p>
            <a:pPr indent="0" lvl="0" marL="0" rtl="0" algn="l">
              <a:lnSpc>
                <a:spcPct val="100000"/>
              </a:lnSpc>
              <a:spcBef>
                <a:spcPts val="0"/>
              </a:spcBef>
              <a:spcAft>
                <a:spcPts val="0"/>
              </a:spcAft>
              <a:buSzPts val="1400"/>
              <a:buNone/>
            </a:pPr>
            <a:r>
              <a:rPr lang="en-US"/>
              <a:t>공식 API 수집·EDA·전처리·Supabase 저장·Next.js 웹 화면·통합검색·조건검색·스크랩·맞춤 추천·챗봇까지 하나의 MVP 흐름으로 연결했습니다.</a:t>
            </a:r>
            <a:endParaRPr/>
          </a:p>
          <a:p>
            <a:pPr indent="0" lvl="0" marL="0" rtl="0" algn="l">
              <a:lnSpc>
                <a:spcPct val="100000"/>
              </a:lnSpc>
              <a:spcBef>
                <a:spcPts val="0"/>
              </a:spcBef>
              <a:spcAft>
                <a:spcPts val="0"/>
              </a:spcAft>
              <a:buSzPts val="1400"/>
              <a:buNone/>
            </a:pPr>
            <a:r>
              <a:rPr lang="en-US"/>
              <a:t>앞으로는 데이터 소스 확장, 유사 공고 묶어 보여주기, 챗봇 답변 근거 표시, 추천 신호 정교화로 발전시킬 수 있다고 보고 있습니다.</a:t>
            </a:r>
            <a:endParaRPr/>
          </a:p>
        </p:txBody>
      </p:sp>
      <p:sp>
        <p:nvSpPr>
          <p:cNvPr id="1181" name="Google Shape;1181;g3e955750272_3_114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e955750272_3_118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1" name="Google Shape;1221;g3e955750272_3_118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감사합니다. 질문 받겠습니다.</a:t>
            </a:r>
            <a:endParaRPr/>
          </a:p>
          <a:p>
            <a:pPr indent="0" lvl="0" marL="0" rtl="0" algn="l">
              <a:lnSpc>
                <a:spcPct val="100000"/>
              </a:lnSpc>
              <a:spcBef>
                <a:spcPts val="0"/>
              </a:spcBef>
              <a:spcAft>
                <a:spcPts val="0"/>
              </a:spcAft>
              <a:buSzPts val="1400"/>
              <a:buNone/>
            </a:pPr>
            <a:r>
              <a:rPr lang="en-US"/>
              <a:t>예상 Q&amp;A 메모 — (1) 데이터 자동화 여부: 현재는 노트북과 룰표 기반 수동 실행 성격이고 완전 자동 배치는 아닙니다.</a:t>
            </a:r>
            <a:endParaRPr/>
          </a:p>
          <a:p>
            <a:pPr indent="0" lvl="0" marL="0" rtl="0" algn="l">
              <a:lnSpc>
                <a:spcPct val="100000"/>
              </a:lnSpc>
              <a:spcBef>
                <a:spcPts val="0"/>
              </a:spcBef>
              <a:spcAft>
                <a:spcPts val="0"/>
              </a:spcAft>
              <a:buSzPts val="1400"/>
              <a:buNone/>
            </a:pPr>
            <a:r>
              <a:rPr lang="en-US"/>
              <a:t>(2) 통합검색·조건검색을 나눈 이유: 데이터 규모상 검색어와 조건을 동시에 강하게 적용하면 결과가 과도하게 좁아질 수 있고, 사용자가 결과 해석을 어렵게 느낄 수 있어서 탐색 방식을 분리했습니다.</a:t>
            </a:r>
            <a:endParaRPr/>
          </a:p>
          <a:p>
            <a:pPr indent="0" lvl="0" marL="0" rtl="0" algn="l">
              <a:lnSpc>
                <a:spcPct val="100000"/>
              </a:lnSpc>
              <a:spcBef>
                <a:spcPts val="0"/>
              </a:spcBef>
              <a:spcAft>
                <a:spcPts val="0"/>
              </a:spcAft>
              <a:buSzPts val="1400"/>
              <a:buNone/>
            </a:pPr>
            <a:r>
              <a:rPr lang="en-US"/>
              <a:t>(3) 지역·나이에 가산점을 준 이유: 의미 유사도만으로는 실제 신청 가능성 가까운 조건이 묻힐 수 있어서, 신청 가능성에 가까운 지역·나이는 보조 점수로 반영했습니다.</a:t>
            </a:r>
            <a:endParaRPr/>
          </a:p>
        </p:txBody>
      </p:sp>
      <p:sp>
        <p:nvSpPr>
          <p:cNvPr id="1222" name="Google Shape;1222;g3e955750272_3_118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 name="Shape 17"/>
        <p:cNvGrpSpPr/>
        <p:nvPr/>
      </p:nvGrpSpPr>
      <p:grpSpPr>
        <a:xfrm>
          <a:off x="0" y="0"/>
          <a:ext cx="0" cy="0"/>
          <a:chOff x="0" y="0"/>
          <a:chExt cx="0" cy="0"/>
        </a:xfrm>
      </p:grpSpPr>
      <p:sp>
        <p:nvSpPr>
          <p:cNvPr id="18" name="Google Shape;18;g3e955750272_3_2"/>
          <p:cNvSpPr/>
          <p:nvPr/>
        </p:nvSpPr>
        <p:spPr>
          <a:xfrm>
            <a:off x="914858" y="685800"/>
            <a:ext cx="2286458" cy="4005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2100"/>
              <a:buFont typeface="Arial"/>
              <a:buNone/>
            </a:pPr>
            <a:r>
              <a:rPr b="1" i="0" lang="en-US" sz="2100" u="none" cap="none" strike="noStrike">
                <a:solidFill>
                  <a:srgbClr val="5B5BD6"/>
                </a:solidFill>
                <a:latin typeface="Arial"/>
                <a:ea typeface="Arial"/>
                <a:cs typeface="Arial"/>
                <a:sym typeface="Arial"/>
              </a:rPr>
              <a:t>PolicyRec</a:t>
            </a:r>
            <a:endParaRPr b="0" i="0" sz="2100" u="none" cap="none" strike="noStrike">
              <a:solidFill>
                <a:schemeClr val="dk1"/>
              </a:solidFill>
              <a:latin typeface="Calibri"/>
              <a:ea typeface="Calibri"/>
              <a:cs typeface="Calibri"/>
              <a:sym typeface="Calibri"/>
            </a:endParaRPr>
          </a:p>
        </p:txBody>
      </p:sp>
      <p:sp>
        <p:nvSpPr>
          <p:cNvPr id="19" name="Google Shape;19;g3e955750272_3_2"/>
          <p:cNvSpPr/>
          <p:nvPr/>
        </p:nvSpPr>
        <p:spPr>
          <a:xfrm>
            <a:off x="2629357" y="685800"/>
            <a:ext cx="3143707" cy="4005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WEB SERVICE</a:t>
            </a:r>
            <a:endParaRPr b="0" i="0" sz="1400" u="none" cap="none" strike="noStrike">
              <a:solidFill>
                <a:schemeClr val="dk1"/>
              </a:solidFill>
              <a:latin typeface="Calibri"/>
              <a:ea typeface="Calibri"/>
              <a:cs typeface="Calibri"/>
              <a:sym typeface="Calibri"/>
            </a:endParaRPr>
          </a:p>
        </p:txBody>
      </p:sp>
      <p:grpSp>
        <p:nvGrpSpPr>
          <p:cNvPr id="20" name="Google Shape;20;g3e955750272_3_2"/>
          <p:cNvGrpSpPr/>
          <p:nvPr/>
        </p:nvGrpSpPr>
        <p:grpSpPr>
          <a:xfrm>
            <a:off x="914858" y="2143810"/>
            <a:ext cx="1228953" cy="371703"/>
            <a:chOff x="609905" y="1429207"/>
            <a:chExt cx="819302" cy="247802"/>
          </a:xfrm>
        </p:grpSpPr>
        <p:sp>
          <p:nvSpPr>
            <p:cNvPr id="21" name="Google Shape;21;g3e955750272_3_2"/>
            <p:cNvSpPr/>
            <p:nvPr/>
          </p:nvSpPr>
          <p:spPr>
            <a:xfrm>
              <a:off x="609905" y="1429207"/>
              <a:ext cx="819302" cy="247802"/>
            </a:xfrm>
            <a:prstGeom prst="roundRect">
              <a:avLst>
                <a:gd fmla="val 14760"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2" name="Google Shape;22;g3e955750272_3_2"/>
            <p:cNvSpPr/>
            <p:nvPr/>
          </p:nvSpPr>
          <p:spPr>
            <a:xfrm>
              <a:off x="609905" y="1429207"/>
              <a:ext cx="819302" cy="24780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POLICY</a:t>
              </a:r>
              <a:endParaRPr b="0" i="0" sz="1500" u="none" cap="none" strike="noStrike">
                <a:solidFill>
                  <a:schemeClr val="dk1"/>
                </a:solidFill>
                <a:latin typeface="Calibri"/>
                <a:ea typeface="Calibri"/>
                <a:cs typeface="Calibri"/>
                <a:sym typeface="Calibri"/>
              </a:endParaRPr>
            </a:p>
          </p:txBody>
        </p:sp>
      </p:grpSp>
      <p:sp>
        <p:nvSpPr>
          <p:cNvPr id="23" name="Google Shape;23;g3e955750272_3_2"/>
          <p:cNvSpPr/>
          <p:nvPr/>
        </p:nvSpPr>
        <p:spPr>
          <a:xfrm>
            <a:off x="2143811" y="2143811"/>
            <a:ext cx="285292" cy="37170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2100"/>
              <a:buFont typeface="Arial"/>
              <a:buNone/>
            </a:pPr>
            <a:r>
              <a:rPr b="1" i="0" lang="en-US" sz="2100" u="none" cap="none" strike="noStrike">
                <a:solidFill>
                  <a:srgbClr val="6B7280"/>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grpSp>
        <p:nvGrpSpPr>
          <p:cNvPr id="24" name="Google Shape;24;g3e955750272_3_2"/>
          <p:cNvGrpSpPr/>
          <p:nvPr/>
        </p:nvGrpSpPr>
        <p:grpSpPr>
          <a:xfrm>
            <a:off x="2429249" y="2143815"/>
            <a:ext cx="2181733" cy="371741"/>
            <a:chOff x="1619402" y="1429207"/>
            <a:chExt cx="2095805" cy="247802"/>
          </a:xfrm>
        </p:grpSpPr>
        <p:sp>
          <p:nvSpPr>
            <p:cNvPr id="25" name="Google Shape;25;g3e955750272_3_2"/>
            <p:cNvSpPr/>
            <p:nvPr/>
          </p:nvSpPr>
          <p:spPr>
            <a:xfrm>
              <a:off x="1619402" y="1429207"/>
              <a:ext cx="2095805" cy="247802"/>
            </a:xfrm>
            <a:prstGeom prst="roundRect">
              <a:avLst>
                <a:gd fmla="val 14760" name="adj"/>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6" name="Google Shape;26;g3e955750272_3_2"/>
            <p:cNvSpPr/>
            <p:nvPr/>
          </p:nvSpPr>
          <p:spPr>
            <a:xfrm>
              <a:off x="1619402" y="1429207"/>
              <a:ext cx="2095805" cy="24780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RECOMMENDATION</a:t>
              </a:r>
              <a:endParaRPr b="0" i="0" sz="1500" u="none" cap="none" strike="noStrike">
                <a:solidFill>
                  <a:schemeClr val="dk1"/>
                </a:solidFill>
                <a:latin typeface="Calibri"/>
                <a:ea typeface="Calibri"/>
                <a:cs typeface="Calibri"/>
                <a:sym typeface="Calibri"/>
              </a:endParaRPr>
            </a:p>
          </p:txBody>
        </p:sp>
      </p:grpSp>
      <p:sp>
        <p:nvSpPr>
          <p:cNvPr id="27" name="Google Shape;27;g3e955750272_3_2"/>
          <p:cNvSpPr/>
          <p:nvPr/>
        </p:nvSpPr>
        <p:spPr>
          <a:xfrm>
            <a:off x="914858" y="2714397"/>
            <a:ext cx="9144458" cy="11425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9000"/>
              <a:buFont typeface="Arial"/>
              <a:buNone/>
            </a:pPr>
            <a:r>
              <a:rPr b="1" i="0" lang="en-US" sz="9000" u="none" cap="none" strike="noStrike">
                <a:solidFill>
                  <a:srgbClr val="1A1A22"/>
                </a:solidFill>
                <a:latin typeface="Arial"/>
                <a:ea typeface="Arial"/>
                <a:cs typeface="Arial"/>
                <a:sym typeface="Arial"/>
              </a:rPr>
              <a:t>PolicyRec</a:t>
            </a:r>
            <a:endParaRPr b="0" i="0" sz="9000" u="none" cap="none" strike="noStrike">
              <a:solidFill>
                <a:schemeClr val="dk1"/>
              </a:solidFill>
              <a:latin typeface="Calibri"/>
              <a:ea typeface="Calibri"/>
              <a:cs typeface="Calibri"/>
              <a:sym typeface="Calibri"/>
            </a:endParaRPr>
          </a:p>
        </p:txBody>
      </p:sp>
      <p:sp>
        <p:nvSpPr>
          <p:cNvPr id="28" name="Google Shape;28;g3e955750272_3_2"/>
          <p:cNvSpPr/>
          <p:nvPr/>
        </p:nvSpPr>
        <p:spPr>
          <a:xfrm>
            <a:off x="914858" y="3885743"/>
            <a:ext cx="9144458" cy="48554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3000"/>
              <a:buFont typeface="Arial"/>
              <a:buNone/>
            </a:pPr>
            <a:r>
              <a:rPr b="1" i="0" lang="en-US" sz="3000" u="none" cap="none" strike="noStrike">
                <a:solidFill>
                  <a:srgbClr val="5B5BD6"/>
                </a:solidFill>
                <a:latin typeface="Arial"/>
                <a:ea typeface="Arial"/>
                <a:cs typeface="Arial"/>
                <a:sym typeface="Arial"/>
              </a:rPr>
              <a:t>내 조건에 맞는 정책 탐색의 시작점</a:t>
            </a:r>
            <a:endParaRPr b="0" i="0" sz="3000" u="none" cap="none" strike="noStrike">
              <a:solidFill>
                <a:schemeClr val="dk1"/>
              </a:solidFill>
              <a:latin typeface="Calibri"/>
              <a:ea typeface="Calibri"/>
              <a:cs typeface="Calibri"/>
              <a:sym typeface="Calibri"/>
            </a:endParaRPr>
          </a:p>
        </p:txBody>
      </p:sp>
      <p:sp>
        <p:nvSpPr>
          <p:cNvPr id="29" name="Google Shape;29;g3e955750272_3_2"/>
          <p:cNvSpPr/>
          <p:nvPr/>
        </p:nvSpPr>
        <p:spPr>
          <a:xfrm>
            <a:off x="914858" y="4457700"/>
            <a:ext cx="9144458" cy="4293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정책명을 몰라도 내 상황에서 탐색을 시작하는 정책 추천 웹서비스.</a:t>
            </a:r>
            <a:endParaRPr b="0" i="0" sz="2000" u="none" cap="none" strike="noStrike">
              <a:solidFill>
                <a:schemeClr val="dk1"/>
              </a:solidFill>
              <a:latin typeface="Calibri"/>
              <a:ea typeface="Calibri"/>
              <a:cs typeface="Calibri"/>
              <a:sym typeface="Calibri"/>
            </a:endParaRPr>
          </a:p>
        </p:txBody>
      </p:sp>
      <p:sp>
        <p:nvSpPr>
          <p:cNvPr id="30" name="Google Shape;30;g3e955750272_3_2"/>
          <p:cNvSpPr/>
          <p:nvPr/>
        </p:nvSpPr>
        <p:spPr>
          <a:xfrm>
            <a:off x="914858" y="5286147"/>
            <a:ext cx="9144458" cy="2429103"/>
          </a:xfrm>
          <a:prstGeom prst="rect">
            <a:avLst/>
          </a:prstGeom>
          <a:solidFill>
            <a:srgbClr val="FFFFFF"/>
          </a:solidFill>
          <a:ln cap="flat" cmpd="sng" w="9525">
            <a:solidFill>
              <a:srgbClr val="E5E7EB"/>
            </a:solidFill>
            <a:prstDash val="solid"/>
            <a:round/>
            <a:headEnd len="sm" w="sm" type="none"/>
            <a:tailEnd len="sm" w="sm" type="none"/>
          </a:ln>
          <a:effectLst>
            <a:outerShdw blurRad="203200" rotWithShape="0" algn="bl" dir="5400000" dist="50800">
              <a:srgbClr val="0F0F0F">
                <a:alpha val="5882"/>
              </a:srgbClr>
            </a:outerShdw>
          </a:effectLst>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1" name="Google Shape;31;g3e955750272_3_2"/>
          <p:cNvSpPr/>
          <p:nvPr/>
        </p:nvSpPr>
        <p:spPr>
          <a:xfrm>
            <a:off x="914858" y="5286147"/>
            <a:ext cx="42519" cy="2429103"/>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2" name="Google Shape;32;g3e955750272_3_2"/>
          <p:cNvSpPr/>
          <p:nvPr/>
        </p:nvSpPr>
        <p:spPr>
          <a:xfrm>
            <a:off x="1257757" y="5486400"/>
            <a:ext cx="84586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TEAM ROLES</a:t>
            </a:r>
            <a:endParaRPr b="0" i="0" sz="1400" u="none" cap="none" strike="noStrike">
              <a:solidFill>
                <a:schemeClr val="dk1"/>
              </a:solidFill>
              <a:latin typeface="Calibri"/>
              <a:ea typeface="Calibri"/>
              <a:cs typeface="Calibri"/>
              <a:sym typeface="Calibri"/>
            </a:endParaRPr>
          </a:p>
        </p:txBody>
      </p:sp>
      <p:sp>
        <p:nvSpPr>
          <p:cNvPr id="33" name="Google Shape;33;g3e955750272_3_2"/>
          <p:cNvSpPr/>
          <p:nvPr/>
        </p:nvSpPr>
        <p:spPr>
          <a:xfrm>
            <a:off x="1257757" y="5771692"/>
            <a:ext cx="8458658"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API 수집 · 데이터 정제 · Supabase 적재 · Next.js 웹 구현 · 테스트</a:t>
            </a:r>
            <a:endParaRPr b="0" i="0" sz="2000" u="none" cap="none" strike="noStrike">
              <a:solidFill>
                <a:schemeClr val="dk1"/>
              </a:solidFill>
              <a:latin typeface="Calibri"/>
              <a:ea typeface="Calibri"/>
              <a:cs typeface="Calibri"/>
              <a:sym typeface="Calibri"/>
            </a:endParaRPr>
          </a:p>
        </p:txBody>
      </p:sp>
      <p:grpSp>
        <p:nvGrpSpPr>
          <p:cNvPr id="34" name="Google Shape;34;g3e955750272_3_2"/>
          <p:cNvGrpSpPr/>
          <p:nvPr/>
        </p:nvGrpSpPr>
        <p:grpSpPr>
          <a:xfrm>
            <a:off x="1257757" y="6286042"/>
            <a:ext cx="8458656" cy="1171347"/>
            <a:chOff x="838505" y="4190695"/>
            <a:chExt cx="5639104" cy="780898"/>
          </a:xfrm>
        </p:grpSpPr>
        <p:sp>
          <p:nvSpPr>
            <p:cNvPr id="35" name="Google Shape;35;g3e955750272_3_2"/>
            <p:cNvSpPr/>
            <p:nvPr/>
          </p:nvSpPr>
          <p:spPr>
            <a:xfrm>
              <a:off x="838505" y="4190695"/>
              <a:ext cx="1777898" cy="780898"/>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6" name="Google Shape;36;g3e955750272_3_2"/>
            <p:cNvSpPr/>
            <p:nvPr/>
          </p:nvSpPr>
          <p:spPr>
            <a:xfrm>
              <a:off x="952805" y="4324198"/>
              <a:ext cx="267005" cy="267005"/>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7" name="Google Shape;37;g3e955750272_3_2"/>
            <p:cNvSpPr/>
            <p:nvPr/>
          </p:nvSpPr>
          <p:spPr>
            <a:xfrm>
              <a:off x="952805" y="4324198"/>
              <a:ext cx="267005" cy="2670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700"/>
                <a:buFont typeface="Arial"/>
                <a:buNone/>
              </a:pPr>
              <a:r>
                <a:rPr b="1" i="0" lang="en-US" sz="1700" u="none" cap="none" strike="noStrike">
                  <a:solidFill>
                    <a:srgbClr val="3F3FB8"/>
                  </a:solidFill>
                  <a:latin typeface="Arial"/>
                  <a:ea typeface="Arial"/>
                  <a:cs typeface="Arial"/>
                  <a:sym typeface="Arial"/>
                </a:rPr>
                <a:t>희민</a:t>
              </a:r>
              <a:endParaRPr b="0" i="0" sz="1700" u="none" cap="none" strike="noStrike">
                <a:solidFill>
                  <a:schemeClr val="dk1"/>
                </a:solidFill>
                <a:latin typeface="Calibri"/>
                <a:ea typeface="Calibri"/>
                <a:cs typeface="Calibri"/>
                <a:sym typeface="Calibri"/>
              </a:endParaRPr>
            </a:p>
          </p:txBody>
        </p:sp>
        <p:sp>
          <p:nvSpPr>
            <p:cNvPr id="38" name="Google Shape;38;g3e955750272_3_2"/>
            <p:cNvSpPr/>
            <p:nvPr/>
          </p:nvSpPr>
          <p:spPr>
            <a:xfrm>
              <a:off x="1276502" y="4304995"/>
              <a:ext cx="1244803"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1" i="0" lang="en-US" sz="1500" u="none" cap="none" strike="noStrike">
                  <a:solidFill>
                    <a:srgbClr val="1A1A22"/>
                  </a:solidFill>
                  <a:latin typeface="Arial"/>
                  <a:ea typeface="Arial"/>
                  <a:cs typeface="Arial"/>
                  <a:sym typeface="Arial"/>
                </a:rPr>
                <a:t>Lead · Web · QA</a:t>
              </a:r>
              <a:endParaRPr b="0" i="0" sz="1500" u="none" cap="none" strike="noStrike">
                <a:solidFill>
                  <a:schemeClr val="dk1"/>
                </a:solidFill>
                <a:latin typeface="Calibri"/>
                <a:ea typeface="Calibri"/>
                <a:cs typeface="Calibri"/>
                <a:sym typeface="Calibri"/>
              </a:endParaRPr>
            </a:p>
          </p:txBody>
        </p:sp>
        <p:sp>
          <p:nvSpPr>
            <p:cNvPr id="39" name="Google Shape;39;g3e955750272_3_2"/>
            <p:cNvSpPr/>
            <p:nvPr/>
          </p:nvSpPr>
          <p:spPr>
            <a:xfrm>
              <a:off x="1276502" y="4495190"/>
              <a:ext cx="1244803"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Next.js · E2E</a:t>
              </a:r>
              <a:endParaRPr b="0" i="0" sz="1400" u="none" cap="none" strike="noStrike">
                <a:solidFill>
                  <a:schemeClr val="dk1"/>
                </a:solidFill>
                <a:latin typeface="Calibri"/>
                <a:ea typeface="Calibri"/>
                <a:cs typeface="Calibri"/>
                <a:sym typeface="Calibri"/>
              </a:endParaRPr>
            </a:p>
          </p:txBody>
        </p:sp>
        <p:sp>
          <p:nvSpPr>
            <p:cNvPr id="40" name="Google Shape;40;g3e955750272_3_2"/>
            <p:cNvSpPr/>
            <p:nvPr/>
          </p:nvSpPr>
          <p:spPr>
            <a:xfrm>
              <a:off x="952805" y="4742993"/>
              <a:ext cx="1549298" cy="152705"/>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1" name="Google Shape;41;g3e955750272_3_2"/>
            <p:cNvSpPr/>
            <p:nvPr/>
          </p:nvSpPr>
          <p:spPr>
            <a:xfrm>
              <a:off x="952805" y="4742993"/>
              <a:ext cx="1549298" cy="1527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오늘의 발표자</a:t>
              </a:r>
              <a:endParaRPr b="0" i="0" sz="1200" u="none" cap="none" strike="noStrike">
                <a:solidFill>
                  <a:schemeClr val="dk1"/>
                </a:solidFill>
                <a:latin typeface="Calibri"/>
                <a:ea typeface="Calibri"/>
                <a:cs typeface="Calibri"/>
                <a:sym typeface="Calibri"/>
              </a:endParaRPr>
            </a:p>
          </p:txBody>
        </p:sp>
        <p:sp>
          <p:nvSpPr>
            <p:cNvPr id="42" name="Google Shape;42;g3e955750272_3_2"/>
            <p:cNvSpPr/>
            <p:nvPr/>
          </p:nvSpPr>
          <p:spPr>
            <a:xfrm>
              <a:off x="2769108" y="4190695"/>
              <a:ext cx="1777898" cy="780898"/>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3" name="Google Shape;43;g3e955750272_3_2"/>
            <p:cNvSpPr/>
            <p:nvPr/>
          </p:nvSpPr>
          <p:spPr>
            <a:xfrm>
              <a:off x="2883408" y="4324198"/>
              <a:ext cx="267005" cy="267005"/>
            </a:xfrm>
            <a:prstGeom prst="ellipse">
              <a:avLst/>
            </a:prstGeom>
            <a:solidFill>
              <a:srgbClr val="E0F2FE"/>
            </a:solidFill>
            <a:ln cap="flat" cmpd="sng" w="12700">
              <a:solidFill>
                <a:srgbClr val="E0F2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4" name="Google Shape;44;g3e955750272_3_2"/>
            <p:cNvSpPr/>
            <p:nvPr/>
          </p:nvSpPr>
          <p:spPr>
            <a:xfrm>
              <a:off x="2883408" y="4324198"/>
              <a:ext cx="267005" cy="2670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700"/>
                <a:buFont typeface="Arial"/>
                <a:buNone/>
              </a:pPr>
              <a:r>
                <a:rPr b="1" i="0" lang="en-US" sz="1700" u="none" cap="none" strike="noStrike">
                  <a:solidFill>
                    <a:srgbClr val="1D4ED8"/>
                  </a:solidFill>
                  <a:latin typeface="Arial"/>
                  <a:ea typeface="Arial"/>
                  <a:cs typeface="Arial"/>
                  <a:sym typeface="Arial"/>
                </a:rPr>
                <a:t>보미</a:t>
              </a:r>
              <a:endParaRPr b="0" i="0" sz="1700" u="none" cap="none" strike="noStrike">
                <a:solidFill>
                  <a:schemeClr val="dk1"/>
                </a:solidFill>
                <a:latin typeface="Calibri"/>
                <a:ea typeface="Calibri"/>
                <a:cs typeface="Calibri"/>
                <a:sym typeface="Calibri"/>
              </a:endParaRPr>
            </a:p>
          </p:txBody>
        </p:sp>
        <p:sp>
          <p:nvSpPr>
            <p:cNvPr id="45" name="Google Shape;45;g3e955750272_3_2"/>
            <p:cNvSpPr/>
            <p:nvPr/>
          </p:nvSpPr>
          <p:spPr>
            <a:xfrm>
              <a:off x="3207106" y="4304995"/>
              <a:ext cx="1244803"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1" i="0" lang="en-US" sz="1500" u="none" cap="none" strike="noStrike">
                  <a:solidFill>
                    <a:srgbClr val="1A1A22"/>
                  </a:solidFill>
                  <a:latin typeface="Arial"/>
                  <a:ea typeface="Arial"/>
                  <a:cs typeface="Arial"/>
                  <a:sym typeface="Arial"/>
                </a:rPr>
                <a:t>DB · QA</a:t>
              </a:r>
              <a:endParaRPr b="0" i="0" sz="1500" u="none" cap="none" strike="noStrike">
                <a:solidFill>
                  <a:schemeClr val="dk1"/>
                </a:solidFill>
                <a:latin typeface="Calibri"/>
                <a:ea typeface="Calibri"/>
                <a:cs typeface="Calibri"/>
                <a:sym typeface="Calibri"/>
              </a:endParaRPr>
            </a:p>
          </p:txBody>
        </p:sp>
        <p:sp>
          <p:nvSpPr>
            <p:cNvPr id="46" name="Google Shape;46;g3e955750272_3_2"/>
            <p:cNvSpPr/>
            <p:nvPr/>
          </p:nvSpPr>
          <p:spPr>
            <a:xfrm>
              <a:off x="3207106" y="4495190"/>
              <a:ext cx="1244803"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Supabase 적재 · QA</a:t>
              </a:r>
              <a:endParaRPr b="0" i="0" sz="1400" u="none" cap="none" strike="noStrike">
                <a:solidFill>
                  <a:schemeClr val="dk1"/>
                </a:solidFill>
                <a:latin typeface="Calibri"/>
                <a:ea typeface="Calibri"/>
                <a:cs typeface="Calibri"/>
                <a:sym typeface="Calibri"/>
              </a:endParaRPr>
            </a:p>
          </p:txBody>
        </p:sp>
        <p:sp>
          <p:nvSpPr>
            <p:cNvPr id="47" name="Google Shape;47;g3e955750272_3_2"/>
            <p:cNvSpPr/>
            <p:nvPr/>
          </p:nvSpPr>
          <p:spPr>
            <a:xfrm>
              <a:off x="4699711" y="4190695"/>
              <a:ext cx="1777898" cy="780898"/>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8" name="Google Shape;48;g3e955750272_3_2"/>
            <p:cNvSpPr/>
            <p:nvPr/>
          </p:nvSpPr>
          <p:spPr>
            <a:xfrm>
              <a:off x="4814011" y="4324198"/>
              <a:ext cx="267005" cy="267005"/>
            </a:xfrm>
            <a:prstGeom prst="ellipse">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9" name="Google Shape;49;g3e955750272_3_2"/>
            <p:cNvSpPr/>
            <p:nvPr/>
          </p:nvSpPr>
          <p:spPr>
            <a:xfrm>
              <a:off x="4814011" y="4324198"/>
              <a:ext cx="267005" cy="2670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700"/>
                <a:buFont typeface="Arial"/>
                <a:buNone/>
              </a:pPr>
              <a:r>
                <a:rPr b="1" i="0" lang="en-US" sz="1700" u="none" cap="none" strike="noStrike">
                  <a:solidFill>
                    <a:srgbClr val="9A3412"/>
                  </a:solidFill>
                  <a:latin typeface="Arial"/>
                  <a:ea typeface="Arial"/>
                  <a:cs typeface="Arial"/>
                  <a:sym typeface="Arial"/>
                </a:rPr>
                <a:t>창엽</a:t>
              </a:r>
              <a:endParaRPr b="0" i="0" sz="1700" u="none" cap="none" strike="noStrike">
                <a:solidFill>
                  <a:schemeClr val="dk1"/>
                </a:solidFill>
                <a:latin typeface="Calibri"/>
                <a:ea typeface="Calibri"/>
                <a:cs typeface="Calibri"/>
                <a:sym typeface="Calibri"/>
              </a:endParaRPr>
            </a:p>
          </p:txBody>
        </p:sp>
        <p:sp>
          <p:nvSpPr>
            <p:cNvPr id="50" name="Google Shape;50;g3e955750272_3_2"/>
            <p:cNvSpPr/>
            <p:nvPr/>
          </p:nvSpPr>
          <p:spPr>
            <a:xfrm>
              <a:off x="5137709" y="4304995"/>
              <a:ext cx="1244803"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1" i="0" lang="en-US" sz="1500" u="none" cap="none" strike="noStrike">
                  <a:solidFill>
                    <a:srgbClr val="1A1A22"/>
                  </a:solidFill>
                  <a:latin typeface="Arial"/>
                  <a:ea typeface="Arial"/>
                  <a:cs typeface="Arial"/>
                  <a:sym typeface="Arial"/>
                </a:rPr>
                <a:t>Data</a:t>
              </a:r>
              <a:endParaRPr b="0" i="0" sz="1500" u="none" cap="none" strike="noStrike">
                <a:solidFill>
                  <a:schemeClr val="dk1"/>
                </a:solidFill>
                <a:latin typeface="Calibri"/>
                <a:ea typeface="Calibri"/>
                <a:cs typeface="Calibri"/>
                <a:sym typeface="Calibri"/>
              </a:endParaRPr>
            </a:p>
          </p:txBody>
        </p:sp>
        <p:sp>
          <p:nvSpPr>
            <p:cNvPr id="51" name="Google Shape;51;g3e955750272_3_2"/>
            <p:cNvSpPr/>
            <p:nvPr/>
          </p:nvSpPr>
          <p:spPr>
            <a:xfrm>
              <a:off x="5137709" y="4495190"/>
              <a:ext cx="1244803"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수집·정제 · CSV</a:t>
              </a:r>
              <a:endParaRPr b="0" i="0" sz="1400" u="none" cap="none" strike="noStrike">
                <a:solidFill>
                  <a:schemeClr val="dk1"/>
                </a:solidFill>
                <a:latin typeface="Calibri"/>
                <a:ea typeface="Calibri"/>
                <a:cs typeface="Calibri"/>
                <a:sym typeface="Calibri"/>
              </a:endParaRPr>
            </a:p>
          </p:txBody>
        </p:sp>
      </p:grpSp>
      <p:sp>
        <p:nvSpPr>
          <p:cNvPr id="52" name="Google Shape;52;g3e955750272_3_2"/>
          <p:cNvSpPr/>
          <p:nvPr/>
        </p:nvSpPr>
        <p:spPr>
          <a:xfrm>
            <a:off x="10287000" y="2143810"/>
            <a:ext cx="7087058" cy="4715561"/>
          </a:xfrm>
          <a:prstGeom prst="rect">
            <a:avLst/>
          </a:prstGeom>
          <a:solidFill>
            <a:srgbClr val="FFFFFF"/>
          </a:solidFill>
          <a:ln cap="flat" cmpd="sng" w="12700">
            <a:solidFill>
              <a:srgbClr val="E5E7EB"/>
            </a:solidFill>
            <a:prstDash val="solid"/>
            <a:round/>
            <a:headEnd len="sm" w="sm" type="none"/>
            <a:tailEnd len="sm" w="sm" type="none"/>
          </a:ln>
          <a:effectLst>
            <a:outerShdw blurRad="304800" rotWithShape="0" algn="bl" dir="5400000" dist="101600">
              <a:srgbClr val="0F0F0F">
                <a:alpha val="7843"/>
              </a:srgbClr>
            </a:outerShdw>
          </a:effectLst>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3" name="Google Shape;53;g3e955750272_3_2"/>
          <p:cNvSpPr/>
          <p:nvPr/>
        </p:nvSpPr>
        <p:spPr>
          <a:xfrm>
            <a:off x="10516058" y="2372868"/>
            <a:ext cx="142647" cy="142647"/>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4" name="Google Shape;54;g3e955750272_3_2"/>
          <p:cNvSpPr/>
          <p:nvPr/>
        </p:nvSpPr>
        <p:spPr>
          <a:xfrm>
            <a:off x="10745115" y="2372868"/>
            <a:ext cx="142647" cy="142647"/>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5" name="Google Shape;55;g3e955750272_3_2"/>
          <p:cNvSpPr/>
          <p:nvPr/>
        </p:nvSpPr>
        <p:spPr>
          <a:xfrm>
            <a:off x="10974171" y="2372868"/>
            <a:ext cx="142647" cy="142647"/>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6" name="Google Shape;56;g3e955750272_3_2"/>
          <p:cNvSpPr/>
          <p:nvPr/>
        </p:nvSpPr>
        <p:spPr>
          <a:xfrm>
            <a:off x="11315700" y="2315261"/>
            <a:ext cx="5829300" cy="400508"/>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7" name="Google Shape;57;g3e955750272_3_2"/>
          <p:cNvSpPr/>
          <p:nvPr/>
        </p:nvSpPr>
        <p:spPr>
          <a:xfrm>
            <a:off x="11458347" y="2315261"/>
            <a:ext cx="5515203" cy="4005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500"/>
              <a:buFont typeface="Arial"/>
              <a:buNone/>
            </a:pPr>
            <a:r>
              <a:t/>
            </a:r>
            <a:endParaRPr b="0" i="0" sz="1500" u="none" cap="none" strike="noStrike">
              <a:solidFill>
                <a:schemeClr val="dk1"/>
              </a:solidFill>
              <a:latin typeface="Calibri"/>
              <a:ea typeface="Calibri"/>
              <a:cs typeface="Calibri"/>
              <a:sym typeface="Calibri"/>
            </a:endParaRPr>
          </a:p>
        </p:txBody>
      </p:sp>
      <p:grpSp>
        <p:nvGrpSpPr>
          <p:cNvPr id="58" name="Google Shape;58;g3e955750272_3_2"/>
          <p:cNvGrpSpPr/>
          <p:nvPr/>
        </p:nvGrpSpPr>
        <p:grpSpPr>
          <a:xfrm>
            <a:off x="10572292" y="3001061"/>
            <a:ext cx="6515100" cy="3313785"/>
            <a:chOff x="7048195" y="2000707"/>
            <a:chExt cx="4343400" cy="2209190"/>
          </a:xfrm>
        </p:grpSpPr>
        <p:sp>
          <p:nvSpPr>
            <p:cNvPr id="59" name="Google Shape;59;g3e955750272_3_2"/>
            <p:cNvSpPr/>
            <p:nvPr/>
          </p:nvSpPr>
          <p:spPr>
            <a:xfrm>
              <a:off x="7048195" y="2000707"/>
              <a:ext cx="4343400" cy="647395"/>
            </a:xfrm>
            <a:prstGeom prst="rect">
              <a:avLst/>
            </a:prstGeom>
            <a:solidFill>
              <a:srgbClr val="EDE9FE"/>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0" name="Google Shape;60;g3e955750272_3_2"/>
            <p:cNvSpPr/>
            <p:nvPr/>
          </p:nvSpPr>
          <p:spPr>
            <a:xfrm>
              <a:off x="7200900" y="2115007"/>
              <a:ext cx="4038905" cy="2093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서울 청년 창업 지원</a:t>
              </a:r>
              <a:endParaRPr b="0" i="0" sz="2000" u="none" cap="none" strike="noStrike">
                <a:solidFill>
                  <a:schemeClr val="dk1"/>
                </a:solidFill>
                <a:latin typeface="Calibri"/>
                <a:ea typeface="Calibri"/>
                <a:cs typeface="Calibri"/>
                <a:sym typeface="Calibri"/>
              </a:endParaRPr>
            </a:p>
          </p:txBody>
        </p:sp>
        <p:sp>
          <p:nvSpPr>
            <p:cNvPr id="61" name="Google Shape;61;g3e955750272_3_2"/>
            <p:cNvSpPr/>
            <p:nvPr/>
          </p:nvSpPr>
          <p:spPr>
            <a:xfrm>
              <a:off x="7200900" y="2343607"/>
              <a:ext cx="4038905"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서울특별시 · 창업 · 모집중</a:t>
              </a:r>
              <a:endParaRPr b="0" i="0" sz="1500" u="none" cap="none" strike="noStrike">
                <a:solidFill>
                  <a:schemeClr val="dk1"/>
                </a:solidFill>
                <a:latin typeface="Calibri"/>
                <a:ea typeface="Calibri"/>
                <a:cs typeface="Calibri"/>
                <a:sym typeface="Calibri"/>
              </a:endParaRPr>
            </a:p>
          </p:txBody>
        </p:sp>
        <p:sp>
          <p:nvSpPr>
            <p:cNvPr id="62" name="Google Shape;62;g3e955750272_3_2"/>
            <p:cNvSpPr/>
            <p:nvPr/>
          </p:nvSpPr>
          <p:spPr>
            <a:xfrm>
              <a:off x="7048195" y="2781605"/>
              <a:ext cx="4343400" cy="647395"/>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3" name="Google Shape;63;g3e955750272_3_2"/>
            <p:cNvSpPr/>
            <p:nvPr/>
          </p:nvSpPr>
          <p:spPr>
            <a:xfrm>
              <a:off x="7200900" y="2895905"/>
              <a:ext cx="4038905" cy="2093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전세피해 청년 지원</a:t>
              </a:r>
              <a:endParaRPr b="0" i="0" sz="2000" u="none" cap="none" strike="noStrike">
                <a:solidFill>
                  <a:schemeClr val="dk1"/>
                </a:solidFill>
                <a:latin typeface="Calibri"/>
                <a:ea typeface="Calibri"/>
                <a:cs typeface="Calibri"/>
                <a:sym typeface="Calibri"/>
              </a:endParaRPr>
            </a:p>
          </p:txBody>
        </p:sp>
        <p:sp>
          <p:nvSpPr>
            <p:cNvPr id="64" name="Google Shape;64;g3e955750272_3_2"/>
            <p:cNvSpPr/>
            <p:nvPr/>
          </p:nvSpPr>
          <p:spPr>
            <a:xfrm>
              <a:off x="7200900" y="3124505"/>
              <a:ext cx="4038905"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주거 · 피해 지원 · 마감일 확인</a:t>
              </a:r>
              <a:endParaRPr b="0" i="0" sz="1500" u="none" cap="none" strike="noStrike">
                <a:solidFill>
                  <a:schemeClr val="dk1"/>
                </a:solidFill>
                <a:latin typeface="Calibri"/>
                <a:ea typeface="Calibri"/>
                <a:cs typeface="Calibri"/>
                <a:sym typeface="Calibri"/>
              </a:endParaRPr>
            </a:p>
          </p:txBody>
        </p:sp>
        <p:sp>
          <p:nvSpPr>
            <p:cNvPr id="65" name="Google Shape;65;g3e955750272_3_2"/>
            <p:cNvSpPr/>
            <p:nvPr/>
          </p:nvSpPr>
          <p:spPr>
            <a:xfrm>
              <a:off x="7048195" y="3562502"/>
              <a:ext cx="4343400" cy="647395"/>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6" name="Google Shape;66;g3e955750272_3_2"/>
            <p:cNvSpPr/>
            <p:nvPr/>
          </p:nvSpPr>
          <p:spPr>
            <a:xfrm>
              <a:off x="7200900" y="3676802"/>
              <a:ext cx="4038905" cy="2093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소상공인 자금지원</a:t>
              </a:r>
              <a:endParaRPr b="0" i="0" sz="2000" u="none" cap="none" strike="noStrike">
                <a:solidFill>
                  <a:schemeClr val="dk1"/>
                </a:solidFill>
                <a:latin typeface="Calibri"/>
                <a:ea typeface="Calibri"/>
                <a:cs typeface="Calibri"/>
                <a:sym typeface="Calibri"/>
              </a:endParaRPr>
            </a:p>
          </p:txBody>
        </p:sp>
        <p:sp>
          <p:nvSpPr>
            <p:cNvPr id="67" name="Google Shape;67;g3e955750272_3_2"/>
            <p:cNvSpPr/>
            <p:nvPr/>
          </p:nvSpPr>
          <p:spPr>
            <a:xfrm>
              <a:off x="7200900" y="3905402"/>
              <a:ext cx="4038905"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기업마당 · 금융 · 전국</a:t>
              </a:r>
              <a:endParaRPr b="0" i="0" sz="1500" u="none" cap="none" strike="noStrike">
                <a:solidFill>
                  <a:schemeClr val="dk1"/>
                </a:solidFill>
                <a:latin typeface="Calibri"/>
                <a:ea typeface="Calibri"/>
                <a:cs typeface="Calibri"/>
                <a:sym typeface="Calibri"/>
              </a:endParaRPr>
            </a:p>
          </p:txBody>
        </p:sp>
      </p:grpSp>
      <p:sp>
        <p:nvSpPr>
          <p:cNvPr id="68" name="Google Shape;68;g3e955750272_3_2"/>
          <p:cNvSpPr/>
          <p:nvPr/>
        </p:nvSpPr>
        <p:spPr>
          <a:xfrm>
            <a:off x="10572292" y="7343547"/>
            <a:ext cx="6515100" cy="2290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TODAY'S FLOW</a:t>
            </a:r>
            <a:endParaRPr b="0" i="0" sz="1400" u="none" cap="none" strike="noStrike">
              <a:solidFill>
                <a:schemeClr val="dk1"/>
              </a:solidFill>
              <a:latin typeface="Calibri"/>
              <a:ea typeface="Calibri"/>
              <a:cs typeface="Calibri"/>
              <a:sym typeface="Calibri"/>
            </a:endParaRPr>
          </a:p>
        </p:txBody>
      </p:sp>
      <p:sp>
        <p:nvSpPr>
          <p:cNvPr id="69" name="Google Shape;69;g3e955750272_3_2"/>
          <p:cNvSpPr/>
          <p:nvPr/>
        </p:nvSpPr>
        <p:spPr>
          <a:xfrm>
            <a:off x="10572292" y="7600035"/>
            <a:ext cx="65151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오늘의 발표 흐름</a:t>
            </a:r>
            <a:endParaRPr b="0" i="0" sz="1800" u="none" cap="none" strike="noStrike">
              <a:solidFill>
                <a:schemeClr val="dk1"/>
              </a:solidFill>
              <a:latin typeface="Calibri"/>
              <a:ea typeface="Calibri"/>
              <a:cs typeface="Calibri"/>
              <a:sym typeface="Calibri"/>
            </a:endParaRPr>
          </a:p>
        </p:txBody>
      </p:sp>
      <p:sp>
        <p:nvSpPr>
          <p:cNvPr id="70" name="Google Shape;70;g3e955750272_3_2"/>
          <p:cNvSpPr/>
          <p:nvPr/>
        </p:nvSpPr>
        <p:spPr>
          <a:xfrm>
            <a:off x="10287000" y="7143292"/>
            <a:ext cx="7087058" cy="1714500"/>
          </a:xfrm>
          <a:prstGeom prst="rect">
            <a:avLst/>
          </a:prstGeom>
          <a:solidFill>
            <a:srgbClr val="1A2A4A"/>
          </a:solidFill>
          <a:ln cap="flat" cmpd="sng" w="12700">
            <a:solidFill>
              <a:srgbClr val="1A2A4A"/>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grpSp>
        <p:nvGrpSpPr>
          <p:cNvPr id="71" name="Google Shape;71;g3e955750272_3_2"/>
          <p:cNvGrpSpPr/>
          <p:nvPr/>
        </p:nvGrpSpPr>
        <p:grpSpPr>
          <a:xfrm>
            <a:off x="10644987" y="8171992"/>
            <a:ext cx="1714500" cy="285293"/>
            <a:chOff x="7096658" y="5447995"/>
            <a:chExt cx="1143000" cy="190195"/>
          </a:xfrm>
        </p:grpSpPr>
        <p:sp>
          <p:nvSpPr>
            <p:cNvPr id="72" name="Google Shape;72;g3e955750272_3_2"/>
            <p:cNvSpPr/>
            <p:nvPr/>
          </p:nvSpPr>
          <p:spPr>
            <a:xfrm>
              <a:off x="7096658" y="5447995"/>
              <a:ext cx="190195" cy="190195"/>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3" name="Google Shape;73;g3e955750272_3_2"/>
            <p:cNvSpPr/>
            <p:nvPr/>
          </p:nvSpPr>
          <p:spPr>
            <a:xfrm>
              <a:off x="7096658" y="5447995"/>
              <a:ext cx="190195" cy="1901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1</a:t>
              </a:r>
              <a:endParaRPr b="0" i="0" sz="1500" u="none" cap="none" strike="noStrike">
                <a:solidFill>
                  <a:schemeClr val="dk1"/>
                </a:solidFill>
                <a:latin typeface="Calibri"/>
                <a:ea typeface="Calibri"/>
                <a:cs typeface="Calibri"/>
                <a:sym typeface="Calibri"/>
              </a:endParaRPr>
            </a:p>
          </p:txBody>
        </p:sp>
        <p:sp>
          <p:nvSpPr>
            <p:cNvPr id="74" name="Google Shape;74;g3e955750272_3_2"/>
            <p:cNvSpPr/>
            <p:nvPr/>
          </p:nvSpPr>
          <p:spPr>
            <a:xfrm>
              <a:off x="7325258" y="5447995"/>
              <a:ext cx="914400"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비로그인 탐색</a:t>
              </a:r>
              <a:endParaRPr b="0" i="0" sz="1500" u="none" cap="none" strike="noStrike">
                <a:solidFill>
                  <a:schemeClr val="dk1"/>
                </a:solidFill>
                <a:latin typeface="Calibri"/>
                <a:ea typeface="Calibri"/>
                <a:cs typeface="Calibri"/>
                <a:sym typeface="Calibri"/>
              </a:endParaRPr>
            </a:p>
          </p:txBody>
        </p:sp>
      </p:grpSp>
      <p:sp>
        <p:nvSpPr>
          <p:cNvPr id="75" name="Google Shape;75;g3e955750272_3_2"/>
          <p:cNvSpPr/>
          <p:nvPr/>
        </p:nvSpPr>
        <p:spPr>
          <a:xfrm>
            <a:off x="12242364" y="8114385"/>
            <a:ext cx="285300" cy="40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0CC"/>
              </a:buClr>
              <a:buSzPts val="2100"/>
              <a:buFont typeface="Arial"/>
              <a:buNone/>
            </a:pPr>
            <a:r>
              <a:rPr b="1" i="0" lang="en-US" sz="2100" u="none" cap="none" strike="noStrike">
                <a:solidFill>
                  <a:srgbClr val="B8C0CC"/>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grpSp>
        <p:nvGrpSpPr>
          <p:cNvPr id="76" name="Google Shape;76;g3e955750272_3_2"/>
          <p:cNvGrpSpPr/>
          <p:nvPr/>
        </p:nvGrpSpPr>
        <p:grpSpPr>
          <a:xfrm>
            <a:off x="12644781" y="8171992"/>
            <a:ext cx="2542947" cy="285293"/>
            <a:chOff x="8429854" y="5447995"/>
            <a:chExt cx="1695298" cy="190195"/>
          </a:xfrm>
        </p:grpSpPr>
        <p:sp>
          <p:nvSpPr>
            <p:cNvPr id="77" name="Google Shape;77;g3e955750272_3_2"/>
            <p:cNvSpPr/>
            <p:nvPr/>
          </p:nvSpPr>
          <p:spPr>
            <a:xfrm>
              <a:off x="8429854" y="5447995"/>
              <a:ext cx="190195" cy="190195"/>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grpSp>
          <p:nvGrpSpPr>
            <p:cNvPr id="78" name="Google Shape;78;g3e955750272_3_2"/>
            <p:cNvGrpSpPr/>
            <p:nvPr/>
          </p:nvGrpSpPr>
          <p:grpSpPr>
            <a:xfrm>
              <a:off x="8429854" y="5447995"/>
              <a:ext cx="1695298" cy="190195"/>
              <a:chOff x="8429854" y="5447995"/>
              <a:chExt cx="1695298" cy="190195"/>
            </a:xfrm>
          </p:grpSpPr>
          <p:sp>
            <p:nvSpPr>
              <p:cNvPr id="79" name="Google Shape;79;g3e955750272_3_2"/>
              <p:cNvSpPr/>
              <p:nvPr/>
            </p:nvSpPr>
            <p:spPr>
              <a:xfrm>
                <a:off x="8429854" y="5447995"/>
                <a:ext cx="190195" cy="1901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2</a:t>
                </a:r>
                <a:endParaRPr b="0" i="0" sz="1500" u="none" cap="none" strike="noStrike">
                  <a:solidFill>
                    <a:schemeClr val="dk1"/>
                  </a:solidFill>
                  <a:latin typeface="Calibri"/>
                  <a:ea typeface="Calibri"/>
                  <a:cs typeface="Calibri"/>
                  <a:sym typeface="Calibri"/>
                </a:endParaRPr>
              </a:p>
            </p:txBody>
          </p:sp>
          <p:sp>
            <p:nvSpPr>
              <p:cNvPr id="80" name="Google Shape;80;g3e955750272_3_2"/>
              <p:cNvSpPr/>
              <p:nvPr/>
            </p:nvSpPr>
            <p:spPr>
              <a:xfrm>
                <a:off x="8658454" y="5447995"/>
                <a:ext cx="1466698"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로그인 후 스크랩 / 추천</a:t>
                </a:r>
                <a:endParaRPr b="0" i="0" sz="1500" u="none" cap="none" strike="noStrike">
                  <a:solidFill>
                    <a:schemeClr val="dk1"/>
                  </a:solidFill>
                  <a:latin typeface="Calibri"/>
                  <a:ea typeface="Calibri"/>
                  <a:cs typeface="Calibri"/>
                  <a:sym typeface="Calibri"/>
                </a:endParaRPr>
              </a:p>
            </p:txBody>
          </p:sp>
        </p:grpSp>
      </p:grpSp>
      <p:sp>
        <p:nvSpPr>
          <p:cNvPr id="81" name="Google Shape;81;g3e955750272_3_2"/>
          <p:cNvSpPr/>
          <p:nvPr/>
        </p:nvSpPr>
        <p:spPr>
          <a:xfrm>
            <a:off x="15020408" y="8114385"/>
            <a:ext cx="285300" cy="40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0CC"/>
              </a:buClr>
              <a:buSzPts val="2100"/>
              <a:buFont typeface="Arial"/>
              <a:buNone/>
            </a:pPr>
            <a:r>
              <a:rPr b="1" i="0" lang="en-US" sz="2100" u="none" cap="none" strike="noStrike">
                <a:solidFill>
                  <a:srgbClr val="B8C0CC"/>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grpSp>
        <p:nvGrpSpPr>
          <p:cNvPr id="82" name="Google Shape;82;g3e955750272_3_2"/>
          <p:cNvGrpSpPr/>
          <p:nvPr/>
        </p:nvGrpSpPr>
        <p:grpSpPr>
          <a:xfrm>
            <a:off x="15473019" y="8171992"/>
            <a:ext cx="1543050" cy="285293"/>
            <a:chOff x="10315346" y="5447995"/>
            <a:chExt cx="1028700" cy="190195"/>
          </a:xfrm>
        </p:grpSpPr>
        <p:sp>
          <p:nvSpPr>
            <p:cNvPr id="83" name="Google Shape;83;g3e955750272_3_2"/>
            <p:cNvSpPr/>
            <p:nvPr/>
          </p:nvSpPr>
          <p:spPr>
            <a:xfrm>
              <a:off x="10315346" y="5447995"/>
              <a:ext cx="190195" cy="190195"/>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4" name="Google Shape;84;g3e955750272_3_2"/>
            <p:cNvSpPr/>
            <p:nvPr/>
          </p:nvSpPr>
          <p:spPr>
            <a:xfrm>
              <a:off x="10315346" y="5447995"/>
              <a:ext cx="190195" cy="1901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3</a:t>
              </a:r>
              <a:endParaRPr b="0" i="0" sz="1500" u="none" cap="none" strike="noStrike">
                <a:solidFill>
                  <a:schemeClr val="dk1"/>
                </a:solidFill>
                <a:latin typeface="Calibri"/>
                <a:ea typeface="Calibri"/>
                <a:cs typeface="Calibri"/>
                <a:sym typeface="Calibri"/>
              </a:endParaRPr>
            </a:p>
          </p:txBody>
        </p:sp>
        <p:sp>
          <p:nvSpPr>
            <p:cNvPr id="85" name="Google Shape;85;g3e955750272_3_2"/>
            <p:cNvSpPr/>
            <p:nvPr/>
          </p:nvSpPr>
          <p:spPr>
            <a:xfrm>
              <a:off x="10543946" y="5447995"/>
              <a:ext cx="800100"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데이터 · 구조</a:t>
              </a:r>
              <a:endParaRPr b="0" i="0" sz="1500" u="none" cap="none" strike="noStrike">
                <a:solidFill>
                  <a:schemeClr val="dk1"/>
                </a:solidFill>
                <a:latin typeface="Calibri"/>
                <a:ea typeface="Calibri"/>
                <a:cs typeface="Calibri"/>
                <a:sym typeface="Calibri"/>
              </a:endParaRPr>
            </a:p>
          </p:txBody>
        </p:sp>
      </p:grpSp>
      <p:sp>
        <p:nvSpPr>
          <p:cNvPr id="86" name="Google Shape;86;g3e955750272_3_2"/>
          <p:cNvSpPr/>
          <p:nvPr/>
        </p:nvSpPr>
        <p:spPr>
          <a:xfrm>
            <a:off x="914857" y="9543592"/>
            <a:ext cx="100017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Policy + Recommendation </a:t>
            </a:r>
            <a:endParaRPr b="0" i="0" sz="1400" u="none" cap="none" strike="noStrike">
              <a:solidFill>
                <a:schemeClr val="dk1"/>
              </a:solidFill>
              <a:latin typeface="Calibri"/>
              <a:ea typeface="Calibri"/>
              <a:cs typeface="Calibri"/>
              <a:sym typeface="Calibri"/>
            </a:endParaRPr>
          </a:p>
        </p:txBody>
      </p:sp>
      <p:sp>
        <p:nvSpPr>
          <p:cNvPr id="87" name="Google Shape;87;g3e955750272_3_2"/>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01 / 23</a:t>
            </a:r>
            <a:endParaRPr b="0" i="0" sz="1400" u="none" cap="none" strike="noStrike">
              <a:solidFill>
                <a:schemeClr val="dk1"/>
              </a:solidFill>
              <a:latin typeface="Calibri"/>
              <a:ea typeface="Calibri"/>
              <a:cs typeface="Calibri"/>
              <a:sym typeface="Calibri"/>
            </a:endParaRPr>
          </a:p>
        </p:txBody>
      </p:sp>
      <p:sp>
        <p:nvSpPr>
          <p:cNvPr id="88" name="Google Shape;88;g3e955750272_3_2"/>
          <p:cNvSpPr/>
          <p:nvPr/>
        </p:nvSpPr>
        <p:spPr>
          <a:xfrm>
            <a:off x="0" y="10200589"/>
            <a:ext cx="18287543" cy="8641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9" name="Google Shape;89;g3e955750272_3_2"/>
          <p:cNvSpPr/>
          <p:nvPr/>
        </p:nvSpPr>
        <p:spPr>
          <a:xfrm>
            <a:off x="10572292" y="7343547"/>
            <a:ext cx="6515100" cy="2290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TODAY'S FLOW</a:t>
            </a:r>
            <a:endParaRPr b="0" i="0" sz="1400" u="none" cap="none" strike="noStrike">
              <a:solidFill>
                <a:schemeClr val="dk1"/>
              </a:solidFill>
              <a:latin typeface="Calibri"/>
              <a:ea typeface="Calibri"/>
              <a:cs typeface="Calibri"/>
              <a:sym typeface="Calibri"/>
            </a:endParaRPr>
          </a:p>
        </p:txBody>
      </p:sp>
      <p:sp>
        <p:nvSpPr>
          <p:cNvPr id="90" name="Google Shape;90;g3e955750272_3_2"/>
          <p:cNvSpPr/>
          <p:nvPr/>
        </p:nvSpPr>
        <p:spPr>
          <a:xfrm>
            <a:off x="10572292" y="7600035"/>
            <a:ext cx="6515100" cy="28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오늘의 발표 흐름</a:t>
            </a:r>
            <a:endParaRPr b="0" i="0" sz="1800" u="none" cap="none" strike="noStrike">
              <a:solidFill>
                <a:schemeClr val="dk1"/>
              </a:solidFill>
              <a:latin typeface="Calibri"/>
              <a:ea typeface="Calibri"/>
              <a:cs typeface="Calibri"/>
              <a:sym typeface="Calibri"/>
            </a:endParaRPr>
          </a:p>
        </p:txBody>
      </p:sp>
      <p:sp>
        <p:nvSpPr>
          <p:cNvPr id="91" name="Google Shape;91;g3e955750272_3_2"/>
          <p:cNvSpPr txBox="1"/>
          <p:nvPr/>
        </p:nvSpPr>
        <p:spPr>
          <a:xfrm>
            <a:off x="11369486" y="2281248"/>
            <a:ext cx="5617350" cy="342900"/>
          </a:xfrm>
          <a:prstGeom prst="rect">
            <a:avLst/>
          </a:prstGeom>
          <a:noFill/>
          <a:ln>
            <a:noFill/>
          </a:ln>
        </p:spPr>
        <p:txBody>
          <a:bodyPr anchorCtr="0" anchor="t" bIns="137150" lIns="137150" spcFirstLastPara="1" rIns="137150" wrap="square" tIns="137150">
            <a:noAutofit/>
          </a:bodyPr>
          <a:lstStyle/>
          <a:p>
            <a:pPr indent="0" lvl="0" marL="0" marR="0" rtl="0" algn="l">
              <a:lnSpc>
                <a:spcPct val="100000"/>
              </a:lnSpc>
              <a:spcBef>
                <a:spcPts val="0"/>
              </a:spcBef>
              <a:spcAft>
                <a:spcPts val="0"/>
              </a:spcAft>
              <a:buClr>
                <a:srgbClr val="8A8F99"/>
              </a:buClr>
              <a:buSzPts val="1500"/>
              <a:buFont typeface="Arial"/>
              <a:buNone/>
            </a:pPr>
            <a:r>
              <a:rPr b="0" i="0" lang="en-US" sz="1500" u="none" cap="none" strike="noStrike">
                <a:solidFill>
                  <a:srgbClr val="8A8F99"/>
                </a:solidFill>
                <a:latin typeface="Arial"/>
                <a:ea typeface="Arial"/>
                <a:cs typeface="Arial"/>
                <a:sym typeface="Arial"/>
              </a:rPr>
              <a:t>어떤 정책을 찾고 계신가요?</a:t>
            </a:r>
            <a:endParaRPr b="0" i="0" sz="2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
                                        </p:tgtEl>
                                        <p:attrNameLst>
                                          <p:attrName>style.visibility</p:attrName>
                                        </p:attrNameLst>
                                      </p:cBhvr>
                                      <p:to>
                                        <p:strVal val="visible"/>
                                      </p:to>
                                    </p:set>
                                    <p:animEffect filter="fade" transition="in">
                                      <p:cBhvr>
                                        <p:cTn dur="1000"/>
                                        <p:tgtEl>
                                          <p:spTgt spid="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
                                        </p:tgtEl>
                                        <p:attrNameLst>
                                          <p:attrName>style.visibility</p:attrName>
                                        </p:attrNameLst>
                                      </p:cBhvr>
                                      <p:to>
                                        <p:strVal val="visible"/>
                                      </p:to>
                                    </p:set>
                                    <p:animEffect filter="fade" transition="in">
                                      <p:cBhvr>
                                        <p:cTn dur="1000"/>
                                        <p:tgtEl>
                                          <p:spTgt spid="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
                                        </p:tgtEl>
                                        <p:attrNameLst>
                                          <p:attrName>style.visibility</p:attrName>
                                        </p:attrNameLst>
                                      </p:cBhvr>
                                      <p:to>
                                        <p:strVal val="visible"/>
                                      </p:to>
                                    </p:set>
                                    <p:animEffect filter="fade" transition="in">
                                      <p:cBhvr>
                                        <p:cTn dur="1000"/>
                                        <p:tgtEl>
                                          <p:spTgt spid="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gtEl>
                                        <p:attrNameLst>
                                          <p:attrName>style.visibility</p:attrName>
                                        </p:attrNameLst>
                                      </p:cBhvr>
                                      <p:to>
                                        <p:strVal val="visible"/>
                                      </p:to>
                                    </p:set>
                                    <p:animEffect filter="fade" transition="in">
                                      <p:cBhvr>
                                        <p:cTn dur="1000"/>
                                        <p:tgtEl>
                                          <p:spTgt spid="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1000"/>
                                        <p:tgtEl>
                                          <p:spTgt spid="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1000"/>
                                        <p:tgtEl>
                                          <p:spTgt spid="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100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grpSp>
        <p:nvGrpSpPr>
          <p:cNvPr id="97" name="Google Shape;97;g3e955750272_3_81"/>
          <p:cNvGrpSpPr/>
          <p:nvPr/>
        </p:nvGrpSpPr>
        <p:grpSpPr>
          <a:xfrm>
            <a:off x="914858" y="2921944"/>
            <a:ext cx="16223935" cy="4670795"/>
            <a:chOff x="609905" y="1947963"/>
            <a:chExt cx="10815957" cy="3113863"/>
          </a:xfrm>
        </p:grpSpPr>
        <p:sp>
          <p:nvSpPr>
            <p:cNvPr id="98" name="Google Shape;98;g3e955750272_3_81"/>
            <p:cNvSpPr/>
            <p:nvPr/>
          </p:nvSpPr>
          <p:spPr>
            <a:xfrm>
              <a:off x="609905" y="2171700"/>
              <a:ext cx="5372100" cy="24762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9" name="Google Shape;99;g3e955750272_3_81"/>
            <p:cNvSpPr/>
            <p:nvPr/>
          </p:nvSpPr>
          <p:spPr>
            <a:xfrm>
              <a:off x="876910" y="2438705"/>
              <a:ext cx="1051500" cy="209400"/>
            </a:xfrm>
            <a:prstGeom prst="roundRect">
              <a:avLst>
                <a:gd fmla="val 17467" name="adj"/>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0" name="Google Shape;100;g3e955750272_3_81"/>
            <p:cNvSpPr/>
            <p:nvPr/>
          </p:nvSpPr>
          <p:spPr>
            <a:xfrm>
              <a:off x="876910" y="2438705"/>
              <a:ext cx="10515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여러 사이트를 오감</a:t>
              </a:r>
              <a:endParaRPr b="0" i="0" sz="1400" u="none" cap="none" strike="noStrike">
                <a:solidFill>
                  <a:schemeClr val="dk1"/>
                </a:solidFill>
                <a:latin typeface="Calibri"/>
                <a:ea typeface="Calibri"/>
                <a:cs typeface="Calibri"/>
                <a:sym typeface="Calibri"/>
              </a:endParaRPr>
            </a:p>
          </p:txBody>
        </p:sp>
        <p:sp>
          <p:nvSpPr>
            <p:cNvPr id="101" name="Google Shape;101;g3e955750272_3_81"/>
            <p:cNvSpPr/>
            <p:nvPr/>
          </p:nvSpPr>
          <p:spPr>
            <a:xfrm>
              <a:off x="876910" y="2857500"/>
              <a:ext cx="4839000" cy="38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공고가 기관별로 흩어짐</a:t>
              </a:r>
              <a:endParaRPr b="0" i="0" sz="3000" u="none" cap="none" strike="noStrike">
                <a:solidFill>
                  <a:schemeClr val="dk1"/>
                </a:solidFill>
                <a:latin typeface="Calibri"/>
                <a:ea typeface="Calibri"/>
                <a:cs typeface="Calibri"/>
                <a:sym typeface="Calibri"/>
              </a:endParaRPr>
            </a:p>
          </p:txBody>
        </p:sp>
        <p:sp>
          <p:nvSpPr>
            <p:cNvPr id="102" name="Google Shape;102;g3e955750272_3_81"/>
            <p:cNvSpPr/>
            <p:nvPr/>
          </p:nvSpPr>
          <p:spPr>
            <a:xfrm>
              <a:off x="876910" y="3353105"/>
              <a:ext cx="4839000" cy="95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각 정부부처, 지자체 등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공식 사이트를 오가며 확인해야 합니다.</a:t>
              </a:r>
              <a:endParaRPr b="0" i="0" sz="2000" u="none" cap="none" strike="noStrike">
                <a:solidFill>
                  <a:schemeClr val="dk1"/>
                </a:solidFill>
                <a:latin typeface="Calibri"/>
                <a:ea typeface="Calibri"/>
                <a:cs typeface="Calibri"/>
                <a:sym typeface="Calibri"/>
              </a:endParaRPr>
            </a:p>
          </p:txBody>
        </p:sp>
        <p:sp>
          <p:nvSpPr>
            <p:cNvPr id="103" name="Google Shape;103;g3e955750272_3_81"/>
            <p:cNvSpPr/>
            <p:nvPr/>
          </p:nvSpPr>
          <p:spPr>
            <a:xfrm>
              <a:off x="610355" y="2171700"/>
              <a:ext cx="5372100" cy="24762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4" name="Google Shape;104;g3e955750272_3_81"/>
            <p:cNvSpPr/>
            <p:nvPr/>
          </p:nvSpPr>
          <p:spPr>
            <a:xfrm>
              <a:off x="877360" y="2438705"/>
              <a:ext cx="1156800" cy="209400"/>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5" name="Google Shape;105;g3e955750272_3_81"/>
            <p:cNvSpPr/>
            <p:nvPr/>
          </p:nvSpPr>
          <p:spPr>
            <a:xfrm>
              <a:off x="877360" y="2438705"/>
              <a:ext cx="11568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세부 조건 직접 비교</a:t>
              </a:r>
              <a:endParaRPr b="0" i="0" sz="1400" u="none" cap="none" strike="noStrike">
                <a:solidFill>
                  <a:schemeClr val="dk1"/>
                </a:solidFill>
                <a:latin typeface="Calibri"/>
                <a:ea typeface="Calibri"/>
                <a:cs typeface="Calibri"/>
                <a:sym typeface="Calibri"/>
              </a:endParaRPr>
            </a:p>
          </p:txBody>
        </p:sp>
        <p:sp>
          <p:nvSpPr>
            <p:cNvPr id="106" name="Google Shape;106;g3e955750272_3_81"/>
            <p:cNvSpPr/>
            <p:nvPr/>
          </p:nvSpPr>
          <p:spPr>
            <a:xfrm>
              <a:off x="877360" y="2857500"/>
              <a:ext cx="4839000" cy="38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제목만 봐선 충분하지 않음</a:t>
              </a:r>
              <a:endParaRPr b="0" i="0" sz="3000" u="none" cap="none" strike="noStrike">
                <a:solidFill>
                  <a:schemeClr val="dk1"/>
                </a:solidFill>
                <a:latin typeface="Calibri"/>
                <a:ea typeface="Calibri"/>
                <a:cs typeface="Calibri"/>
                <a:sym typeface="Calibri"/>
              </a:endParaRPr>
            </a:p>
          </p:txBody>
        </p:sp>
        <p:sp>
          <p:nvSpPr>
            <p:cNvPr id="107" name="Google Shape;107;g3e955750272_3_81"/>
            <p:cNvSpPr/>
            <p:nvPr/>
          </p:nvSpPr>
          <p:spPr>
            <a:xfrm>
              <a:off x="877360" y="3353105"/>
              <a:ext cx="4839000" cy="95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지역 · 나이 · 분야 · 신청 기간 · 지원 대상을</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사용자가 직접 확인해야 합니다.</a:t>
              </a:r>
              <a:endParaRPr b="0" i="0" sz="2000" u="none" cap="none" strike="noStrike">
                <a:solidFill>
                  <a:schemeClr val="dk1"/>
                </a:solidFill>
                <a:latin typeface="Calibri"/>
                <a:ea typeface="Calibri"/>
                <a:cs typeface="Calibri"/>
                <a:sym typeface="Calibri"/>
              </a:endParaRPr>
            </a:p>
          </p:txBody>
        </p:sp>
        <p:pic>
          <p:nvPicPr>
            <p:cNvPr id="108" name="Google Shape;108;g3e955750272_3_81"/>
            <p:cNvPicPr preferRelativeResize="0"/>
            <p:nvPr/>
          </p:nvPicPr>
          <p:blipFill rotWithShape="1">
            <a:blip r:embed="rId3">
              <a:alphaModFix/>
            </a:blip>
            <a:srcRect b="0" l="0" r="0" t="0"/>
            <a:stretch/>
          </p:blipFill>
          <p:spPr>
            <a:xfrm>
              <a:off x="6053761" y="1947963"/>
              <a:ext cx="5372101" cy="3113863"/>
            </a:xfrm>
            <a:prstGeom prst="rect">
              <a:avLst/>
            </a:prstGeom>
            <a:noFill/>
            <a:ln>
              <a:noFill/>
            </a:ln>
          </p:spPr>
        </p:pic>
      </p:grpSp>
      <p:sp>
        <p:nvSpPr>
          <p:cNvPr id="109" name="Google Shape;109;g3e955750272_3_81"/>
          <p:cNvSpPr/>
          <p:nvPr/>
        </p:nvSpPr>
        <p:spPr>
          <a:xfrm>
            <a:off x="914858" y="772211"/>
            <a:ext cx="113850" cy="113850"/>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0" name="Google Shape;110;g3e955750272_3_81"/>
          <p:cNvSpPr/>
          <p:nvPr/>
        </p:nvSpPr>
        <p:spPr>
          <a:xfrm>
            <a:off x="1143915" y="685800"/>
            <a:ext cx="16230150" cy="28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CH.01  ·  문제 정의</a:t>
            </a:r>
            <a:endParaRPr b="0" i="0" sz="1400" u="none" cap="none" strike="noStrike">
              <a:solidFill>
                <a:schemeClr val="dk1"/>
              </a:solidFill>
              <a:latin typeface="Calibri"/>
              <a:ea typeface="Calibri"/>
              <a:cs typeface="Calibri"/>
              <a:sym typeface="Calibri"/>
            </a:endParaRPr>
          </a:p>
        </p:txBody>
      </p:sp>
      <p:sp>
        <p:nvSpPr>
          <p:cNvPr id="111" name="Google Shape;111;g3e955750272_3_81"/>
          <p:cNvSpPr/>
          <p:nvPr/>
        </p:nvSpPr>
        <p:spPr>
          <a:xfrm>
            <a:off x="914857" y="1200150"/>
            <a:ext cx="16459200" cy="79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정책은 많은데, 사용자는 어디서부터 찾을지 모른다</a:t>
            </a:r>
            <a:endParaRPr b="0" i="0" sz="4200" u="none" cap="none" strike="noStrike">
              <a:solidFill>
                <a:schemeClr val="dk1"/>
              </a:solidFill>
              <a:latin typeface="Calibri"/>
              <a:ea typeface="Calibri"/>
              <a:cs typeface="Calibri"/>
              <a:sym typeface="Calibri"/>
            </a:endParaRPr>
          </a:p>
        </p:txBody>
      </p:sp>
      <p:sp>
        <p:nvSpPr>
          <p:cNvPr id="112" name="Google Shape;112;g3e955750272_3_81"/>
          <p:cNvSpPr/>
          <p:nvPr/>
        </p:nvSpPr>
        <p:spPr>
          <a:xfrm>
            <a:off x="914857" y="2115007"/>
            <a:ext cx="16459200" cy="40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공고는 흩어져 있고 조건 비교는 사용자의 몫입니다.</a:t>
            </a:r>
            <a:endParaRPr b="0" i="0" sz="2000" u="none" cap="none" strike="noStrike">
              <a:solidFill>
                <a:schemeClr val="dk1"/>
              </a:solidFill>
              <a:latin typeface="Calibri"/>
              <a:ea typeface="Calibri"/>
              <a:cs typeface="Calibri"/>
              <a:sym typeface="Calibri"/>
            </a:endParaRPr>
          </a:p>
        </p:txBody>
      </p:sp>
      <p:sp>
        <p:nvSpPr>
          <p:cNvPr id="113" name="Google Shape;113;g3e955750272_3_81"/>
          <p:cNvSpPr/>
          <p:nvPr/>
        </p:nvSpPr>
        <p:spPr>
          <a:xfrm>
            <a:off x="914857" y="2685593"/>
            <a:ext cx="16459200" cy="135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4" name="Google Shape;114;g3e955750272_3_81"/>
          <p:cNvSpPr/>
          <p:nvPr/>
        </p:nvSpPr>
        <p:spPr>
          <a:xfrm>
            <a:off x="914857" y="9543592"/>
            <a:ext cx="1142955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문제 정의</a:t>
            </a:r>
            <a:endParaRPr b="0" i="0" sz="1400" u="none" cap="none" strike="noStrike">
              <a:solidFill>
                <a:schemeClr val="dk1"/>
              </a:solidFill>
              <a:latin typeface="Calibri"/>
              <a:ea typeface="Calibri"/>
              <a:cs typeface="Calibri"/>
              <a:sym typeface="Calibri"/>
            </a:endParaRPr>
          </a:p>
        </p:txBody>
      </p:sp>
      <p:grpSp>
        <p:nvGrpSpPr>
          <p:cNvPr id="115" name="Google Shape;115;g3e955750272_3_81"/>
          <p:cNvGrpSpPr/>
          <p:nvPr/>
        </p:nvGrpSpPr>
        <p:grpSpPr>
          <a:xfrm>
            <a:off x="914858" y="8058150"/>
            <a:ext cx="16459200" cy="799650"/>
            <a:chOff x="609905" y="5372100"/>
            <a:chExt cx="10972800" cy="533100"/>
          </a:xfrm>
        </p:grpSpPr>
        <p:sp>
          <p:nvSpPr>
            <p:cNvPr id="116" name="Google Shape;116;g3e955750272_3_81"/>
            <p:cNvSpPr/>
            <p:nvPr/>
          </p:nvSpPr>
          <p:spPr>
            <a:xfrm>
              <a:off x="609905" y="5372100"/>
              <a:ext cx="10972800" cy="5331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7" name="Google Shape;117;g3e955750272_3_81"/>
            <p:cNvSpPr/>
            <p:nvPr/>
          </p:nvSpPr>
          <p:spPr>
            <a:xfrm>
              <a:off x="609905" y="5372100"/>
              <a:ext cx="38400" cy="53310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8" name="Google Shape;118;g3e955750272_3_81"/>
            <p:cNvSpPr/>
            <p:nvPr/>
          </p:nvSpPr>
          <p:spPr>
            <a:xfrm>
              <a:off x="838505" y="5372100"/>
              <a:ext cx="10515600" cy="5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2000"/>
                <a:buFont typeface="Arial"/>
                <a:buNone/>
              </a:pPr>
              <a:r>
                <a:rPr b="1" i="0" lang="en-US" sz="2000" u="none" cap="none" strike="noStrike">
                  <a:solidFill>
                    <a:srgbClr val="3F3FB8"/>
                  </a:solidFill>
                  <a:latin typeface="Arial"/>
                  <a:ea typeface="Arial"/>
                  <a:cs typeface="Arial"/>
                  <a:sym typeface="Arial"/>
                </a:rPr>
                <a:t>흩어진 정책 정보를 한 곳</a:t>
              </a:r>
              <a:r>
                <a:rPr b="0" i="0" lang="en-US" sz="2000" u="none" cap="none" strike="noStrike">
                  <a:solidFill>
                    <a:srgbClr val="2A2A33"/>
                  </a:solidFill>
                  <a:latin typeface="Arial"/>
                  <a:ea typeface="Arial"/>
                  <a:cs typeface="Arial"/>
                  <a:sym typeface="Arial"/>
                </a:rPr>
                <a:t>에 모으고, </a:t>
              </a:r>
              <a:r>
                <a:rPr b="1" i="0" lang="en-US" sz="2000" u="none" cap="none" strike="noStrike">
                  <a:solidFill>
                    <a:srgbClr val="3F3FB8"/>
                  </a:solidFill>
                  <a:latin typeface="Arial"/>
                  <a:ea typeface="Arial"/>
                  <a:cs typeface="Arial"/>
                  <a:sym typeface="Arial"/>
                </a:rPr>
                <a:t>사용자 상황에 맞는 공고를 쉽게 찾을 수 있는 서비스</a:t>
              </a:r>
              <a:r>
                <a:rPr b="0" i="0" lang="en-US" sz="2000" u="none" cap="none" strike="noStrike">
                  <a:solidFill>
                    <a:srgbClr val="2A2A33"/>
                  </a:solidFill>
                  <a:latin typeface="Arial"/>
                  <a:ea typeface="Arial"/>
                  <a:cs typeface="Arial"/>
                  <a:sym typeface="Arial"/>
                </a:rPr>
                <a:t>를 </a:t>
              </a:r>
              <a:r>
                <a:rPr b="1" i="0" lang="en-US" sz="2000" u="none" cap="none" strike="noStrike">
                  <a:solidFill>
                    <a:srgbClr val="3F3FB8"/>
                  </a:solidFill>
                  <a:latin typeface="Arial"/>
                  <a:ea typeface="Arial"/>
                  <a:cs typeface="Arial"/>
                  <a:sym typeface="Arial"/>
                </a:rPr>
                <a:t>목표</a:t>
              </a:r>
              <a:r>
                <a:rPr b="0" i="0" lang="en-US" sz="2000" u="none" cap="none" strike="noStrike">
                  <a:solidFill>
                    <a:srgbClr val="2A2A33"/>
                  </a:solidFill>
                  <a:latin typeface="Arial"/>
                  <a:ea typeface="Arial"/>
                  <a:cs typeface="Arial"/>
                  <a:sym typeface="Arial"/>
                </a:rPr>
                <a:t>로 했습니다.</a:t>
              </a:r>
              <a:endParaRPr b="0" i="0" sz="2000" u="none" cap="none" strike="noStrike">
                <a:solidFill>
                  <a:schemeClr val="dk1"/>
                </a:solidFill>
                <a:latin typeface="Calibri"/>
                <a:ea typeface="Calibri"/>
                <a:cs typeface="Calibri"/>
                <a:sym typeface="Calibri"/>
              </a:endParaRPr>
            </a:p>
          </p:txBody>
        </p:sp>
      </p:grpSp>
      <p:grpSp>
        <p:nvGrpSpPr>
          <p:cNvPr id="119" name="Google Shape;119;g3e955750272_3_81"/>
          <p:cNvGrpSpPr/>
          <p:nvPr/>
        </p:nvGrpSpPr>
        <p:grpSpPr>
          <a:xfrm>
            <a:off x="914858" y="2869425"/>
            <a:ext cx="16459200" cy="7017067"/>
            <a:chOff x="609905" y="1912950"/>
            <a:chExt cx="10972800" cy="4678045"/>
          </a:xfrm>
        </p:grpSpPr>
        <p:sp>
          <p:nvSpPr>
            <p:cNvPr id="120" name="Google Shape;120;g3e955750272_3_81"/>
            <p:cNvSpPr/>
            <p:nvPr/>
          </p:nvSpPr>
          <p:spPr>
            <a:xfrm>
              <a:off x="10439705" y="6362395"/>
              <a:ext cx="11430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02 / 23</a:t>
              </a:r>
              <a:endParaRPr b="0" i="0" sz="1400" u="none" cap="none" strike="noStrike">
                <a:solidFill>
                  <a:schemeClr val="dk1"/>
                </a:solidFill>
                <a:latin typeface="Calibri"/>
                <a:ea typeface="Calibri"/>
                <a:cs typeface="Calibri"/>
                <a:sym typeface="Calibri"/>
              </a:endParaRPr>
            </a:p>
          </p:txBody>
        </p:sp>
        <p:sp>
          <p:nvSpPr>
            <p:cNvPr id="121" name="Google Shape;121;g3e955750272_3_81"/>
            <p:cNvSpPr/>
            <p:nvPr/>
          </p:nvSpPr>
          <p:spPr>
            <a:xfrm>
              <a:off x="609905" y="2171700"/>
              <a:ext cx="5372100" cy="24762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2" name="Google Shape;122;g3e955750272_3_81"/>
            <p:cNvSpPr/>
            <p:nvPr/>
          </p:nvSpPr>
          <p:spPr>
            <a:xfrm>
              <a:off x="6477610" y="2438705"/>
              <a:ext cx="1156800" cy="209400"/>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3" name="Google Shape;123;g3e955750272_3_81"/>
            <p:cNvSpPr/>
            <p:nvPr/>
          </p:nvSpPr>
          <p:spPr>
            <a:xfrm>
              <a:off x="6477610" y="2438705"/>
              <a:ext cx="11568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세부 조건 직접 비교</a:t>
              </a:r>
              <a:endParaRPr b="0" i="0" sz="1400" u="none" cap="none" strike="noStrike">
                <a:solidFill>
                  <a:schemeClr val="dk1"/>
                </a:solidFill>
                <a:latin typeface="Calibri"/>
                <a:ea typeface="Calibri"/>
                <a:cs typeface="Calibri"/>
                <a:sym typeface="Calibri"/>
              </a:endParaRPr>
            </a:p>
          </p:txBody>
        </p:sp>
        <p:sp>
          <p:nvSpPr>
            <p:cNvPr id="124" name="Google Shape;124;g3e955750272_3_81"/>
            <p:cNvSpPr/>
            <p:nvPr/>
          </p:nvSpPr>
          <p:spPr>
            <a:xfrm>
              <a:off x="6477610" y="2857500"/>
              <a:ext cx="4839000" cy="38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제목만 봐선 충분하지 않음</a:t>
              </a:r>
              <a:endParaRPr b="0" i="0" sz="3000" u="none" cap="none" strike="noStrike">
                <a:solidFill>
                  <a:schemeClr val="dk1"/>
                </a:solidFill>
                <a:latin typeface="Calibri"/>
                <a:ea typeface="Calibri"/>
                <a:cs typeface="Calibri"/>
                <a:sym typeface="Calibri"/>
              </a:endParaRPr>
            </a:p>
          </p:txBody>
        </p:sp>
        <p:sp>
          <p:nvSpPr>
            <p:cNvPr id="125" name="Google Shape;125;g3e955750272_3_81"/>
            <p:cNvSpPr/>
            <p:nvPr/>
          </p:nvSpPr>
          <p:spPr>
            <a:xfrm>
              <a:off x="6477610" y="3353105"/>
              <a:ext cx="4839000" cy="95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지역 · 나이 · 분야 · 신청 기간 · 지원 대상을</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사용자가 직접 확인해야 합니다.</a:t>
              </a:r>
              <a:endParaRPr b="0" i="0" sz="2000" u="none" cap="none" strike="noStrike">
                <a:solidFill>
                  <a:schemeClr val="dk1"/>
                </a:solidFill>
                <a:latin typeface="Calibri"/>
                <a:ea typeface="Calibri"/>
                <a:cs typeface="Calibri"/>
                <a:sym typeface="Calibri"/>
              </a:endParaRPr>
            </a:p>
          </p:txBody>
        </p:sp>
        <p:pic>
          <p:nvPicPr>
            <p:cNvPr id="126" name="Google Shape;126;g3e955750272_3_81" title="정책검색_1.png"/>
            <p:cNvPicPr preferRelativeResize="0"/>
            <p:nvPr/>
          </p:nvPicPr>
          <p:blipFill rotWithShape="1">
            <a:blip r:embed="rId4">
              <a:alphaModFix/>
            </a:blip>
            <a:srcRect b="0" l="0" r="0" t="0"/>
            <a:stretch/>
          </p:blipFill>
          <p:spPr>
            <a:xfrm>
              <a:off x="6053746" y="1912950"/>
              <a:ext cx="3885515" cy="3148874"/>
            </a:xfrm>
            <a:prstGeom prst="rect">
              <a:avLst/>
            </a:prstGeom>
            <a:noFill/>
            <a:ln>
              <a:noFill/>
            </a:ln>
          </p:spPr>
        </p:pic>
        <p:sp>
          <p:nvSpPr>
            <p:cNvPr id="127" name="Google Shape;127;g3e955750272_3_81"/>
            <p:cNvSpPr/>
            <p:nvPr/>
          </p:nvSpPr>
          <p:spPr>
            <a:xfrm>
              <a:off x="876910" y="2438705"/>
              <a:ext cx="1051500" cy="209400"/>
            </a:xfrm>
            <a:prstGeom prst="roundRect">
              <a:avLst>
                <a:gd fmla="val 17467" name="adj"/>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8" name="Google Shape;128;g3e955750272_3_81"/>
            <p:cNvSpPr/>
            <p:nvPr/>
          </p:nvSpPr>
          <p:spPr>
            <a:xfrm>
              <a:off x="876910" y="2438705"/>
              <a:ext cx="10515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여러 사이트를 오감</a:t>
              </a:r>
              <a:endParaRPr b="0" i="0" sz="1400" u="none" cap="none" strike="noStrike">
                <a:solidFill>
                  <a:schemeClr val="dk1"/>
                </a:solidFill>
                <a:latin typeface="Calibri"/>
                <a:ea typeface="Calibri"/>
                <a:cs typeface="Calibri"/>
                <a:sym typeface="Calibri"/>
              </a:endParaRPr>
            </a:p>
          </p:txBody>
        </p:sp>
        <p:sp>
          <p:nvSpPr>
            <p:cNvPr id="129" name="Google Shape;129;g3e955750272_3_81"/>
            <p:cNvSpPr/>
            <p:nvPr/>
          </p:nvSpPr>
          <p:spPr>
            <a:xfrm>
              <a:off x="877360" y="2438705"/>
              <a:ext cx="1156800" cy="209400"/>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30" name="Google Shape;130;g3e955750272_3_81"/>
            <p:cNvSpPr/>
            <p:nvPr/>
          </p:nvSpPr>
          <p:spPr>
            <a:xfrm>
              <a:off x="877360" y="2438705"/>
              <a:ext cx="1156800" cy="209400"/>
            </a:xfrm>
            <a:prstGeom prst="rect">
              <a:avLst/>
            </a:prstGeom>
            <a:solidFill>
              <a:srgbClr val="FFEDE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여러 사이트를 오감</a:t>
              </a:r>
              <a:endParaRPr b="1" i="0" sz="1400" u="none" cap="none" strike="noStrike">
                <a:solidFill>
                  <a:srgbClr val="5B21B6"/>
                </a:solidFill>
                <a:latin typeface="Arial"/>
                <a:ea typeface="Arial"/>
                <a:cs typeface="Arial"/>
                <a:sym typeface="Arial"/>
              </a:endParaRPr>
            </a:p>
          </p:txBody>
        </p:sp>
        <p:sp>
          <p:nvSpPr>
            <p:cNvPr id="131" name="Google Shape;131;g3e955750272_3_81"/>
            <p:cNvSpPr/>
            <p:nvPr/>
          </p:nvSpPr>
          <p:spPr>
            <a:xfrm>
              <a:off x="877360" y="2857500"/>
              <a:ext cx="4839000" cy="38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공고가 기관별로 흩어짐</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A22"/>
                </a:buClr>
                <a:buSzPts val="3000"/>
                <a:buFont typeface="Arial"/>
                <a:buNone/>
              </a:pPr>
              <a:r>
                <a:t/>
              </a:r>
              <a:endParaRPr b="1" i="0" sz="3000" u="none" cap="none" strike="noStrike">
                <a:solidFill>
                  <a:srgbClr val="1A1A22"/>
                </a:solidFill>
                <a:latin typeface="Arial"/>
                <a:ea typeface="Arial"/>
                <a:cs typeface="Arial"/>
                <a:sym typeface="Arial"/>
              </a:endParaRPr>
            </a:p>
          </p:txBody>
        </p:sp>
        <p:sp>
          <p:nvSpPr>
            <p:cNvPr id="132" name="Google Shape;132;g3e955750272_3_81"/>
            <p:cNvSpPr/>
            <p:nvPr/>
          </p:nvSpPr>
          <p:spPr>
            <a:xfrm>
              <a:off x="877360" y="3353105"/>
              <a:ext cx="4839000" cy="95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각 정부부처, 지자체 등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공식 사이트를 오가며 확인해야 합니다.</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2000"/>
                <a:buFont typeface="Arial"/>
                <a:buNone/>
              </a:pPr>
              <a:r>
                <a:t/>
              </a:r>
              <a:endParaRPr b="0" i="0" sz="2000" u="none" cap="none" strike="noStrike">
                <a:solidFill>
                  <a:srgbClr val="4A4F5A"/>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grpSp>
        <p:nvGrpSpPr>
          <p:cNvPr id="138" name="Google Shape;138;g3e955750272_3_121"/>
          <p:cNvGrpSpPr/>
          <p:nvPr/>
        </p:nvGrpSpPr>
        <p:grpSpPr>
          <a:xfrm>
            <a:off x="914858" y="8058150"/>
            <a:ext cx="16459200" cy="799650"/>
            <a:chOff x="609905" y="5372100"/>
            <a:chExt cx="10972800" cy="533100"/>
          </a:xfrm>
        </p:grpSpPr>
        <p:sp>
          <p:nvSpPr>
            <p:cNvPr id="139" name="Google Shape;139;g3e955750272_3_121"/>
            <p:cNvSpPr/>
            <p:nvPr/>
          </p:nvSpPr>
          <p:spPr>
            <a:xfrm>
              <a:off x="609905" y="5372100"/>
              <a:ext cx="10972800" cy="5331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40" name="Google Shape;140;g3e955750272_3_121"/>
            <p:cNvSpPr/>
            <p:nvPr/>
          </p:nvSpPr>
          <p:spPr>
            <a:xfrm>
              <a:off x="609905" y="5372100"/>
              <a:ext cx="38400" cy="53310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grpSp>
      <p:sp>
        <p:nvSpPr>
          <p:cNvPr id="141" name="Google Shape;141;g3e955750272_3_121"/>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42" name="Google Shape;142;g3e955750272_3_121"/>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CH.02  ·  서비스 목표</a:t>
            </a:r>
            <a:endParaRPr b="0" i="0" sz="1400" u="none" cap="none" strike="noStrike">
              <a:solidFill>
                <a:schemeClr val="dk1"/>
              </a:solidFill>
              <a:latin typeface="Calibri"/>
              <a:ea typeface="Calibri"/>
              <a:cs typeface="Calibri"/>
              <a:sym typeface="Calibri"/>
            </a:endParaRPr>
          </a:p>
        </p:txBody>
      </p:sp>
      <p:sp>
        <p:nvSpPr>
          <p:cNvPr id="143" name="Google Shape;143;g3e955750272_3_121"/>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흩어진 정책을 한곳에서, 사용자 상황에 맞게</a:t>
            </a:r>
            <a:endParaRPr b="0" i="0" sz="4200" u="none" cap="none" strike="noStrike">
              <a:solidFill>
                <a:schemeClr val="dk1"/>
              </a:solidFill>
              <a:latin typeface="Calibri"/>
              <a:ea typeface="Calibri"/>
              <a:cs typeface="Calibri"/>
              <a:sym typeface="Calibri"/>
            </a:endParaRPr>
          </a:p>
        </p:txBody>
      </p:sp>
      <p:sp>
        <p:nvSpPr>
          <p:cNvPr id="144" name="Google Shape;144;g3e955750272_3_121"/>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여러 사이트의 정책을 한곳에 모으고 검색·추천으로 사용자 상황에 맞게 보여줍니다.</a:t>
            </a:r>
            <a:endParaRPr b="0" i="0" sz="2000" u="none" cap="none" strike="noStrike">
              <a:solidFill>
                <a:schemeClr val="dk1"/>
              </a:solidFill>
              <a:latin typeface="Calibri"/>
              <a:ea typeface="Calibri"/>
              <a:cs typeface="Calibri"/>
              <a:sym typeface="Calibri"/>
            </a:endParaRPr>
          </a:p>
        </p:txBody>
      </p:sp>
      <p:sp>
        <p:nvSpPr>
          <p:cNvPr id="145" name="Google Shape;145;g3e955750272_3_121"/>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46" name="Google Shape;146;g3e955750272_3_121"/>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서비스 목표</a:t>
            </a:r>
            <a:endParaRPr b="0" i="0" sz="1400" u="none" cap="none" strike="noStrike">
              <a:solidFill>
                <a:schemeClr val="dk1"/>
              </a:solidFill>
              <a:latin typeface="Calibri"/>
              <a:ea typeface="Calibri"/>
              <a:cs typeface="Calibri"/>
              <a:sym typeface="Calibri"/>
            </a:endParaRPr>
          </a:p>
        </p:txBody>
      </p:sp>
      <p:sp>
        <p:nvSpPr>
          <p:cNvPr id="147" name="Google Shape;147;g3e955750272_3_121"/>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03 / 23</a:t>
            </a:r>
            <a:endParaRPr b="0" i="0" sz="1400" u="none" cap="none" strike="noStrike">
              <a:solidFill>
                <a:schemeClr val="dk1"/>
              </a:solidFill>
              <a:latin typeface="Calibri"/>
              <a:ea typeface="Calibri"/>
              <a:cs typeface="Calibri"/>
              <a:sym typeface="Calibri"/>
            </a:endParaRPr>
          </a:p>
        </p:txBody>
      </p:sp>
      <p:grpSp>
        <p:nvGrpSpPr>
          <p:cNvPr id="148" name="Google Shape;148;g3e955750272_3_121"/>
          <p:cNvGrpSpPr/>
          <p:nvPr/>
        </p:nvGrpSpPr>
        <p:grpSpPr>
          <a:xfrm>
            <a:off x="1143908" y="8129478"/>
            <a:ext cx="9144450" cy="656997"/>
            <a:chOff x="609905" y="4801514"/>
            <a:chExt cx="6096300" cy="437998"/>
          </a:xfrm>
        </p:grpSpPr>
        <p:sp>
          <p:nvSpPr>
            <p:cNvPr id="149" name="Google Shape;149;g3e955750272_3_121"/>
            <p:cNvSpPr/>
            <p:nvPr/>
          </p:nvSpPr>
          <p:spPr>
            <a:xfrm>
              <a:off x="609905" y="4801514"/>
              <a:ext cx="60963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사용 흐름</a:t>
              </a:r>
              <a:endParaRPr b="0" i="0" sz="1400" u="none" cap="none" strike="noStrike">
                <a:solidFill>
                  <a:schemeClr val="dk1"/>
                </a:solidFill>
                <a:latin typeface="Calibri"/>
                <a:ea typeface="Calibri"/>
                <a:cs typeface="Calibri"/>
                <a:sym typeface="Calibri"/>
              </a:endParaRPr>
            </a:p>
          </p:txBody>
        </p:sp>
        <p:sp>
          <p:nvSpPr>
            <p:cNvPr id="150" name="Google Shape;150;g3e955750272_3_121"/>
            <p:cNvSpPr/>
            <p:nvPr/>
          </p:nvSpPr>
          <p:spPr>
            <a:xfrm>
              <a:off x="609905" y="5010912"/>
              <a:ext cx="666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검색</a:t>
              </a:r>
              <a:endParaRPr b="0" i="0" sz="1800" u="none" cap="none" strike="noStrike">
                <a:solidFill>
                  <a:schemeClr val="dk1"/>
                </a:solidFill>
                <a:latin typeface="Calibri"/>
                <a:ea typeface="Calibri"/>
                <a:cs typeface="Calibri"/>
                <a:sym typeface="Calibri"/>
              </a:endParaRPr>
            </a:p>
          </p:txBody>
        </p:sp>
        <p:sp>
          <p:nvSpPr>
            <p:cNvPr id="151" name="Google Shape;151;g3e955750272_3_121"/>
            <p:cNvSpPr/>
            <p:nvPr/>
          </p:nvSpPr>
          <p:spPr>
            <a:xfrm>
              <a:off x="1075719" y="5010912"/>
              <a:ext cx="2670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100"/>
                <a:buFont typeface="Arial"/>
                <a:buNone/>
              </a:pPr>
              <a:r>
                <a:rPr b="1" i="0" lang="en-US" sz="2100" u="none" cap="none" strike="noStrike">
                  <a:solidFill>
                    <a:srgbClr val="8A8F99"/>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152" name="Google Shape;152;g3e955750272_3_121"/>
            <p:cNvSpPr/>
            <p:nvPr/>
          </p:nvSpPr>
          <p:spPr>
            <a:xfrm>
              <a:off x="1543507" y="5010912"/>
              <a:ext cx="133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조건으로 좁히기</a:t>
              </a:r>
              <a:endParaRPr b="0" i="0" sz="1800" u="none" cap="none" strike="noStrike">
                <a:solidFill>
                  <a:schemeClr val="dk1"/>
                </a:solidFill>
                <a:latin typeface="Calibri"/>
                <a:ea typeface="Calibri"/>
                <a:cs typeface="Calibri"/>
                <a:sym typeface="Calibri"/>
              </a:endParaRPr>
            </a:p>
          </p:txBody>
        </p:sp>
        <p:sp>
          <p:nvSpPr>
            <p:cNvPr id="153" name="Google Shape;153;g3e955750272_3_121"/>
            <p:cNvSpPr/>
            <p:nvPr/>
          </p:nvSpPr>
          <p:spPr>
            <a:xfrm>
              <a:off x="2709383" y="5010912"/>
              <a:ext cx="2670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100"/>
                <a:buFont typeface="Arial"/>
                <a:buNone/>
              </a:pPr>
              <a:r>
                <a:rPr b="1" i="0" lang="en-US" sz="2100" u="none" cap="none" strike="noStrike">
                  <a:solidFill>
                    <a:srgbClr val="8A8F99"/>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154" name="Google Shape;154;g3e955750272_3_121"/>
            <p:cNvSpPr/>
            <p:nvPr/>
          </p:nvSpPr>
          <p:spPr>
            <a:xfrm>
              <a:off x="3143707" y="5010912"/>
              <a:ext cx="666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저장</a:t>
              </a:r>
              <a:endParaRPr b="0" i="0" sz="1800" u="none" cap="none" strike="noStrike">
                <a:solidFill>
                  <a:schemeClr val="dk1"/>
                </a:solidFill>
                <a:latin typeface="Calibri"/>
                <a:ea typeface="Calibri"/>
                <a:cs typeface="Calibri"/>
                <a:sym typeface="Calibri"/>
              </a:endParaRPr>
            </a:p>
          </p:txBody>
        </p:sp>
        <p:sp>
          <p:nvSpPr>
            <p:cNvPr id="155" name="Google Shape;155;g3e955750272_3_121"/>
            <p:cNvSpPr/>
            <p:nvPr/>
          </p:nvSpPr>
          <p:spPr>
            <a:xfrm>
              <a:off x="3598367" y="5010912"/>
              <a:ext cx="2670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100"/>
                <a:buFont typeface="Arial"/>
                <a:buNone/>
              </a:pPr>
              <a:r>
                <a:rPr b="1" i="0" lang="en-US" sz="2100" u="none" cap="none" strike="noStrike">
                  <a:solidFill>
                    <a:srgbClr val="8A8F99"/>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156" name="Google Shape;156;g3e955750272_3_121"/>
            <p:cNvSpPr/>
            <p:nvPr/>
          </p:nvSpPr>
          <p:spPr>
            <a:xfrm>
              <a:off x="4077310" y="5010912"/>
              <a:ext cx="666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추천</a:t>
              </a:r>
              <a:endParaRPr b="0" i="0" sz="1800" u="none" cap="none" strike="noStrike">
                <a:solidFill>
                  <a:schemeClr val="dk1"/>
                </a:solidFill>
                <a:latin typeface="Calibri"/>
                <a:ea typeface="Calibri"/>
                <a:cs typeface="Calibri"/>
                <a:sym typeface="Calibri"/>
              </a:endParaRPr>
            </a:p>
          </p:txBody>
        </p:sp>
      </p:grpSp>
      <p:grpSp>
        <p:nvGrpSpPr>
          <p:cNvPr id="157" name="Google Shape;157;g3e955750272_3_121"/>
          <p:cNvGrpSpPr/>
          <p:nvPr/>
        </p:nvGrpSpPr>
        <p:grpSpPr>
          <a:xfrm>
            <a:off x="5601608" y="3222177"/>
            <a:ext cx="4457700" cy="4641921"/>
            <a:chOff x="3734406" y="2138465"/>
            <a:chExt cx="2971800" cy="2530554"/>
          </a:xfrm>
        </p:grpSpPr>
        <p:sp>
          <p:nvSpPr>
            <p:cNvPr id="158" name="Google Shape;158;g3e955750272_3_121"/>
            <p:cNvSpPr/>
            <p:nvPr/>
          </p:nvSpPr>
          <p:spPr>
            <a:xfrm>
              <a:off x="3734406" y="2138465"/>
              <a:ext cx="2971800" cy="2530554"/>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59" name="Google Shape;159;g3e955750272_3_121"/>
            <p:cNvSpPr/>
            <p:nvPr/>
          </p:nvSpPr>
          <p:spPr>
            <a:xfrm>
              <a:off x="3924601" y="2442843"/>
              <a:ext cx="1047902" cy="370760"/>
            </a:xfrm>
            <a:prstGeom prst="roundRect">
              <a:avLst>
                <a:gd fmla="val 17467" name="adj"/>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60" name="Google Shape;160;g3e955750272_3_121"/>
            <p:cNvSpPr/>
            <p:nvPr/>
          </p:nvSpPr>
          <p:spPr>
            <a:xfrm>
              <a:off x="3924601" y="2442843"/>
              <a:ext cx="1047902" cy="370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사용자 상황 기반</a:t>
              </a:r>
              <a:endParaRPr b="0" i="0" sz="1400" u="none" cap="none" strike="noStrike">
                <a:solidFill>
                  <a:schemeClr val="dk1"/>
                </a:solidFill>
                <a:latin typeface="Calibri"/>
                <a:ea typeface="Calibri"/>
                <a:cs typeface="Calibri"/>
                <a:sym typeface="Calibri"/>
              </a:endParaRPr>
            </a:p>
          </p:txBody>
        </p:sp>
        <p:sp>
          <p:nvSpPr>
            <p:cNvPr id="161" name="Google Shape;161;g3e955750272_3_121"/>
            <p:cNvSpPr/>
            <p:nvPr/>
          </p:nvSpPr>
          <p:spPr>
            <a:xfrm>
              <a:off x="3924601" y="2981984"/>
              <a:ext cx="2590495" cy="47275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300"/>
                <a:buFont typeface="Arial"/>
                <a:buNone/>
              </a:pPr>
              <a:r>
                <a:rPr b="1" i="0" lang="en-US" sz="2100" u="none" cap="none" strike="noStrike">
                  <a:solidFill>
                    <a:srgbClr val="1A1A22"/>
                  </a:solidFill>
                  <a:latin typeface="Arial"/>
                  <a:ea typeface="Arial"/>
                  <a:cs typeface="Arial"/>
                  <a:sym typeface="Arial"/>
                </a:rPr>
                <a:t>검색 · 추천으로 자연스럽게</a:t>
              </a:r>
              <a:endParaRPr b="0" i="0" sz="2100" u="none" cap="none" strike="noStrike">
                <a:solidFill>
                  <a:schemeClr val="dk1"/>
                </a:solidFill>
                <a:latin typeface="Calibri"/>
                <a:ea typeface="Calibri"/>
                <a:cs typeface="Calibri"/>
                <a:sym typeface="Calibri"/>
              </a:endParaRPr>
            </a:p>
          </p:txBody>
        </p:sp>
        <p:sp>
          <p:nvSpPr>
            <p:cNvPr id="162" name="Google Shape;162;g3e955750272_3_121"/>
            <p:cNvSpPr/>
            <p:nvPr/>
          </p:nvSpPr>
          <p:spPr>
            <a:xfrm>
              <a:off x="3924601" y="3487126"/>
              <a:ext cx="2590500" cy="47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키워드 / 문장 / 조건 / 챗봇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프로필 기반 추천까지 연결</a:t>
              </a:r>
              <a:endParaRPr b="0" i="0" sz="1700" u="none" cap="none" strike="noStrike">
                <a:solidFill>
                  <a:schemeClr val="dk1"/>
                </a:solidFill>
                <a:latin typeface="Calibri"/>
                <a:ea typeface="Calibri"/>
                <a:cs typeface="Calibri"/>
                <a:sym typeface="Calibri"/>
              </a:endParaRPr>
            </a:p>
          </p:txBody>
        </p:sp>
      </p:grpSp>
      <p:grpSp>
        <p:nvGrpSpPr>
          <p:cNvPr id="163" name="Google Shape;163;g3e955750272_3_121"/>
          <p:cNvGrpSpPr/>
          <p:nvPr/>
        </p:nvGrpSpPr>
        <p:grpSpPr>
          <a:xfrm>
            <a:off x="914850" y="3222177"/>
            <a:ext cx="4457700" cy="4641921"/>
            <a:chOff x="609901" y="2138465"/>
            <a:chExt cx="2971800" cy="2530554"/>
          </a:xfrm>
        </p:grpSpPr>
        <p:sp>
          <p:nvSpPr>
            <p:cNvPr id="164" name="Google Shape;164;g3e955750272_3_121"/>
            <p:cNvSpPr/>
            <p:nvPr/>
          </p:nvSpPr>
          <p:spPr>
            <a:xfrm>
              <a:off x="609901" y="2138465"/>
              <a:ext cx="2971800" cy="2530554"/>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65" name="Google Shape;165;g3e955750272_3_121"/>
            <p:cNvSpPr/>
            <p:nvPr/>
          </p:nvSpPr>
          <p:spPr>
            <a:xfrm>
              <a:off x="800096" y="2442843"/>
              <a:ext cx="1047902" cy="370760"/>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66" name="Google Shape;166;g3e955750272_3_121"/>
            <p:cNvSpPr/>
            <p:nvPr/>
          </p:nvSpPr>
          <p:spPr>
            <a:xfrm>
              <a:off x="800096" y="2442843"/>
              <a:ext cx="1047902" cy="370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한곳에서 통합</a:t>
              </a:r>
              <a:endParaRPr b="0" i="0" sz="1400" u="none" cap="none" strike="noStrike">
                <a:solidFill>
                  <a:schemeClr val="dk1"/>
                </a:solidFill>
                <a:latin typeface="Calibri"/>
                <a:ea typeface="Calibri"/>
                <a:cs typeface="Calibri"/>
                <a:sym typeface="Calibri"/>
              </a:endParaRPr>
            </a:p>
          </p:txBody>
        </p:sp>
        <p:sp>
          <p:nvSpPr>
            <p:cNvPr id="167" name="Google Shape;167;g3e955750272_3_121"/>
            <p:cNvSpPr/>
            <p:nvPr/>
          </p:nvSpPr>
          <p:spPr>
            <a:xfrm>
              <a:off x="800096" y="2981984"/>
              <a:ext cx="2590495" cy="47275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300"/>
                <a:buFont typeface="Arial"/>
                <a:buNone/>
              </a:pPr>
              <a:r>
                <a:rPr b="1" i="0" lang="en-US" sz="2100" u="none" cap="none" strike="noStrike">
                  <a:solidFill>
                    <a:srgbClr val="1A1A22"/>
                  </a:solidFill>
                  <a:latin typeface="Arial"/>
                  <a:ea typeface="Arial"/>
                  <a:cs typeface="Arial"/>
                  <a:sym typeface="Arial"/>
                </a:rPr>
                <a:t>온통청년 · 기업마당 · K-Startup</a:t>
              </a:r>
              <a:endParaRPr b="0" i="0" sz="2100" u="none" cap="none" strike="noStrike">
                <a:solidFill>
                  <a:schemeClr val="dk1"/>
                </a:solidFill>
                <a:latin typeface="Calibri"/>
                <a:ea typeface="Calibri"/>
                <a:cs typeface="Calibri"/>
                <a:sym typeface="Calibri"/>
              </a:endParaRPr>
            </a:p>
          </p:txBody>
        </p:sp>
        <p:sp>
          <p:nvSpPr>
            <p:cNvPr id="168" name="Google Shape;168;g3e955750272_3_121"/>
            <p:cNvSpPr/>
            <p:nvPr/>
          </p:nvSpPr>
          <p:spPr>
            <a:xfrm>
              <a:off x="800101" y="3487133"/>
              <a:ext cx="2590500" cy="78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chemeClr val="dk1"/>
                  </a:solidFill>
                  <a:latin typeface="Calibri"/>
                  <a:ea typeface="Calibri"/>
                  <a:cs typeface="Calibri"/>
                  <a:sym typeface="Calibri"/>
                </a:rPr>
                <a:t>청년 개인,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chemeClr val="dk1"/>
                  </a:solidFill>
                  <a:latin typeface="Calibri"/>
                  <a:ea typeface="Calibri"/>
                  <a:cs typeface="Calibri"/>
                  <a:sym typeface="Calibri"/>
                </a:rPr>
                <a:t>기업과 소상공인,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chemeClr val="dk1"/>
                  </a:solidFill>
                  <a:latin typeface="Calibri"/>
                  <a:ea typeface="Calibri"/>
                  <a:cs typeface="Calibri"/>
                  <a:sym typeface="Calibri"/>
                </a:rPr>
                <a:t>창업 지원을 대표할 수 있는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chemeClr val="dk1"/>
                  </a:solidFill>
                  <a:latin typeface="Calibri"/>
                  <a:ea typeface="Calibri"/>
                  <a:cs typeface="Calibri"/>
                  <a:sym typeface="Calibri"/>
                </a:rPr>
                <a:t>공식 API 3개 우선 선정</a:t>
              </a:r>
              <a:endParaRPr b="0" i="0" sz="1700" u="none" cap="none" strike="noStrike">
                <a:solidFill>
                  <a:srgbClr val="4A4F5A"/>
                </a:solidFill>
                <a:latin typeface="Arial"/>
                <a:ea typeface="Arial"/>
                <a:cs typeface="Arial"/>
                <a:sym typeface="Arial"/>
              </a:endParaRPr>
            </a:p>
          </p:txBody>
        </p:sp>
      </p:grpSp>
      <p:grpSp>
        <p:nvGrpSpPr>
          <p:cNvPr id="169" name="Google Shape;169;g3e955750272_3_121"/>
          <p:cNvGrpSpPr/>
          <p:nvPr/>
        </p:nvGrpSpPr>
        <p:grpSpPr>
          <a:xfrm>
            <a:off x="10516049" y="3143097"/>
            <a:ext cx="6858000" cy="4721067"/>
            <a:chOff x="7010700" y="2362800"/>
            <a:chExt cx="4572000" cy="2573700"/>
          </a:xfrm>
        </p:grpSpPr>
        <p:sp>
          <p:nvSpPr>
            <p:cNvPr id="170" name="Google Shape;170;g3e955750272_3_121"/>
            <p:cNvSpPr/>
            <p:nvPr/>
          </p:nvSpPr>
          <p:spPr>
            <a:xfrm>
              <a:off x="7010700" y="2362800"/>
              <a:ext cx="4572000" cy="25737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71" name="Google Shape;171;g3e955750272_3_121"/>
            <p:cNvSpPr/>
            <p:nvPr/>
          </p:nvSpPr>
          <p:spPr>
            <a:xfrm>
              <a:off x="7277710" y="2629814"/>
              <a:ext cx="4038905"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USER QUERY</a:t>
              </a:r>
              <a:endParaRPr b="0" i="0" sz="1400" u="none" cap="none" strike="noStrike">
                <a:solidFill>
                  <a:schemeClr val="dk1"/>
                </a:solidFill>
                <a:latin typeface="Calibri"/>
                <a:ea typeface="Calibri"/>
                <a:cs typeface="Calibri"/>
                <a:sym typeface="Calibri"/>
              </a:endParaRPr>
            </a:p>
          </p:txBody>
        </p:sp>
        <p:sp>
          <p:nvSpPr>
            <p:cNvPr id="172" name="Google Shape;172;g3e955750272_3_121"/>
            <p:cNvSpPr/>
            <p:nvPr/>
          </p:nvSpPr>
          <p:spPr>
            <a:xfrm>
              <a:off x="7277710" y="2915107"/>
              <a:ext cx="4038905" cy="4572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73" name="Google Shape;173;g3e955750272_3_121"/>
            <p:cNvSpPr/>
            <p:nvPr/>
          </p:nvSpPr>
          <p:spPr>
            <a:xfrm>
              <a:off x="7429500" y="2915107"/>
              <a:ext cx="3733495"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300"/>
                <a:buFont typeface="Arial"/>
                <a:buNone/>
              </a:pPr>
              <a:r>
                <a:rPr b="1" i="0" lang="en-US" sz="2300" u="none" cap="none" strike="noStrike">
                  <a:solidFill>
                    <a:srgbClr val="1A1A22"/>
                  </a:solidFill>
                  <a:latin typeface="Arial"/>
                  <a:ea typeface="Arial"/>
                  <a:cs typeface="Arial"/>
                  <a:sym typeface="Arial"/>
                </a:rPr>
                <a:t>경기도 청년 일자리</a:t>
              </a:r>
              <a:endParaRPr b="0" i="0" sz="2300" u="none" cap="none" strike="noStrike">
                <a:solidFill>
                  <a:schemeClr val="dk1"/>
                </a:solidFill>
                <a:latin typeface="Calibri"/>
                <a:ea typeface="Calibri"/>
                <a:cs typeface="Calibri"/>
                <a:sym typeface="Calibri"/>
              </a:endParaRPr>
            </a:p>
          </p:txBody>
        </p:sp>
        <p:sp>
          <p:nvSpPr>
            <p:cNvPr id="174" name="Google Shape;174;g3e955750272_3_121"/>
            <p:cNvSpPr/>
            <p:nvPr/>
          </p:nvSpPr>
          <p:spPr>
            <a:xfrm>
              <a:off x="7277710" y="3620110"/>
              <a:ext cx="4038905" cy="9144"/>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75" name="Google Shape;175;g3e955750272_3_121"/>
            <p:cNvSpPr/>
            <p:nvPr/>
          </p:nvSpPr>
          <p:spPr>
            <a:xfrm>
              <a:off x="7277710" y="3792017"/>
              <a:ext cx="4038905" cy="1901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검색어, 필터가 곧 사용자의 현재 상황</a:t>
              </a:r>
              <a:endParaRPr b="0" i="0" sz="1700" u="none" cap="none" strike="noStrike">
                <a:solidFill>
                  <a:schemeClr val="dk1"/>
                </a:solidFill>
                <a:latin typeface="Calibri"/>
                <a:ea typeface="Calibri"/>
                <a:cs typeface="Calibri"/>
                <a:sym typeface="Calibri"/>
              </a:endParaRPr>
            </a:p>
          </p:txBody>
        </p:sp>
        <p:sp>
          <p:nvSpPr>
            <p:cNvPr id="176" name="Google Shape;176;g3e955750272_3_121"/>
            <p:cNvSpPr/>
            <p:nvPr/>
          </p:nvSpPr>
          <p:spPr>
            <a:xfrm>
              <a:off x="7277710" y="4077310"/>
              <a:ext cx="761695" cy="209398"/>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77" name="Google Shape;177;g3e955750272_3_121"/>
            <p:cNvSpPr/>
            <p:nvPr/>
          </p:nvSpPr>
          <p:spPr>
            <a:xfrm>
              <a:off x="7277710" y="4077310"/>
              <a:ext cx="761695" cy="2093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지역: 경기</a:t>
              </a:r>
              <a:endParaRPr b="0" i="0" sz="1400" u="none" cap="none" strike="noStrike">
                <a:solidFill>
                  <a:schemeClr val="dk1"/>
                </a:solidFill>
                <a:latin typeface="Calibri"/>
                <a:ea typeface="Calibri"/>
                <a:cs typeface="Calibri"/>
                <a:sym typeface="Calibri"/>
              </a:endParaRPr>
            </a:p>
          </p:txBody>
        </p:sp>
        <p:sp>
          <p:nvSpPr>
            <p:cNvPr id="178" name="Google Shape;178;g3e955750272_3_121"/>
            <p:cNvSpPr/>
            <p:nvPr/>
          </p:nvSpPr>
          <p:spPr>
            <a:xfrm>
              <a:off x="8325612" y="4077310"/>
              <a:ext cx="761695" cy="209398"/>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79" name="Google Shape;179;g3e955750272_3_121"/>
            <p:cNvSpPr/>
            <p:nvPr/>
          </p:nvSpPr>
          <p:spPr>
            <a:xfrm>
              <a:off x="8325612" y="4077310"/>
              <a:ext cx="761695" cy="2093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대상: 청년</a:t>
              </a:r>
              <a:endParaRPr b="0" i="0" sz="1400" u="none" cap="none" strike="noStrike">
                <a:solidFill>
                  <a:schemeClr val="dk1"/>
                </a:solidFill>
                <a:latin typeface="Calibri"/>
                <a:ea typeface="Calibri"/>
                <a:cs typeface="Calibri"/>
                <a:sym typeface="Calibri"/>
              </a:endParaRPr>
            </a:p>
          </p:txBody>
        </p:sp>
        <p:sp>
          <p:nvSpPr>
            <p:cNvPr id="180" name="Google Shape;180;g3e955750272_3_121"/>
            <p:cNvSpPr/>
            <p:nvPr/>
          </p:nvSpPr>
          <p:spPr>
            <a:xfrm>
              <a:off x="9373514" y="4077310"/>
              <a:ext cx="761695" cy="209398"/>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81" name="Google Shape;181;g3e955750272_3_121"/>
            <p:cNvSpPr/>
            <p:nvPr/>
          </p:nvSpPr>
          <p:spPr>
            <a:xfrm>
              <a:off x="9373514" y="4077310"/>
              <a:ext cx="761695" cy="2093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분야: 일자리</a:t>
              </a:r>
              <a:endParaRPr b="0" i="0" sz="1400" u="none" cap="none" strike="noStrike">
                <a:solidFill>
                  <a:schemeClr val="dk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g3e955750272_3_169"/>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88" name="Google Shape;188;g3e955750272_3_169"/>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CH.02  ·  핵심 사용 흐름</a:t>
            </a:r>
            <a:endParaRPr b="0" i="0" sz="1400" u="none" cap="none" strike="noStrike">
              <a:solidFill>
                <a:schemeClr val="dk1"/>
              </a:solidFill>
              <a:latin typeface="Calibri"/>
              <a:ea typeface="Calibri"/>
              <a:cs typeface="Calibri"/>
              <a:sym typeface="Calibri"/>
            </a:endParaRPr>
          </a:p>
        </p:txBody>
      </p:sp>
      <p:sp>
        <p:nvSpPr>
          <p:cNvPr id="189" name="Google Shape;189;g3e955750272_3_169"/>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다섯 가지 기능으로 탐색을 이어간다</a:t>
            </a:r>
            <a:endParaRPr b="0" i="0" sz="4200" u="none" cap="none" strike="noStrike">
              <a:solidFill>
                <a:schemeClr val="dk1"/>
              </a:solidFill>
              <a:latin typeface="Calibri"/>
              <a:ea typeface="Calibri"/>
              <a:cs typeface="Calibri"/>
              <a:sym typeface="Calibri"/>
            </a:endParaRPr>
          </a:p>
        </p:txBody>
      </p:sp>
      <p:sp>
        <p:nvSpPr>
          <p:cNvPr id="190" name="Google Shape;190;g3e955750272_3_169"/>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3개 공식 API 데이터 위에 다섯 가지 기능 흐름을 올렸습니다.</a:t>
            </a:r>
            <a:endParaRPr b="0" i="0" sz="2000" u="none" cap="none" strike="noStrike">
              <a:solidFill>
                <a:schemeClr val="dk1"/>
              </a:solidFill>
              <a:latin typeface="Calibri"/>
              <a:ea typeface="Calibri"/>
              <a:cs typeface="Calibri"/>
              <a:sym typeface="Calibri"/>
            </a:endParaRPr>
          </a:p>
        </p:txBody>
      </p:sp>
      <p:sp>
        <p:nvSpPr>
          <p:cNvPr id="191" name="Google Shape;191;g3e955750272_3_169"/>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92" name="Google Shape;192;g3e955750272_3_169"/>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핵심 사용 흐름</a:t>
            </a:r>
            <a:endParaRPr b="0" i="0" sz="1400" u="none" cap="none" strike="noStrike">
              <a:solidFill>
                <a:schemeClr val="dk1"/>
              </a:solidFill>
              <a:latin typeface="Calibri"/>
              <a:ea typeface="Calibri"/>
              <a:cs typeface="Calibri"/>
              <a:sym typeface="Calibri"/>
            </a:endParaRPr>
          </a:p>
        </p:txBody>
      </p:sp>
      <p:sp>
        <p:nvSpPr>
          <p:cNvPr id="193" name="Google Shape;193;g3e955750272_3_169"/>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04 / 23</a:t>
            </a:r>
            <a:endParaRPr b="0" i="0" sz="1400" u="none" cap="none" strike="noStrike">
              <a:solidFill>
                <a:schemeClr val="dk1"/>
              </a:solidFill>
              <a:latin typeface="Calibri"/>
              <a:ea typeface="Calibri"/>
              <a:cs typeface="Calibri"/>
              <a:sym typeface="Calibri"/>
            </a:endParaRPr>
          </a:p>
        </p:txBody>
      </p:sp>
      <p:grpSp>
        <p:nvGrpSpPr>
          <p:cNvPr id="194" name="Google Shape;194;g3e955750272_3_169"/>
          <p:cNvGrpSpPr/>
          <p:nvPr/>
        </p:nvGrpSpPr>
        <p:grpSpPr>
          <a:xfrm>
            <a:off x="914858" y="3428261"/>
            <a:ext cx="16459200" cy="3429000"/>
            <a:chOff x="609905" y="2876702"/>
            <a:chExt cx="10972800" cy="2286000"/>
          </a:xfrm>
        </p:grpSpPr>
        <p:grpSp>
          <p:nvGrpSpPr>
            <p:cNvPr id="195" name="Google Shape;195;g3e955750272_3_169"/>
            <p:cNvGrpSpPr/>
            <p:nvPr/>
          </p:nvGrpSpPr>
          <p:grpSpPr>
            <a:xfrm>
              <a:off x="609905" y="2876702"/>
              <a:ext cx="1867205" cy="2286000"/>
              <a:chOff x="609905" y="2876702"/>
              <a:chExt cx="1867205" cy="2286000"/>
            </a:xfrm>
          </p:grpSpPr>
          <p:sp>
            <p:nvSpPr>
              <p:cNvPr id="196" name="Google Shape;196;g3e955750272_3_169"/>
              <p:cNvSpPr/>
              <p:nvPr/>
            </p:nvSpPr>
            <p:spPr>
              <a:xfrm>
                <a:off x="609905" y="2876702"/>
                <a:ext cx="1867205" cy="2286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97" name="Google Shape;197;g3e955750272_3_169"/>
              <p:cNvSpPr/>
              <p:nvPr/>
            </p:nvSpPr>
            <p:spPr>
              <a:xfrm>
                <a:off x="609905" y="2876702"/>
                <a:ext cx="1867205" cy="38405"/>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98" name="Google Shape;198;g3e955750272_3_169"/>
              <p:cNvSpPr/>
              <p:nvPr/>
            </p:nvSpPr>
            <p:spPr>
              <a:xfrm>
                <a:off x="838505" y="3143707"/>
                <a:ext cx="381305" cy="381305"/>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99" name="Google Shape;199;g3e955750272_3_169"/>
              <p:cNvSpPr/>
              <p:nvPr/>
            </p:nvSpPr>
            <p:spPr>
              <a:xfrm>
                <a:off x="838505" y="3143707"/>
                <a:ext cx="381305" cy="3813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1</a:t>
                </a:r>
                <a:endParaRPr b="0" i="0" sz="2700" u="none" cap="none" strike="noStrike">
                  <a:solidFill>
                    <a:schemeClr val="dk1"/>
                  </a:solidFill>
                  <a:latin typeface="Calibri"/>
                  <a:ea typeface="Calibri"/>
                  <a:cs typeface="Calibri"/>
                  <a:sym typeface="Calibri"/>
                </a:endParaRPr>
              </a:p>
            </p:txBody>
          </p:sp>
          <p:sp>
            <p:nvSpPr>
              <p:cNvPr id="200" name="Google Shape;200;g3e955750272_3_169"/>
              <p:cNvSpPr/>
              <p:nvPr/>
            </p:nvSpPr>
            <p:spPr>
              <a:xfrm>
                <a:off x="838505" y="3752698"/>
                <a:ext cx="141000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통합검색</a:t>
                </a:r>
                <a:endParaRPr b="0" i="0" sz="3000" u="none" cap="none" strike="noStrike">
                  <a:solidFill>
                    <a:schemeClr val="dk1"/>
                  </a:solidFill>
                  <a:latin typeface="Calibri"/>
                  <a:ea typeface="Calibri"/>
                  <a:cs typeface="Calibri"/>
                  <a:sym typeface="Calibri"/>
                </a:endParaRPr>
              </a:p>
            </p:txBody>
          </p:sp>
          <p:sp>
            <p:nvSpPr>
              <p:cNvPr id="201" name="Google Shape;201;g3e955750272_3_169"/>
              <p:cNvSpPr/>
              <p:nvPr/>
            </p:nvSpPr>
            <p:spPr>
              <a:xfrm>
                <a:off x="838505" y="4209898"/>
                <a:ext cx="1410005"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키워드 / 문장으로 찾기</a:t>
                </a:r>
                <a:endParaRPr b="0" i="0" sz="1800" u="none" cap="none" strike="noStrike">
                  <a:solidFill>
                    <a:schemeClr val="dk1"/>
                  </a:solidFill>
                  <a:latin typeface="Calibri"/>
                  <a:ea typeface="Calibri"/>
                  <a:cs typeface="Calibri"/>
                  <a:sym typeface="Calibri"/>
                </a:endParaRPr>
              </a:p>
            </p:txBody>
          </p:sp>
        </p:grpSp>
        <p:grpSp>
          <p:nvGrpSpPr>
            <p:cNvPr id="202" name="Google Shape;202;g3e955750272_3_169"/>
            <p:cNvGrpSpPr/>
            <p:nvPr/>
          </p:nvGrpSpPr>
          <p:grpSpPr>
            <a:xfrm>
              <a:off x="2886304" y="2876702"/>
              <a:ext cx="1867205" cy="2286000"/>
              <a:chOff x="2886304" y="2876702"/>
              <a:chExt cx="1867205" cy="2286000"/>
            </a:xfrm>
          </p:grpSpPr>
          <p:sp>
            <p:nvSpPr>
              <p:cNvPr id="203" name="Google Shape;203;g3e955750272_3_169"/>
              <p:cNvSpPr/>
              <p:nvPr/>
            </p:nvSpPr>
            <p:spPr>
              <a:xfrm>
                <a:off x="2886304" y="2876702"/>
                <a:ext cx="1867205" cy="2286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04" name="Google Shape;204;g3e955750272_3_169"/>
              <p:cNvSpPr/>
              <p:nvPr/>
            </p:nvSpPr>
            <p:spPr>
              <a:xfrm>
                <a:off x="2886304" y="2876702"/>
                <a:ext cx="1867205" cy="38405"/>
              </a:xfrm>
              <a:prstGeom prst="rect">
                <a:avLst/>
              </a:prstGeom>
              <a:solidFill>
                <a:srgbClr val="BE185D"/>
              </a:solidFill>
              <a:ln cap="flat" cmpd="sng" w="12700">
                <a:solidFill>
                  <a:srgbClr val="BE185D"/>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05" name="Google Shape;205;g3e955750272_3_169"/>
              <p:cNvSpPr/>
              <p:nvPr/>
            </p:nvSpPr>
            <p:spPr>
              <a:xfrm>
                <a:off x="3114904" y="3143707"/>
                <a:ext cx="381305" cy="381305"/>
              </a:xfrm>
              <a:prstGeom prst="ellipse">
                <a:avLst/>
              </a:prstGeom>
              <a:solidFill>
                <a:srgbClr val="FFE3EC"/>
              </a:solidFill>
              <a:ln cap="flat" cmpd="sng" w="12700">
                <a:solidFill>
                  <a:srgbClr val="FFE3E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06" name="Google Shape;206;g3e955750272_3_169"/>
              <p:cNvSpPr/>
              <p:nvPr/>
            </p:nvSpPr>
            <p:spPr>
              <a:xfrm>
                <a:off x="3114904" y="3143707"/>
                <a:ext cx="381305" cy="3813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E185D"/>
                  </a:buClr>
                  <a:buSzPts val="2700"/>
                  <a:buFont typeface="Arial"/>
                  <a:buNone/>
                </a:pPr>
                <a:r>
                  <a:rPr b="1" i="0" lang="en-US" sz="2700" u="none" cap="none" strike="noStrike">
                    <a:solidFill>
                      <a:srgbClr val="BE185D"/>
                    </a:solidFill>
                    <a:latin typeface="Arial"/>
                    <a:ea typeface="Arial"/>
                    <a:cs typeface="Arial"/>
                    <a:sym typeface="Arial"/>
                  </a:rPr>
                  <a:t>2</a:t>
                </a:r>
                <a:endParaRPr b="0" i="0" sz="2700" u="none" cap="none" strike="noStrike">
                  <a:solidFill>
                    <a:schemeClr val="dk1"/>
                  </a:solidFill>
                  <a:latin typeface="Calibri"/>
                  <a:ea typeface="Calibri"/>
                  <a:cs typeface="Calibri"/>
                  <a:sym typeface="Calibri"/>
                </a:endParaRPr>
              </a:p>
            </p:txBody>
          </p:sp>
          <p:sp>
            <p:nvSpPr>
              <p:cNvPr id="207" name="Google Shape;207;g3e955750272_3_169"/>
              <p:cNvSpPr/>
              <p:nvPr/>
            </p:nvSpPr>
            <p:spPr>
              <a:xfrm>
                <a:off x="3114904" y="3752698"/>
                <a:ext cx="141000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조건검색</a:t>
                </a:r>
                <a:endParaRPr b="0" i="0" sz="3000" u="none" cap="none" strike="noStrike">
                  <a:solidFill>
                    <a:schemeClr val="dk1"/>
                  </a:solidFill>
                  <a:latin typeface="Calibri"/>
                  <a:ea typeface="Calibri"/>
                  <a:cs typeface="Calibri"/>
                  <a:sym typeface="Calibri"/>
                </a:endParaRPr>
              </a:p>
            </p:txBody>
          </p:sp>
          <p:sp>
            <p:nvSpPr>
              <p:cNvPr id="208" name="Google Shape;208;g3e955750272_3_169"/>
              <p:cNvSpPr/>
              <p:nvPr/>
            </p:nvSpPr>
            <p:spPr>
              <a:xfrm>
                <a:off x="3114904" y="4209898"/>
                <a:ext cx="1410005"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지역 · 분야 · 나이로 좁힘</a:t>
                </a:r>
                <a:endParaRPr b="0" i="0" sz="1800" u="none" cap="none" strike="noStrike">
                  <a:solidFill>
                    <a:schemeClr val="dk1"/>
                  </a:solidFill>
                  <a:latin typeface="Calibri"/>
                  <a:ea typeface="Calibri"/>
                  <a:cs typeface="Calibri"/>
                  <a:sym typeface="Calibri"/>
                </a:endParaRPr>
              </a:p>
            </p:txBody>
          </p:sp>
        </p:grpSp>
        <p:grpSp>
          <p:nvGrpSpPr>
            <p:cNvPr id="209" name="Google Shape;209;g3e955750272_3_169"/>
            <p:cNvGrpSpPr/>
            <p:nvPr/>
          </p:nvGrpSpPr>
          <p:grpSpPr>
            <a:xfrm>
              <a:off x="5162702" y="2876702"/>
              <a:ext cx="1867205" cy="2286000"/>
              <a:chOff x="5162702" y="2876702"/>
              <a:chExt cx="1867205" cy="2286000"/>
            </a:xfrm>
          </p:grpSpPr>
          <p:sp>
            <p:nvSpPr>
              <p:cNvPr id="210" name="Google Shape;210;g3e955750272_3_169"/>
              <p:cNvSpPr/>
              <p:nvPr/>
            </p:nvSpPr>
            <p:spPr>
              <a:xfrm>
                <a:off x="5162702" y="2876702"/>
                <a:ext cx="1867200" cy="2286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11" name="Google Shape;211;g3e955750272_3_169"/>
              <p:cNvSpPr/>
              <p:nvPr/>
            </p:nvSpPr>
            <p:spPr>
              <a:xfrm>
                <a:off x="5162702" y="2876702"/>
                <a:ext cx="1867205" cy="38405"/>
              </a:xfrm>
              <a:prstGeom prst="rect">
                <a:avLst/>
              </a:prstGeom>
              <a:solidFill>
                <a:srgbClr val="1D4ED8"/>
              </a:solidFill>
              <a:ln cap="flat" cmpd="sng" w="12700">
                <a:solidFill>
                  <a:srgbClr val="1D4ED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12" name="Google Shape;212;g3e955750272_3_169"/>
              <p:cNvSpPr/>
              <p:nvPr/>
            </p:nvSpPr>
            <p:spPr>
              <a:xfrm>
                <a:off x="5391302" y="3143707"/>
                <a:ext cx="381305" cy="381305"/>
              </a:xfrm>
              <a:prstGeom prst="ellipse">
                <a:avLst/>
              </a:prstGeom>
              <a:solidFill>
                <a:srgbClr val="E0F2FE"/>
              </a:solidFill>
              <a:ln cap="flat" cmpd="sng" w="12700">
                <a:solidFill>
                  <a:srgbClr val="E0F2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13" name="Google Shape;213;g3e955750272_3_169"/>
              <p:cNvSpPr/>
              <p:nvPr/>
            </p:nvSpPr>
            <p:spPr>
              <a:xfrm>
                <a:off x="5391302" y="3143707"/>
                <a:ext cx="381305" cy="3813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2700"/>
                  <a:buFont typeface="Arial"/>
                  <a:buNone/>
                </a:pPr>
                <a:r>
                  <a:rPr b="1" i="0" lang="en-US" sz="2700" u="none" cap="none" strike="noStrike">
                    <a:solidFill>
                      <a:srgbClr val="1D4ED8"/>
                    </a:solidFill>
                    <a:latin typeface="Arial"/>
                    <a:ea typeface="Arial"/>
                    <a:cs typeface="Arial"/>
                    <a:sym typeface="Arial"/>
                  </a:rPr>
                  <a:t>3</a:t>
                </a:r>
                <a:endParaRPr b="0" i="0" sz="2700" u="none" cap="none" strike="noStrike">
                  <a:solidFill>
                    <a:schemeClr val="dk1"/>
                  </a:solidFill>
                  <a:latin typeface="Calibri"/>
                  <a:ea typeface="Calibri"/>
                  <a:cs typeface="Calibri"/>
                  <a:sym typeface="Calibri"/>
                </a:endParaRPr>
              </a:p>
            </p:txBody>
          </p:sp>
          <p:sp>
            <p:nvSpPr>
              <p:cNvPr id="214" name="Google Shape;214;g3e955750272_3_169"/>
              <p:cNvSpPr/>
              <p:nvPr/>
            </p:nvSpPr>
            <p:spPr>
              <a:xfrm>
                <a:off x="5391302" y="3752698"/>
                <a:ext cx="141000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챗봇</a:t>
                </a:r>
                <a:endParaRPr b="0" i="0" sz="3000" u="none" cap="none" strike="noStrike">
                  <a:solidFill>
                    <a:schemeClr val="dk1"/>
                  </a:solidFill>
                  <a:latin typeface="Calibri"/>
                  <a:ea typeface="Calibri"/>
                  <a:cs typeface="Calibri"/>
                  <a:sym typeface="Calibri"/>
                </a:endParaRPr>
              </a:p>
            </p:txBody>
          </p:sp>
          <p:sp>
            <p:nvSpPr>
              <p:cNvPr id="215" name="Google Shape;215;g3e955750272_3_169"/>
              <p:cNvSpPr/>
              <p:nvPr/>
            </p:nvSpPr>
            <p:spPr>
              <a:xfrm>
                <a:off x="5391302" y="4209898"/>
                <a:ext cx="1410005"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질문으로 관련 공고 설명</a:t>
                </a:r>
                <a:endParaRPr b="0" i="0" sz="1800" u="none" cap="none" strike="noStrike">
                  <a:solidFill>
                    <a:schemeClr val="dk1"/>
                  </a:solidFill>
                  <a:latin typeface="Calibri"/>
                  <a:ea typeface="Calibri"/>
                  <a:cs typeface="Calibri"/>
                  <a:sym typeface="Calibri"/>
                </a:endParaRPr>
              </a:p>
            </p:txBody>
          </p:sp>
        </p:grpSp>
        <p:grpSp>
          <p:nvGrpSpPr>
            <p:cNvPr id="216" name="Google Shape;216;g3e955750272_3_169"/>
            <p:cNvGrpSpPr/>
            <p:nvPr/>
          </p:nvGrpSpPr>
          <p:grpSpPr>
            <a:xfrm>
              <a:off x="7439101" y="2876702"/>
              <a:ext cx="1867205" cy="2286000"/>
              <a:chOff x="7439101" y="2876702"/>
              <a:chExt cx="1867205" cy="2286000"/>
            </a:xfrm>
          </p:grpSpPr>
          <p:sp>
            <p:nvSpPr>
              <p:cNvPr id="217" name="Google Shape;217;g3e955750272_3_169"/>
              <p:cNvSpPr/>
              <p:nvPr/>
            </p:nvSpPr>
            <p:spPr>
              <a:xfrm>
                <a:off x="7439101" y="2876702"/>
                <a:ext cx="1867205" cy="2286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18" name="Google Shape;218;g3e955750272_3_169"/>
              <p:cNvSpPr/>
              <p:nvPr/>
            </p:nvSpPr>
            <p:spPr>
              <a:xfrm>
                <a:off x="7439101" y="2876702"/>
                <a:ext cx="1867205" cy="38405"/>
              </a:xfrm>
              <a:prstGeom prst="rect">
                <a:avLst/>
              </a:prstGeom>
              <a:solidFill>
                <a:srgbClr val="9A3412"/>
              </a:solidFill>
              <a:ln cap="flat" cmpd="sng" w="12700">
                <a:solidFill>
                  <a:srgbClr val="9A3412"/>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19" name="Google Shape;219;g3e955750272_3_169"/>
              <p:cNvSpPr/>
              <p:nvPr/>
            </p:nvSpPr>
            <p:spPr>
              <a:xfrm>
                <a:off x="7667701" y="3143707"/>
                <a:ext cx="381305" cy="381305"/>
              </a:xfrm>
              <a:prstGeom prst="ellipse">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20" name="Google Shape;220;g3e955750272_3_169"/>
              <p:cNvSpPr/>
              <p:nvPr/>
            </p:nvSpPr>
            <p:spPr>
              <a:xfrm>
                <a:off x="7667701" y="3143707"/>
                <a:ext cx="381305" cy="3813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2700"/>
                  <a:buFont typeface="Arial"/>
                  <a:buNone/>
                </a:pPr>
                <a:r>
                  <a:rPr b="1" i="0" lang="en-US" sz="2700" u="none" cap="none" strike="noStrike">
                    <a:solidFill>
                      <a:srgbClr val="9A3412"/>
                    </a:solidFill>
                    <a:latin typeface="Arial"/>
                    <a:ea typeface="Arial"/>
                    <a:cs typeface="Arial"/>
                    <a:sym typeface="Arial"/>
                  </a:rPr>
                  <a:t>4</a:t>
                </a:r>
                <a:endParaRPr b="0" i="0" sz="2700" u="none" cap="none" strike="noStrike">
                  <a:solidFill>
                    <a:schemeClr val="dk1"/>
                  </a:solidFill>
                  <a:latin typeface="Calibri"/>
                  <a:ea typeface="Calibri"/>
                  <a:cs typeface="Calibri"/>
                  <a:sym typeface="Calibri"/>
                </a:endParaRPr>
              </a:p>
            </p:txBody>
          </p:sp>
          <p:sp>
            <p:nvSpPr>
              <p:cNvPr id="221" name="Google Shape;221;g3e955750272_3_169"/>
              <p:cNvSpPr/>
              <p:nvPr/>
            </p:nvSpPr>
            <p:spPr>
              <a:xfrm>
                <a:off x="7667701" y="3752698"/>
                <a:ext cx="141000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스크랩</a:t>
                </a:r>
                <a:endParaRPr b="0" i="0" sz="3000" u="none" cap="none" strike="noStrike">
                  <a:solidFill>
                    <a:schemeClr val="dk1"/>
                  </a:solidFill>
                  <a:latin typeface="Calibri"/>
                  <a:ea typeface="Calibri"/>
                  <a:cs typeface="Calibri"/>
                  <a:sym typeface="Calibri"/>
                </a:endParaRPr>
              </a:p>
            </p:txBody>
          </p:sp>
          <p:sp>
            <p:nvSpPr>
              <p:cNvPr id="222" name="Google Shape;222;g3e955750272_3_169"/>
              <p:cNvSpPr/>
              <p:nvPr/>
            </p:nvSpPr>
            <p:spPr>
              <a:xfrm>
                <a:off x="7667701" y="4209898"/>
                <a:ext cx="1410005"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관심 공고 저장 (로그인)</a:t>
                </a:r>
                <a:endParaRPr b="0" i="0" sz="1800" u="none" cap="none" strike="noStrike">
                  <a:solidFill>
                    <a:schemeClr val="dk1"/>
                  </a:solidFill>
                  <a:latin typeface="Calibri"/>
                  <a:ea typeface="Calibri"/>
                  <a:cs typeface="Calibri"/>
                  <a:sym typeface="Calibri"/>
                </a:endParaRPr>
              </a:p>
            </p:txBody>
          </p:sp>
        </p:grpSp>
        <p:grpSp>
          <p:nvGrpSpPr>
            <p:cNvPr id="223" name="Google Shape;223;g3e955750272_3_169"/>
            <p:cNvGrpSpPr/>
            <p:nvPr/>
          </p:nvGrpSpPr>
          <p:grpSpPr>
            <a:xfrm>
              <a:off x="9715500" y="2876702"/>
              <a:ext cx="1867205" cy="2286000"/>
              <a:chOff x="9715500" y="2876702"/>
              <a:chExt cx="1867205" cy="2286000"/>
            </a:xfrm>
          </p:grpSpPr>
          <p:sp>
            <p:nvSpPr>
              <p:cNvPr id="224" name="Google Shape;224;g3e955750272_3_169"/>
              <p:cNvSpPr/>
              <p:nvPr/>
            </p:nvSpPr>
            <p:spPr>
              <a:xfrm>
                <a:off x="9715500" y="2876702"/>
                <a:ext cx="1867205" cy="2286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25" name="Google Shape;225;g3e955750272_3_169"/>
              <p:cNvSpPr/>
              <p:nvPr/>
            </p:nvSpPr>
            <p:spPr>
              <a:xfrm>
                <a:off x="9715500" y="2876702"/>
                <a:ext cx="1867205" cy="38405"/>
              </a:xfrm>
              <a:prstGeom prst="rect">
                <a:avLst/>
              </a:prstGeom>
              <a:solidFill>
                <a:srgbClr val="166534"/>
              </a:solidFill>
              <a:ln cap="flat" cmpd="sng" w="12700">
                <a:solidFill>
                  <a:srgbClr val="166534"/>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26" name="Google Shape;226;g3e955750272_3_169"/>
              <p:cNvSpPr/>
              <p:nvPr/>
            </p:nvSpPr>
            <p:spPr>
              <a:xfrm>
                <a:off x="9944100" y="3143707"/>
                <a:ext cx="381305" cy="381305"/>
              </a:xfrm>
              <a:prstGeom prst="ellipse">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27" name="Google Shape;227;g3e955750272_3_169"/>
              <p:cNvSpPr/>
              <p:nvPr/>
            </p:nvSpPr>
            <p:spPr>
              <a:xfrm>
                <a:off x="9944100" y="3143707"/>
                <a:ext cx="381305" cy="38130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2700"/>
                  <a:buFont typeface="Arial"/>
                  <a:buNone/>
                </a:pPr>
                <a:r>
                  <a:rPr b="1" i="0" lang="en-US" sz="2700" u="none" cap="none" strike="noStrike">
                    <a:solidFill>
                      <a:srgbClr val="166534"/>
                    </a:solidFill>
                    <a:latin typeface="Arial"/>
                    <a:ea typeface="Arial"/>
                    <a:cs typeface="Arial"/>
                    <a:sym typeface="Arial"/>
                  </a:rPr>
                  <a:t>5</a:t>
                </a:r>
                <a:endParaRPr b="0" i="0" sz="2700" u="none" cap="none" strike="noStrike">
                  <a:solidFill>
                    <a:schemeClr val="dk1"/>
                  </a:solidFill>
                  <a:latin typeface="Calibri"/>
                  <a:ea typeface="Calibri"/>
                  <a:cs typeface="Calibri"/>
                  <a:sym typeface="Calibri"/>
                </a:endParaRPr>
              </a:p>
            </p:txBody>
          </p:sp>
          <p:sp>
            <p:nvSpPr>
              <p:cNvPr id="228" name="Google Shape;228;g3e955750272_3_169"/>
              <p:cNvSpPr/>
              <p:nvPr/>
            </p:nvSpPr>
            <p:spPr>
              <a:xfrm>
                <a:off x="9944100" y="3752698"/>
                <a:ext cx="141000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000"/>
                  <a:buFont typeface="Arial"/>
                  <a:buNone/>
                </a:pPr>
                <a:r>
                  <a:rPr b="1" i="0" lang="en-US" sz="3000" u="none" cap="none" strike="noStrike">
                    <a:solidFill>
                      <a:srgbClr val="1A1A22"/>
                    </a:solidFill>
                    <a:latin typeface="Arial"/>
                    <a:ea typeface="Arial"/>
                    <a:cs typeface="Arial"/>
                    <a:sym typeface="Arial"/>
                  </a:rPr>
                  <a:t>AI 추천</a:t>
                </a:r>
                <a:endParaRPr b="0" i="0" sz="3000" u="none" cap="none" strike="noStrike">
                  <a:solidFill>
                    <a:schemeClr val="dk1"/>
                  </a:solidFill>
                  <a:latin typeface="Calibri"/>
                  <a:ea typeface="Calibri"/>
                  <a:cs typeface="Calibri"/>
                  <a:sym typeface="Calibri"/>
                </a:endParaRPr>
              </a:p>
            </p:txBody>
          </p:sp>
          <p:sp>
            <p:nvSpPr>
              <p:cNvPr id="229" name="Google Shape;229;g3e955750272_3_169"/>
              <p:cNvSpPr/>
              <p:nvPr/>
            </p:nvSpPr>
            <p:spPr>
              <a:xfrm>
                <a:off x="9944100" y="4209898"/>
                <a:ext cx="1410005"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프로필 · 관심 이력 기반</a:t>
                </a:r>
                <a:endParaRPr b="0" i="0" sz="1800" u="none" cap="none" strike="noStrike">
                  <a:solidFill>
                    <a:schemeClr val="dk1"/>
                  </a:solidFill>
                  <a:latin typeface="Calibri"/>
                  <a:ea typeface="Calibri"/>
                  <a:cs typeface="Calibri"/>
                  <a:sym typeface="Calibri"/>
                </a:endParaRPr>
              </a:p>
            </p:txBody>
          </p:sp>
        </p:grpSp>
      </p:grpSp>
      <p:grpSp>
        <p:nvGrpSpPr>
          <p:cNvPr id="230" name="Google Shape;230;g3e955750272_3_169"/>
          <p:cNvGrpSpPr/>
          <p:nvPr/>
        </p:nvGrpSpPr>
        <p:grpSpPr>
          <a:xfrm>
            <a:off x="914858" y="8058150"/>
            <a:ext cx="16459200" cy="799642"/>
            <a:chOff x="609905" y="5372100"/>
            <a:chExt cx="10972800" cy="533095"/>
          </a:xfrm>
        </p:grpSpPr>
        <p:sp>
          <p:nvSpPr>
            <p:cNvPr id="231" name="Google Shape;231;g3e955750272_3_169"/>
            <p:cNvSpPr/>
            <p:nvPr/>
          </p:nvSpPr>
          <p:spPr>
            <a:xfrm>
              <a:off x="609905" y="5372100"/>
              <a:ext cx="10972800" cy="533095"/>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32" name="Google Shape;232;g3e955750272_3_169"/>
            <p:cNvSpPr/>
            <p:nvPr/>
          </p:nvSpPr>
          <p:spPr>
            <a:xfrm>
              <a:off x="609905" y="5372100"/>
              <a:ext cx="38405" cy="533095"/>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33" name="Google Shape;233;g3e955750272_3_169"/>
            <p:cNvSpPr/>
            <p:nvPr/>
          </p:nvSpPr>
          <p:spPr>
            <a:xfrm>
              <a:off x="838505" y="5372100"/>
              <a:ext cx="10515600" cy="5330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2000"/>
                <a:buFont typeface="Arial"/>
                <a:buNone/>
              </a:pPr>
              <a:r>
                <a:rPr b="0" i="0" lang="en-US" sz="2000" u="none" cap="none" strike="noStrike">
                  <a:solidFill>
                    <a:srgbClr val="2A2A33"/>
                  </a:solidFill>
                  <a:latin typeface="Arial"/>
                  <a:ea typeface="Arial"/>
                  <a:cs typeface="Arial"/>
                  <a:sym typeface="Arial"/>
                </a:rPr>
                <a:t>각 핵심 기능은 </a:t>
              </a:r>
              <a:r>
                <a:rPr b="1" i="0" lang="en-US" sz="2000" u="none" cap="none" strike="noStrike">
                  <a:solidFill>
                    <a:srgbClr val="3F3FB8"/>
                  </a:solidFill>
                  <a:latin typeface="Arial"/>
                  <a:ea typeface="Arial"/>
                  <a:cs typeface="Arial"/>
                  <a:sym typeface="Arial"/>
                </a:rPr>
                <a:t>시연을 하면서 자세히 설명드리겠습니다.</a:t>
              </a:r>
              <a:endParaRPr b="0" i="0" sz="2000" u="none" cap="none" strike="noStrik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g3e955750272_3_220"/>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40" name="Google Shape;240;g3e955750272_3_220"/>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CH.03  ·  서비스 시연</a:t>
            </a:r>
            <a:endParaRPr b="0" i="0" sz="1400" u="none" cap="none" strike="noStrike">
              <a:solidFill>
                <a:schemeClr val="dk1"/>
              </a:solidFill>
              <a:latin typeface="Calibri"/>
              <a:ea typeface="Calibri"/>
              <a:cs typeface="Calibri"/>
              <a:sym typeface="Calibri"/>
            </a:endParaRPr>
          </a:p>
        </p:txBody>
      </p:sp>
      <p:sp>
        <p:nvSpPr>
          <p:cNvPr id="241" name="Google Shape;241;g3e955750272_3_220"/>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실제 화면으로 보는 정책 탐색 과정</a:t>
            </a:r>
            <a:endParaRPr b="0" i="0" sz="4200" u="none" cap="none" strike="noStrike">
              <a:solidFill>
                <a:schemeClr val="dk1"/>
              </a:solidFill>
              <a:latin typeface="Calibri"/>
              <a:ea typeface="Calibri"/>
              <a:cs typeface="Calibri"/>
              <a:sym typeface="Calibri"/>
            </a:endParaRPr>
          </a:p>
        </p:txBody>
      </p:sp>
      <p:sp>
        <p:nvSpPr>
          <p:cNvPr id="242" name="Google Shape;242;g3e955750272_3_220"/>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다음 슬라이드부터는 실제 웹 화면으로 이동합니다.</a:t>
            </a:r>
            <a:endParaRPr b="0" i="0" sz="2000" u="none" cap="none" strike="noStrike">
              <a:solidFill>
                <a:schemeClr val="dk1"/>
              </a:solidFill>
              <a:latin typeface="Calibri"/>
              <a:ea typeface="Calibri"/>
              <a:cs typeface="Calibri"/>
              <a:sym typeface="Calibri"/>
            </a:endParaRPr>
          </a:p>
        </p:txBody>
      </p:sp>
      <p:sp>
        <p:nvSpPr>
          <p:cNvPr id="243" name="Google Shape;243;g3e955750272_3_220"/>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44" name="Google Shape;244;g3e955750272_3_220"/>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시연 안내</a:t>
            </a:r>
            <a:endParaRPr b="0" i="0" sz="1400" u="none" cap="none" strike="noStrike">
              <a:solidFill>
                <a:schemeClr val="dk1"/>
              </a:solidFill>
              <a:latin typeface="Calibri"/>
              <a:ea typeface="Calibri"/>
              <a:cs typeface="Calibri"/>
              <a:sym typeface="Calibri"/>
            </a:endParaRPr>
          </a:p>
        </p:txBody>
      </p:sp>
      <p:sp>
        <p:nvSpPr>
          <p:cNvPr id="245" name="Google Shape;245;g3e955750272_3_220"/>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05 / 23</a:t>
            </a:r>
            <a:endParaRPr b="0" i="0" sz="1400" u="none" cap="none" strike="noStrike">
              <a:solidFill>
                <a:schemeClr val="dk1"/>
              </a:solidFill>
              <a:latin typeface="Calibri"/>
              <a:ea typeface="Calibri"/>
              <a:cs typeface="Calibri"/>
              <a:sym typeface="Calibri"/>
            </a:endParaRPr>
          </a:p>
        </p:txBody>
      </p:sp>
      <p:sp>
        <p:nvSpPr>
          <p:cNvPr id="246" name="Google Shape;246;g3e955750272_3_220"/>
          <p:cNvSpPr/>
          <p:nvPr/>
        </p:nvSpPr>
        <p:spPr>
          <a:xfrm>
            <a:off x="914857" y="3544215"/>
            <a:ext cx="16459200" cy="27432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47" name="Google Shape;247;g3e955750272_3_220"/>
          <p:cNvSpPr/>
          <p:nvPr/>
        </p:nvSpPr>
        <p:spPr>
          <a:xfrm>
            <a:off x="914858" y="3544215"/>
            <a:ext cx="57608" cy="274320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48" name="Google Shape;248;g3e955750272_3_220"/>
          <p:cNvSpPr/>
          <p:nvPr/>
        </p:nvSpPr>
        <p:spPr>
          <a:xfrm>
            <a:off x="1371600" y="3887115"/>
            <a:ext cx="2857043"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LIVE DEMO</a:t>
            </a:r>
            <a:endParaRPr b="0" i="0" sz="1500" u="none" cap="none" strike="noStrike">
              <a:solidFill>
                <a:schemeClr val="dk1"/>
              </a:solidFill>
              <a:latin typeface="Calibri"/>
              <a:ea typeface="Calibri"/>
              <a:cs typeface="Calibri"/>
              <a:sym typeface="Calibri"/>
            </a:endParaRPr>
          </a:p>
        </p:txBody>
      </p:sp>
      <p:sp>
        <p:nvSpPr>
          <p:cNvPr id="249" name="Google Shape;249;g3e955750272_3_220"/>
          <p:cNvSpPr/>
          <p:nvPr/>
        </p:nvSpPr>
        <p:spPr>
          <a:xfrm>
            <a:off x="1371600" y="4229975"/>
            <a:ext cx="15544350" cy="13900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300"/>
              <a:buFont typeface="Arial"/>
              <a:buNone/>
            </a:pPr>
            <a:r>
              <a:rPr b="1" i="0" lang="en-US" sz="3300" u="none" cap="none" strike="noStrike">
                <a:solidFill>
                  <a:srgbClr val="1A1A22"/>
                </a:solidFill>
                <a:latin typeface="Arial"/>
                <a:ea typeface="Arial"/>
                <a:cs typeface="Arial"/>
                <a:sym typeface="Arial"/>
              </a:rPr>
              <a:t>로그인 없이 검색 흐름부터, </a:t>
            </a:r>
            <a:endParaRPr b="1" i="0" sz="3300" u="none" cap="none" strike="noStrike">
              <a:solidFill>
                <a:srgbClr val="1A1A22"/>
              </a:solidFill>
              <a:latin typeface="Arial"/>
              <a:ea typeface="Arial"/>
              <a:cs typeface="Arial"/>
              <a:sym typeface="Arial"/>
            </a:endParaRPr>
          </a:p>
          <a:p>
            <a:pPr indent="0" lvl="0" marL="0" marR="0" rtl="0" algn="l">
              <a:lnSpc>
                <a:spcPct val="100000"/>
              </a:lnSpc>
              <a:spcBef>
                <a:spcPts val="0"/>
              </a:spcBef>
              <a:spcAft>
                <a:spcPts val="0"/>
              </a:spcAft>
              <a:buClr>
                <a:srgbClr val="1A1A22"/>
              </a:buClr>
              <a:buSzPts val="3300"/>
              <a:buFont typeface="Arial"/>
              <a:buNone/>
            </a:pPr>
            <a:r>
              <a:rPr b="1" i="0" lang="en-US" sz="3300" u="none" cap="none" strike="noStrike">
                <a:solidFill>
                  <a:srgbClr val="1A1A22"/>
                </a:solidFill>
                <a:latin typeface="Arial"/>
                <a:ea typeface="Arial"/>
                <a:cs typeface="Arial"/>
                <a:sym typeface="Arial"/>
              </a:rPr>
              <a:t>이후 로그인 후 스크랩 · 추천까지</a:t>
            </a:r>
            <a:endParaRPr b="0" i="0" sz="3300" u="none" cap="none" strike="noStrike">
              <a:solidFill>
                <a:schemeClr val="dk1"/>
              </a:solidFill>
              <a:latin typeface="Calibri"/>
              <a:ea typeface="Calibri"/>
              <a:cs typeface="Calibri"/>
              <a:sym typeface="Calibri"/>
            </a:endParaRPr>
          </a:p>
        </p:txBody>
      </p:sp>
      <p:sp>
        <p:nvSpPr>
          <p:cNvPr id="250" name="Google Shape;250;g3e955750272_3_220"/>
          <p:cNvSpPr/>
          <p:nvPr/>
        </p:nvSpPr>
        <p:spPr>
          <a:xfrm>
            <a:off x="914857" y="6630315"/>
            <a:ext cx="9715042" cy="2286457"/>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51" name="Google Shape;251;g3e955750272_3_220"/>
          <p:cNvSpPr/>
          <p:nvPr/>
        </p:nvSpPr>
        <p:spPr>
          <a:xfrm>
            <a:off x="1200150" y="6859371"/>
            <a:ext cx="1714500" cy="314097"/>
          </a:xfrm>
          <a:prstGeom prst="roundRect">
            <a:avLst>
              <a:gd fmla="val 17467" name="adj"/>
            </a:avLst>
          </a:prstGeom>
          <a:solidFill>
            <a:srgbClr val="E0F2FE"/>
          </a:solidFill>
          <a:ln cap="flat" cmpd="sng" w="12700">
            <a:solidFill>
              <a:srgbClr val="E0F2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52" name="Google Shape;252;g3e955750272_3_220"/>
          <p:cNvSpPr/>
          <p:nvPr/>
        </p:nvSpPr>
        <p:spPr>
          <a:xfrm>
            <a:off x="1200150" y="6859371"/>
            <a:ext cx="1714500"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비로그인 흐름</a:t>
            </a:r>
            <a:endParaRPr b="0" i="0" sz="1400" u="none" cap="none" strike="noStrike">
              <a:solidFill>
                <a:schemeClr val="dk1"/>
              </a:solidFill>
              <a:latin typeface="Calibri"/>
              <a:ea typeface="Calibri"/>
              <a:cs typeface="Calibri"/>
              <a:sym typeface="Calibri"/>
            </a:endParaRPr>
          </a:p>
        </p:txBody>
      </p:sp>
      <p:sp>
        <p:nvSpPr>
          <p:cNvPr id="253" name="Google Shape;253;g3e955750272_3_220"/>
          <p:cNvSpPr/>
          <p:nvPr/>
        </p:nvSpPr>
        <p:spPr>
          <a:xfrm>
            <a:off x="1200150" y="7429958"/>
            <a:ext cx="1737543" cy="77221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54" name="Google Shape;254;g3e955750272_3_220"/>
          <p:cNvSpPr/>
          <p:nvPr/>
        </p:nvSpPr>
        <p:spPr>
          <a:xfrm>
            <a:off x="1342797" y="7630210"/>
            <a:ext cx="285293" cy="28529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55" name="Google Shape;255;g3e955750272_3_220"/>
          <p:cNvSpPr/>
          <p:nvPr/>
        </p:nvSpPr>
        <p:spPr>
          <a:xfrm>
            <a:off x="1342797" y="7630210"/>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256" name="Google Shape;256;g3e955750272_3_220"/>
          <p:cNvSpPr/>
          <p:nvPr/>
        </p:nvSpPr>
        <p:spPr>
          <a:xfrm>
            <a:off x="1685697" y="7429958"/>
            <a:ext cx="1194390" cy="7722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1" i="0" lang="en-US" sz="1700" u="none" cap="none" strike="noStrike">
                <a:solidFill>
                  <a:srgbClr val="1A1A22"/>
                </a:solidFill>
                <a:latin typeface="Arial"/>
                <a:ea typeface="Arial"/>
                <a:cs typeface="Arial"/>
                <a:sym typeface="Arial"/>
              </a:rPr>
              <a:t>통합검색</a:t>
            </a:r>
            <a:endParaRPr b="0" i="0" sz="1700" u="none" cap="none" strike="noStrike">
              <a:solidFill>
                <a:schemeClr val="dk1"/>
              </a:solidFill>
              <a:latin typeface="Calibri"/>
              <a:ea typeface="Calibri"/>
              <a:cs typeface="Calibri"/>
              <a:sym typeface="Calibri"/>
            </a:endParaRPr>
          </a:p>
        </p:txBody>
      </p:sp>
      <p:sp>
        <p:nvSpPr>
          <p:cNvPr id="257" name="Google Shape;257;g3e955750272_3_220"/>
          <p:cNvSpPr/>
          <p:nvPr/>
        </p:nvSpPr>
        <p:spPr>
          <a:xfrm>
            <a:off x="3051536" y="7429958"/>
            <a:ext cx="1737543" cy="77221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58" name="Google Shape;258;g3e955750272_3_220"/>
          <p:cNvSpPr/>
          <p:nvPr/>
        </p:nvSpPr>
        <p:spPr>
          <a:xfrm>
            <a:off x="3194182" y="7630210"/>
            <a:ext cx="285293" cy="28529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59" name="Google Shape;259;g3e955750272_3_220"/>
          <p:cNvSpPr/>
          <p:nvPr/>
        </p:nvSpPr>
        <p:spPr>
          <a:xfrm>
            <a:off x="3194182" y="7630210"/>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260" name="Google Shape;260;g3e955750272_3_220"/>
          <p:cNvSpPr/>
          <p:nvPr/>
        </p:nvSpPr>
        <p:spPr>
          <a:xfrm>
            <a:off x="3537072" y="7429950"/>
            <a:ext cx="1714500" cy="77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1" i="0" lang="en-US" sz="1700" u="none" cap="none" strike="noStrike">
                <a:solidFill>
                  <a:srgbClr val="1A1A22"/>
                </a:solidFill>
                <a:latin typeface="Arial"/>
                <a:ea typeface="Arial"/>
                <a:cs typeface="Arial"/>
                <a:sym typeface="Arial"/>
              </a:rPr>
              <a:t>검색 결과 카드</a:t>
            </a:r>
            <a:endParaRPr b="0" i="0" sz="1700" u="none" cap="none" strike="noStrike">
              <a:solidFill>
                <a:schemeClr val="dk1"/>
              </a:solidFill>
              <a:latin typeface="Calibri"/>
              <a:ea typeface="Calibri"/>
              <a:cs typeface="Calibri"/>
              <a:sym typeface="Calibri"/>
            </a:endParaRPr>
          </a:p>
        </p:txBody>
      </p:sp>
      <p:sp>
        <p:nvSpPr>
          <p:cNvPr id="261" name="Google Shape;261;g3e955750272_3_220"/>
          <p:cNvSpPr/>
          <p:nvPr/>
        </p:nvSpPr>
        <p:spPr>
          <a:xfrm>
            <a:off x="4902921" y="7429958"/>
            <a:ext cx="1737543" cy="77221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62" name="Google Shape;262;g3e955750272_3_220"/>
          <p:cNvSpPr/>
          <p:nvPr/>
        </p:nvSpPr>
        <p:spPr>
          <a:xfrm>
            <a:off x="5045568" y="7630210"/>
            <a:ext cx="285293" cy="28529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63" name="Google Shape;263;g3e955750272_3_220"/>
          <p:cNvSpPr/>
          <p:nvPr/>
        </p:nvSpPr>
        <p:spPr>
          <a:xfrm>
            <a:off x="5045568" y="7630210"/>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264" name="Google Shape;264;g3e955750272_3_220"/>
          <p:cNvSpPr/>
          <p:nvPr/>
        </p:nvSpPr>
        <p:spPr>
          <a:xfrm>
            <a:off x="5388468" y="7429958"/>
            <a:ext cx="1194390" cy="7722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1" i="0" lang="en-US" sz="1700" u="none" cap="none" strike="noStrike">
                <a:solidFill>
                  <a:srgbClr val="1A1A22"/>
                </a:solidFill>
                <a:latin typeface="Arial"/>
                <a:ea typeface="Arial"/>
                <a:cs typeface="Arial"/>
                <a:sym typeface="Arial"/>
              </a:rPr>
              <a:t>문장형 검색</a:t>
            </a:r>
            <a:endParaRPr b="0" i="0" sz="1700" u="none" cap="none" strike="noStrike">
              <a:solidFill>
                <a:schemeClr val="dk1"/>
              </a:solidFill>
              <a:latin typeface="Calibri"/>
              <a:ea typeface="Calibri"/>
              <a:cs typeface="Calibri"/>
              <a:sym typeface="Calibri"/>
            </a:endParaRPr>
          </a:p>
        </p:txBody>
      </p:sp>
      <p:sp>
        <p:nvSpPr>
          <p:cNvPr id="265" name="Google Shape;265;g3e955750272_3_220"/>
          <p:cNvSpPr/>
          <p:nvPr/>
        </p:nvSpPr>
        <p:spPr>
          <a:xfrm>
            <a:off x="6754307" y="7429958"/>
            <a:ext cx="1737543" cy="77221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66" name="Google Shape;266;g3e955750272_3_220"/>
          <p:cNvSpPr/>
          <p:nvPr/>
        </p:nvSpPr>
        <p:spPr>
          <a:xfrm>
            <a:off x="6896954" y="7630210"/>
            <a:ext cx="285293" cy="28529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67" name="Google Shape;267;g3e955750272_3_220"/>
          <p:cNvSpPr/>
          <p:nvPr/>
        </p:nvSpPr>
        <p:spPr>
          <a:xfrm>
            <a:off x="6896954" y="7630210"/>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sp>
        <p:nvSpPr>
          <p:cNvPr id="268" name="Google Shape;268;g3e955750272_3_220"/>
          <p:cNvSpPr/>
          <p:nvPr/>
        </p:nvSpPr>
        <p:spPr>
          <a:xfrm>
            <a:off x="7239854" y="7429958"/>
            <a:ext cx="1194390" cy="7722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1" i="0" lang="en-US" sz="1700" u="none" cap="none" strike="noStrike">
                <a:solidFill>
                  <a:srgbClr val="1A1A22"/>
                </a:solidFill>
                <a:latin typeface="Arial"/>
                <a:ea typeface="Arial"/>
                <a:cs typeface="Arial"/>
                <a:sym typeface="Arial"/>
              </a:rPr>
              <a:t>챗봇</a:t>
            </a:r>
            <a:endParaRPr b="0" i="0" sz="1700" u="none" cap="none" strike="noStrike">
              <a:solidFill>
                <a:schemeClr val="dk1"/>
              </a:solidFill>
              <a:latin typeface="Calibri"/>
              <a:ea typeface="Calibri"/>
              <a:cs typeface="Calibri"/>
              <a:sym typeface="Calibri"/>
            </a:endParaRPr>
          </a:p>
        </p:txBody>
      </p:sp>
      <p:sp>
        <p:nvSpPr>
          <p:cNvPr id="269" name="Google Shape;269;g3e955750272_3_220"/>
          <p:cNvSpPr/>
          <p:nvPr/>
        </p:nvSpPr>
        <p:spPr>
          <a:xfrm>
            <a:off x="8605692" y="7429958"/>
            <a:ext cx="1737543" cy="77221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70" name="Google Shape;270;g3e955750272_3_220"/>
          <p:cNvSpPr/>
          <p:nvPr/>
        </p:nvSpPr>
        <p:spPr>
          <a:xfrm>
            <a:off x="8748339" y="7630210"/>
            <a:ext cx="285293" cy="28529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71" name="Google Shape;271;g3e955750272_3_220"/>
          <p:cNvSpPr/>
          <p:nvPr/>
        </p:nvSpPr>
        <p:spPr>
          <a:xfrm>
            <a:off x="8748339" y="7630210"/>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5</a:t>
            </a:r>
            <a:endParaRPr b="0" i="0" sz="1400" u="none" cap="none" strike="noStrike">
              <a:solidFill>
                <a:schemeClr val="dk1"/>
              </a:solidFill>
              <a:latin typeface="Calibri"/>
              <a:ea typeface="Calibri"/>
              <a:cs typeface="Calibri"/>
              <a:sym typeface="Calibri"/>
            </a:endParaRPr>
          </a:p>
        </p:txBody>
      </p:sp>
      <p:sp>
        <p:nvSpPr>
          <p:cNvPr id="272" name="Google Shape;272;g3e955750272_3_220"/>
          <p:cNvSpPr/>
          <p:nvPr/>
        </p:nvSpPr>
        <p:spPr>
          <a:xfrm>
            <a:off x="9091239" y="7429958"/>
            <a:ext cx="1194390" cy="7722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1" i="0" lang="en-US" sz="1700" u="none" cap="none" strike="noStrike">
                <a:solidFill>
                  <a:srgbClr val="1A1A22"/>
                </a:solidFill>
                <a:latin typeface="Arial"/>
                <a:ea typeface="Arial"/>
                <a:cs typeface="Arial"/>
                <a:sym typeface="Arial"/>
              </a:rPr>
              <a:t>조건검색</a:t>
            </a:r>
            <a:endParaRPr b="0" i="0" sz="1700" u="none" cap="none" strike="noStrike">
              <a:solidFill>
                <a:schemeClr val="dk1"/>
              </a:solidFill>
              <a:latin typeface="Calibri"/>
              <a:ea typeface="Calibri"/>
              <a:cs typeface="Calibri"/>
              <a:sym typeface="Calibri"/>
            </a:endParaRPr>
          </a:p>
        </p:txBody>
      </p:sp>
      <p:sp>
        <p:nvSpPr>
          <p:cNvPr id="273" name="Google Shape;273;g3e955750272_3_220"/>
          <p:cNvSpPr/>
          <p:nvPr/>
        </p:nvSpPr>
        <p:spPr>
          <a:xfrm>
            <a:off x="1200150" y="8373618"/>
            <a:ext cx="9143085"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1" lang="en-US" sz="1500" u="none" cap="none" strike="noStrike">
                <a:solidFill>
                  <a:srgbClr val="6B7280"/>
                </a:solidFill>
                <a:latin typeface="Arial"/>
                <a:ea typeface="Arial"/>
                <a:cs typeface="Arial"/>
                <a:sym typeface="Arial"/>
              </a:rPr>
              <a:t>정렬은 각 검색 결과에서 적용</a:t>
            </a:r>
            <a:endParaRPr b="0" i="0" sz="1500" u="none" cap="none" strike="noStrike">
              <a:solidFill>
                <a:schemeClr val="dk1"/>
              </a:solidFill>
              <a:latin typeface="Calibri"/>
              <a:ea typeface="Calibri"/>
              <a:cs typeface="Calibri"/>
              <a:sym typeface="Calibri"/>
            </a:endParaRPr>
          </a:p>
        </p:txBody>
      </p:sp>
      <p:sp>
        <p:nvSpPr>
          <p:cNvPr id="274" name="Google Shape;274;g3e955750272_3_220"/>
          <p:cNvSpPr/>
          <p:nvPr/>
        </p:nvSpPr>
        <p:spPr>
          <a:xfrm>
            <a:off x="10972800" y="6630315"/>
            <a:ext cx="6401258" cy="2286457"/>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75" name="Google Shape;275;g3e955750272_3_220"/>
          <p:cNvSpPr/>
          <p:nvPr/>
        </p:nvSpPr>
        <p:spPr>
          <a:xfrm>
            <a:off x="11258092" y="6859371"/>
            <a:ext cx="2857042" cy="314097"/>
          </a:xfrm>
          <a:prstGeom prst="roundRect">
            <a:avLst>
              <a:gd fmla="val 17467" name="adj"/>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76" name="Google Shape;276;g3e955750272_3_220"/>
          <p:cNvSpPr/>
          <p:nvPr/>
        </p:nvSpPr>
        <p:spPr>
          <a:xfrm>
            <a:off x="11258092" y="6859371"/>
            <a:ext cx="2857042"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LOGIN · 로그인 후 흐름</a:t>
            </a:r>
            <a:endParaRPr b="0" i="0" sz="1400" u="none" cap="none" strike="noStrike">
              <a:solidFill>
                <a:schemeClr val="dk1"/>
              </a:solidFill>
              <a:latin typeface="Calibri"/>
              <a:ea typeface="Calibri"/>
              <a:cs typeface="Calibri"/>
              <a:sym typeface="Calibri"/>
            </a:endParaRPr>
          </a:p>
        </p:txBody>
      </p:sp>
      <p:sp>
        <p:nvSpPr>
          <p:cNvPr id="277" name="Google Shape;277;g3e955750272_3_220"/>
          <p:cNvSpPr/>
          <p:nvPr/>
        </p:nvSpPr>
        <p:spPr>
          <a:xfrm>
            <a:off x="11258092" y="7431329"/>
            <a:ext cx="285293" cy="285293"/>
          </a:xfrm>
          <a:prstGeom prst="ellipse">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78" name="Google Shape;278;g3e955750272_3_220"/>
          <p:cNvSpPr/>
          <p:nvPr/>
        </p:nvSpPr>
        <p:spPr>
          <a:xfrm>
            <a:off x="11258092" y="7431329"/>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279" name="Google Shape;279;g3e955750272_3_220"/>
          <p:cNvSpPr/>
          <p:nvPr/>
        </p:nvSpPr>
        <p:spPr>
          <a:xfrm>
            <a:off x="11629797" y="7344918"/>
            <a:ext cx="5457597" cy="4567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스크랩</a:t>
            </a:r>
            <a:endParaRPr b="0" i="0" sz="1800" u="none" cap="none" strike="noStrike">
              <a:solidFill>
                <a:schemeClr val="dk1"/>
              </a:solidFill>
              <a:latin typeface="Calibri"/>
              <a:ea typeface="Calibri"/>
              <a:cs typeface="Calibri"/>
              <a:sym typeface="Calibri"/>
            </a:endParaRPr>
          </a:p>
        </p:txBody>
      </p:sp>
      <p:sp>
        <p:nvSpPr>
          <p:cNvPr id="280" name="Google Shape;280;g3e955750272_3_220"/>
          <p:cNvSpPr/>
          <p:nvPr/>
        </p:nvSpPr>
        <p:spPr>
          <a:xfrm>
            <a:off x="11258092" y="7916876"/>
            <a:ext cx="285293" cy="285293"/>
          </a:xfrm>
          <a:prstGeom prst="ellipse">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81" name="Google Shape;281;g3e955750272_3_220"/>
          <p:cNvSpPr/>
          <p:nvPr/>
        </p:nvSpPr>
        <p:spPr>
          <a:xfrm>
            <a:off x="11258092" y="7916876"/>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282" name="Google Shape;282;g3e955750272_3_220"/>
          <p:cNvSpPr/>
          <p:nvPr/>
        </p:nvSpPr>
        <p:spPr>
          <a:xfrm>
            <a:off x="11629797" y="7830465"/>
            <a:ext cx="5457597" cy="4567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마이페이지 정보설정</a:t>
            </a:r>
            <a:endParaRPr b="0" i="0" sz="1800" u="none" cap="none" strike="noStrike">
              <a:solidFill>
                <a:schemeClr val="dk1"/>
              </a:solidFill>
              <a:latin typeface="Calibri"/>
              <a:ea typeface="Calibri"/>
              <a:cs typeface="Calibri"/>
              <a:sym typeface="Calibri"/>
            </a:endParaRPr>
          </a:p>
        </p:txBody>
      </p:sp>
      <p:sp>
        <p:nvSpPr>
          <p:cNvPr id="283" name="Google Shape;283;g3e955750272_3_220"/>
          <p:cNvSpPr/>
          <p:nvPr/>
        </p:nvSpPr>
        <p:spPr>
          <a:xfrm>
            <a:off x="11258092" y="8402421"/>
            <a:ext cx="285293" cy="285293"/>
          </a:xfrm>
          <a:prstGeom prst="ellipse">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84" name="Google Shape;284;g3e955750272_3_220"/>
          <p:cNvSpPr/>
          <p:nvPr/>
        </p:nvSpPr>
        <p:spPr>
          <a:xfrm>
            <a:off x="11258092" y="8402421"/>
            <a:ext cx="28529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285" name="Google Shape;285;g3e955750272_3_220"/>
          <p:cNvSpPr/>
          <p:nvPr/>
        </p:nvSpPr>
        <p:spPr>
          <a:xfrm>
            <a:off x="11629797" y="8316010"/>
            <a:ext cx="5457597" cy="4567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AI 추천공고</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g3e955750272_3_271"/>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92" name="Google Shape;292;g3e955750272_3_271"/>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293" name="Google Shape;293;g3e955750272_3_271"/>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통합검색 — 인기검색어로 빠르게 시작</a:t>
            </a:r>
            <a:endParaRPr b="0" i="0" sz="4200" u="none" cap="none" strike="noStrike">
              <a:solidFill>
                <a:schemeClr val="dk1"/>
              </a:solidFill>
              <a:latin typeface="Calibri"/>
              <a:ea typeface="Calibri"/>
              <a:cs typeface="Calibri"/>
              <a:sym typeface="Calibri"/>
            </a:endParaRPr>
          </a:p>
        </p:txBody>
      </p:sp>
      <p:sp>
        <p:nvSpPr>
          <p:cNvPr id="294" name="Google Shape;294;g3e955750272_3_271"/>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정책명을 정확히 몰라도 인기검색어로 탐색을 시작합니다.</a:t>
            </a:r>
            <a:endParaRPr b="0" i="0" sz="2000" u="none" cap="none" strike="noStrike">
              <a:solidFill>
                <a:schemeClr val="dk1"/>
              </a:solidFill>
              <a:latin typeface="Calibri"/>
              <a:ea typeface="Calibri"/>
              <a:cs typeface="Calibri"/>
              <a:sym typeface="Calibri"/>
            </a:endParaRPr>
          </a:p>
        </p:txBody>
      </p:sp>
      <p:sp>
        <p:nvSpPr>
          <p:cNvPr id="295" name="Google Shape;295;g3e955750272_3_271"/>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96" name="Google Shape;296;g3e955750272_3_271"/>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통합검색</a:t>
            </a:r>
            <a:endParaRPr b="0" i="0" sz="1400" u="none" cap="none" strike="noStrike">
              <a:solidFill>
                <a:schemeClr val="dk1"/>
              </a:solidFill>
              <a:latin typeface="Calibri"/>
              <a:ea typeface="Calibri"/>
              <a:cs typeface="Calibri"/>
              <a:sym typeface="Calibri"/>
            </a:endParaRPr>
          </a:p>
        </p:txBody>
      </p:sp>
      <p:sp>
        <p:nvSpPr>
          <p:cNvPr id="297" name="Google Shape;297;g3e955750272_3_271"/>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06 / 23</a:t>
            </a:r>
            <a:endParaRPr b="0" i="0" sz="1400" u="none" cap="none" strike="noStrike">
              <a:solidFill>
                <a:schemeClr val="dk1"/>
              </a:solidFill>
              <a:latin typeface="Calibri"/>
              <a:ea typeface="Calibri"/>
              <a:cs typeface="Calibri"/>
              <a:sym typeface="Calibri"/>
            </a:endParaRPr>
          </a:p>
        </p:txBody>
      </p:sp>
      <p:sp>
        <p:nvSpPr>
          <p:cNvPr id="298" name="Google Shape;298;g3e955750272_3_271"/>
          <p:cNvSpPr/>
          <p:nvPr/>
        </p:nvSpPr>
        <p:spPr>
          <a:xfrm>
            <a:off x="914857" y="3372765"/>
            <a:ext cx="9830258" cy="51435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99" name="Google Shape;299;g3e955750272_3_271"/>
          <p:cNvSpPr/>
          <p:nvPr/>
        </p:nvSpPr>
        <p:spPr>
          <a:xfrm>
            <a:off x="914857" y="3372765"/>
            <a:ext cx="9830258" cy="456743"/>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00" name="Google Shape;300;g3e955750272_3_271"/>
          <p:cNvSpPr/>
          <p:nvPr/>
        </p:nvSpPr>
        <p:spPr>
          <a:xfrm>
            <a:off x="1115111" y="3544215"/>
            <a:ext cx="113842" cy="113843"/>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01" name="Google Shape;301;g3e955750272_3_271"/>
          <p:cNvSpPr/>
          <p:nvPr/>
        </p:nvSpPr>
        <p:spPr>
          <a:xfrm>
            <a:off x="1315365" y="3544215"/>
            <a:ext cx="113842" cy="113843"/>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02" name="Google Shape;302;g3e955750272_3_271"/>
          <p:cNvSpPr/>
          <p:nvPr/>
        </p:nvSpPr>
        <p:spPr>
          <a:xfrm>
            <a:off x="1515618" y="3544215"/>
            <a:ext cx="113842" cy="113843"/>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03" name="Google Shape;303;g3e955750272_3_271"/>
          <p:cNvSpPr/>
          <p:nvPr/>
        </p:nvSpPr>
        <p:spPr>
          <a:xfrm>
            <a:off x="2057400" y="3372765"/>
            <a:ext cx="7543800" cy="4567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policyrec.app  ·  통합검색</a:t>
            </a:r>
            <a:endParaRPr b="0" i="0" sz="1400" u="none" cap="none" strike="noStrike">
              <a:solidFill>
                <a:schemeClr val="dk1"/>
              </a:solidFill>
              <a:latin typeface="Calibri"/>
              <a:ea typeface="Calibri"/>
              <a:cs typeface="Calibri"/>
              <a:sym typeface="Calibri"/>
            </a:endParaRPr>
          </a:p>
        </p:txBody>
      </p:sp>
      <p:sp>
        <p:nvSpPr>
          <p:cNvPr id="304" name="Google Shape;304;g3e955750272_3_271"/>
          <p:cNvSpPr/>
          <p:nvPr/>
        </p:nvSpPr>
        <p:spPr>
          <a:xfrm>
            <a:off x="5429478" y="5144871"/>
            <a:ext cx="799643" cy="79964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05" name="Google Shape;305;g3e955750272_3_271"/>
          <p:cNvSpPr/>
          <p:nvPr/>
        </p:nvSpPr>
        <p:spPr>
          <a:xfrm>
            <a:off x="5429478" y="5144871"/>
            <a:ext cx="799643" cy="7996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306" name="Google Shape;306;g3e955750272_3_271"/>
          <p:cNvSpPr/>
          <p:nvPr/>
        </p:nvSpPr>
        <p:spPr>
          <a:xfrm>
            <a:off x="914857" y="6058358"/>
            <a:ext cx="983025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실제 시연 또는 캡처 영역</a:t>
            </a:r>
            <a:endParaRPr b="0" i="0" sz="2100" u="none" cap="none" strike="noStrike">
              <a:solidFill>
                <a:schemeClr val="dk1"/>
              </a:solidFill>
              <a:latin typeface="Calibri"/>
              <a:ea typeface="Calibri"/>
              <a:cs typeface="Calibri"/>
              <a:sym typeface="Calibri"/>
            </a:endParaRPr>
          </a:p>
        </p:txBody>
      </p:sp>
      <p:sp>
        <p:nvSpPr>
          <p:cNvPr id="307" name="Google Shape;307;g3e955750272_3_271"/>
          <p:cNvSpPr/>
          <p:nvPr/>
        </p:nvSpPr>
        <p:spPr>
          <a:xfrm>
            <a:off x="914857" y="6458865"/>
            <a:ext cx="9830258"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통합검색 흐름의 실제 화면이 이 영역에 표시됩니다.</a:t>
            </a:r>
            <a:endParaRPr b="0" i="0" sz="1700" u="none" cap="none" strike="noStrike">
              <a:solidFill>
                <a:schemeClr val="dk1"/>
              </a:solidFill>
              <a:latin typeface="Calibri"/>
              <a:ea typeface="Calibri"/>
              <a:cs typeface="Calibri"/>
              <a:sym typeface="Calibri"/>
            </a:endParaRPr>
          </a:p>
        </p:txBody>
      </p:sp>
      <p:sp>
        <p:nvSpPr>
          <p:cNvPr id="308" name="Google Shape;308;g3e955750272_3_271"/>
          <p:cNvSpPr/>
          <p:nvPr/>
        </p:nvSpPr>
        <p:spPr>
          <a:xfrm>
            <a:off x="11201858" y="3372765"/>
            <a:ext cx="1714500" cy="314097"/>
          </a:xfrm>
          <a:prstGeom prst="roundRect">
            <a:avLst>
              <a:gd fmla="val 17467" name="adj"/>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09" name="Google Shape;309;g3e955750272_3_271"/>
          <p:cNvSpPr/>
          <p:nvPr/>
        </p:nvSpPr>
        <p:spPr>
          <a:xfrm>
            <a:off x="11201858" y="3372765"/>
            <a:ext cx="1714500"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비로그인 흐름</a:t>
            </a:r>
            <a:endParaRPr b="0" i="0" sz="1400" u="none" cap="none" strike="noStrike">
              <a:solidFill>
                <a:schemeClr val="dk1"/>
              </a:solidFill>
              <a:latin typeface="Calibri"/>
              <a:ea typeface="Calibri"/>
              <a:cs typeface="Calibri"/>
              <a:sym typeface="Calibri"/>
            </a:endParaRPr>
          </a:p>
        </p:txBody>
      </p:sp>
      <p:sp>
        <p:nvSpPr>
          <p:cNvPr id="310" name="Google Shape;310;g3e955750272_3_271"/>
          <p:cNvSpPr/>
          <p:nvPr/>
        </p:nvSpPr>
        <p:spPr>
          <a:xfrm>
            <a:off x="13087808" y="3372765"/>
            <a:ext cx="4286250"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01</a:t>
            </a:r>
            <a:endParaRPr b="0" i="0" sz="1400" u="none" cap="none" strike="noStrike">
              <a:solidFill>
                <a:schemeClr val="dk1"/>
              </a:solidFill>
              <a:latin typeface="Calibri"/>
              <a:ea typeface="Calibri"/>
              <a:cs typeface="Calibri"/>
              <a:sym typeface="Calibri"/>
            </a:endParaRPr>
          </a:p>
        </p:txBody>
      </p:sp>
      <p:sp>
        <p:nvSpPr>
          <p:cNvPr id="311" name="Google Shape;311;g3e955750272_3_271"/>
          <p:cNvSpPr/>
          <p:nvPr/>
        </p:nvSpPr>
        <p:spPr>
          <a:xfrm>
            <a:off x="11201858" y="42300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보여줄 포인트</a:t>
            </a:r>
            <a:endParaRPr b="0" i="0" sz="1700" u="none" cap="none" strike="noStrike">
              <a:solidFill>
                <a:schemeClr val="dk1"/>
              </a:solidFill>
              <a:latin typeface="Calibri"/>
              <a:ea typeface="Calibri"/>
              <a:cs typeface="Calibri"/>
              <a:sym typeface="Calibri"/>
            </a:endParaRPr>
          </a:p>
        </p:txBody>
      </p:sp>
      <p:sp>
        <p:nvSpPr>
          <p:cNvPr id="312" name="Google Shape;312;g3e955750272_3_271"/>
          <p:cNvSpPr/>
          <p:nvPr/>
        </p:nvSpPr>
        <p:spPr>
          <a:xfrm>
            <a:off x="11201858" y="46305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13" name="Google Shape;313;g3e955750272_3_271"/>
          <p:cNvSpPr/>
          <p:nvPr/>
        </p:nvSpPr>
        <p:spPr>
          <a:xfrm>
            <a:off x="11402111" y="46305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예시: 인기검색어 `청년 자산형성 저축 지원 ` 클릭</a:t>
            </a:r>
            <a:endParaRPr b="0" i="0" sz="1800" u="none" cap="none" strike="noStrike">
              <a:solidFill>
                <a:schemeClr val="dk1"/>
              </a:solidFill>
              <a:latin typeface="Calibri"/>
              <a:ea typeface="Calibri"/>
              <a:cs typeface="Calibri"/>
              <a:sym typeface="Calibri"/>
            </a:endParaRPr>
          </a:p>
        </p:txBody>
      </p:sp>
      <p:sp>
        <p:nvSpPr>
          <p:cNvPr id="314" name="Google Shape;314;g3e955750272_3_271"/>
          <p:cNvSpPr/>
          <p:nvPr/>
        </p:nvSpPr>
        <p:spPr>
          <a:xfrm>
            <a:off x="11201858" y="53163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15" name="Google Shape;315;g3e955750272_3_271"/>
          <p:cNvSpPr/>
          <p:nvPr/>
        </p:nvSpPr>
        <p:spPr>
          <a:xfrm>
            <a:off x="11402111" y="53163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검색어와 공고 내용의 의미 유사도로 관련 공고 표시</a:t>
            </a:r>
            <a:endParaRPr b="0" i="0" sz="1800" u="none" cap="none" strike="noStrike">
              <a:solidFill>
                <a:schemeClr val="dk1"/>
              </a:solidFill>
              <a:latin typeface="Calibri"/>
              <a:ea typeface="Calibri"/>
              <a:cs typeface="Calibri"/>
              <a:sym typeface="Calibri"/>
            </a:endParaRPr>
          </a:p>
        </p:txBody>
      </p:sp>
      <p:sp>
        <p:nvSpPr>
          <p:cNvPr id="316" name="Google Shape;316;g3e955750272_3_271"/>
          <p:cNvSpPr/>
          <p:nvPr/>
        </p:nvSpPr>
        <p:spPr>
          <a:xfrm>
            <a:off x="11201858" y="6002121"/>
            <a:ext cx="42519" cy="5719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17" name="Google Shape;317;g3e955750272_3_271"/>
          <p:cNvSpPr/>
          <p:nvPr/>
        </p:nvSpPr>
        <p:spPr>
          <a:xfrm>
            <a:off x="11402111" y="6002121"/>
            <a:ext cx="5971947" cy="5719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정렬: 추천순 · 마감순 · 신규순</a:t>
            </a:r>
            <a:endParaRPr b="0" i="0" sz="1800" u="none" cap="none" strike="noStrike">
              <a:solidFill>
                <a:schemeClr val="dk1"/>
              </a:solidFill>
              <a:latin typeface="Calibri"/>
              <a:ea typeface="Calibri"/>
              <a:cs typeface="Calibri"/>
              <a:sym typeface="Calibri"/>
            </a:endParaRPr>
          </a:p>
        </p:txBody>
      </p:sp>
      <p:sp>
        <p:nvSpPr>
          <p:cNvPr id="318" name="Google Shape;318;g3e955750272_3_271"/>
          <p:cNvSpPr/>
          <p:nvPr/>
        </p:nvSpPr>
        <p:spPr>
          <a:xfrm>
            <a:off x="11201858" y="6772960"/>
            <a:ext cx="617220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19" name="Google Shape;319;g3e955750272_3_271"/>
          <p:cNvSpPr/>
          <p:nvPr/>
        </p:nvSpPr>
        <p:spPr>
          <a:xfrm>
            <a:off x="11430915" y="6944411"/>
            <a:ext cx="57154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이 화면을 보여주는 이유</a:t>
            </a:r>
            <a:endParaRPr b="0" i="0" sz="1500" u="none" cap="none" strike="noStrike">
              <a:solidFill>
                <a:schemeClr val="dk1"/>
              </a:solidFill>
              <a:latin typeface="Calibri"/>
              <a:ea typeface="Calibri"/>
              <a:cs typeface="Calibri"/>
              <a:sym typeface="Calibri"/>
            </a:endParaRPr>
          </a:p>
        </p:txBody>
      </p:sp>
      <p:sp>
        <p:nvSpPr>
          <p:cNvPr id="320" name="Google Shape;320;g3e955750272_3_271"/>
          <p:cNvSpPr/>
          <p:nvPr/>
        </p:nvSpPr>
        <p:spPr>
          <a:xfrm>
            <a:off x="11430915" y="7229703"/>
            <a:ext cx="571545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공고명을 몰라도 상황 키워드로 진입</a:t>
            </a:r>
            <a:endParaRPr b="0" i="0" sz="2000" u="none" cap="none" strike="noStrike">
              <a:solidFill>
                <a:schemeClr val="dk1"/>
              </a:solidFill>
              <a:latin typeface="Calibri"/>
              <a:ea typeface="Calibri"/>
              <a:cs typeface="Calibri"/>
              <a:sym typeface="Calibri"/>
            </a:endParaRPr>
          </a:p>
        </p:txBody>
      </p:sp>
      <p:pic>
        <p:nvPicPr>
          <p:cNvPr id="321" name="Google Shape;321;g3e955750272_3_271"/>
          <p:cNvPicPr preferRelativeResize="0"/>
          <p:nvPr/>
        </p:nvPicPr>
        <p:blipFill rotWithShape="1">
          <a:blip r:embed="rId3">
            <a:alphaModFix/>
          </a:blip>
          <a:srcRect b="0" l="0" r="0" t="0"/>
          <a:stretch/>
        </p:blipFill>
        <p:spPr>
          <a:xfrm>
            <a:off x="914850" y="3841941"/>
            <a:ext cx="9830253" cy="45590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sp>
        <p:nvSpPr>
          <p:cNvPr id="327" name="Google Shape;327;g3e955750272_3_306"/>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28" name="Google Shape;328;g3e955750272_3_306"/>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329" name="Google Shape;329;g3e955750272_3_306"/>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검색 결과 카드 — 핵심 정보부터 공식 원문까지</a:t>
            </a:r>
            <a:endParaRPr b="0" i="0" sz="4200" u="none" cap="none" strike="noStrike">
              <a:solidFill>
                <a:schemeClr val="dk1"/>
              </a:solidFill>
              <a:latin typeface="Calibri"/>
              <a:ea typeface="Calibri"/>
              <a:cs typeface="Calibri"/>
              <a:sym typeface="Calibri"/>
            </a:endParaRPr>
          </a:p>
        </p:txBody>
      </p:sp>
      <p:sp>
        <p:nvSpPr>
          <p:cNvPr id="330" name="Google Shape;330;g3e955750272_3_306"/>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카드에서 핵심 정보를 먼저, 더보기로 상세, 제목을 누르면 공식 원문으로 이동합니다.</a:t>
            </a:r>
            <a:endParaRPr b="0" i="0" sz="2000" u="none" cap="none" strike="noStrike">
              <a:solidFill>
                <a:schemeClr val="dk1"/>
              </a:solidFill>
              <a:latin typeface="Calibri"/>
              <a:ea typeface="Calibri"/>
              <a:cs typeface="Calibri"/>
              <a:sym typeface="Calibri"/>
            </a:endParaRPr>
          </a:p>
        </p:txBody>
      </p:sp>
      <p:sp>
        <p:nvSpPr>
          <p:cNvPr id="331" name="Google Shape;331;g3e955750272_3_306"/>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32" name="Google Shape;332;g3e955750272_3_306"/>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검색 결과</a:t>
            </a:r>
            <a:endParaRPr b="0" i="0" sz="1400" u="none" cap="none" strike="noStrike">
              <a:solidFill>
                <a:schemeClr val="dk1"/>
              </a:solidFill>
              <a:latin typeface="Calibri"/>
              <a:ea typeface="Calibri"/>
              <a:cs typeface="Calibri"/>
              <a:sym typeface="Calibri"/>
            </a:endParaRPr>
          </a:p>
        </p:txBody>
      </p:sp>
      <p:sp>
        <p:nvSpPr>
          <p:cNvPr id="333" name="Google Shape;333;g3e955750272_3_306"/>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07 / 23</a:t>
            </a:r>
            <a:endParaRPr b="0" i="0" sz="1400" u="none" cap="none" strike="noStrike">
              <a:solidFill>
                <a:schemeClr val="dk1"/>
              </a:solidFill>
              <a:latin typeface="Calibri"/>
              <a:ea typeface="Calibri"/>
              <a:cs typeface="Calibri"/>
              <a:sym typeface="Calibri"/>
            </a:endParaRPr>
          </a:p>
        </p:txBody>
      </p:sp>
      <p:sp>
        <p:nvSpPr>
          <p:cNvPr id="334" name="Google Shape;334;g3e955750272_3_306"/>
          <p:cNvSpPr/>
          <p:nvPr/>
        </p:nvSpPr>
        <p:spPr>
          <a:xfrm>
            <a:off x="914857" y="3372765"/>
            <a:ext cx="9830258" cy="51435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35" name="Google Shape;335;g3e955750272_3_306"/>
          <p:cNvSpPr/>
          <p:nvPr/>
        </p:nvSpPr>
        <p:spPr>
          <a:xfrm>
            <a:off x="914857" y="3372765"/>
            <a:ext cx="9830258" cy="456743"/>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36" name="Google Shape;336;g3e955750272_3_306"/>
          <p:cNvSpPr/>
          <p:nvPr/>
        </p:nvSpPr>
        <p:spPr>
          <a:xfrm>
            <a:off x="1115111" y="3544215"/>
            <a:ext cx="113842" cy="113843"/>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37" name="Google Shape;337;g3e955750272_3_306"/>
          <p:cNvSpPr/>
          <p:nvPr/>
        </p:nvSpPr>
        <p:spPr>
          <a:xfrm>
            <a:off x="1315365" y="3544215"/>
            <a:ext cx="113842" cy="113843"/>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38" name="Google Shape;338;g3e955750272_3_306"/>
          <p:cNvSpPr/>
          <p:nvPr/>
        </p:nvSpPr>
        <p:spPr>
          <a:xfrm>
            <a:off x="1515618" y="3544215"/>
            <a:ext cx="113842" cy="113843"/>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39" name="Google Shape;339;g3e955750272_3_306"/>
          <p:cNvSpPr/>
          <p:nvPr/>
        </p:nvSpPr>
        <p:spPr>
          <a:xfrm>
            <a:off x="2057400" y="3372765"/>
            <a:ext cx="7543800" cy="4567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policyrec.app  ·  검색 결과</a:t>
            </a:r>
            <a:endParaRPr b="0" i="0" sz="1400" u="none" cap="none" strike="noStrike">
              <a:solidFill>
                <a:schemeClr val="dk1"/>
              </a:solidFill>
              <a:latin typeface="Calibri"/>
              <a:ea typeface="Calibri"/>
              <a:cs typeface="Calibri"/>
              <a:sym typeface="Calibri"/>
            </a:endParaRPr>
          </a:p>
        </p:txBody>
      </p:sp>
      <p:sp>
        <p:nvSpPr>
          <p:cNvPr id="340" name="Google Shape;340;g3e955750272_3_306"/>
          <p:cNvSpPr/>
          <p:nvPr/>
        </p:nvSpPr>
        <p:spPr>
          <a:xfrm>
            <a:off x="5429478" y="5144871"/>
            <a:ext cx="799643" cy="79964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41" name="Google Shape;341;g3e955750272_3_306"/>
          <p:cNvSpPr/>
          <p:nvPr/>
        </p:nvSpPr>
        <p:spPr>
          <a:xfrm>
            <a:off x="5429478" y="5144871"/>
            <a:ext cx="799643" cy="7996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342" name="Google Shape;342;g3e955750272_3_306"/>
          <p:cNvSpPr/>
          <p:nvPr/>
        </p:nvSpPr>
        <p:spPr>
          <a:xfrm>
            <a:off x="914857" y="6058358"/>
            <a:ext cx="983025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실제 시연 또는 캡처 영역</a:t>
            </a:r>
            <a:endParaRPr b="0" i="0" sz="2100" u="none" cap="none" strike="noStrike">
              <a:solidFill>
                <a:schemeClr val="dk1"/>
              </a:solidFill>
              <a:latin typeface="Calibri"/>
              <a:ea typeface="Calibri"/>
              <a:cs typeface="Calibri"/>
              <a:sym typeface="Calibri"/>
            </a:endParaRPr>
          </a:p>
        </p:txBody>
      </p:sp>
      <p:sp>
        <p:nvSpPr>
          <p:cNvPr id="343" name="Google Shape;343;g3e955750272_3_306"/>
          <p:cNvSpPr/>
          <p:nvPr/>
        </p:nvSpPr>
        <p:spPr>
          <a:xfrm>
            <a:off x="914857" y="6458865"/>
            <a:ext cx="9830258"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검색 결과 흐름의 실제 화면이 이 영역에 표시됩니다.</a:t>
            </a:r>
            <a:endParaRPr b="0" i="0" sz="1700" u="none" cap="none" strike="noStrike">
              <a:solidFill>
                <a:schemeClr val="dk1"/>
              </a:solidFill>
              <a:latin typeface="Calibri"/>
              <a:ea typeface="Calibri"/>
              <a:cs typeface="Calibri"/>
              <a:sym typeface="Calibri"/>
            </a:endParaRPr>
          </a:p>
        </p:txBody>
      </p:sp>
      <p:sp>
        <p:nvSpPr>
          <p:cNvPr id="344" name="Google Shape;344;g3e955750272_3_306"/>
          <p:cNvSpPr/>
          <p:nvPr/>
        </p:nvSpPr>
        <p:spPr>
          <a:xfrm>
            <a:off x="11201858" y="3372765"/>
            <a:ext cx="1714500" cy="314097"/>
          </a:xfrm>
          <a:prstGeom prst="roundRect">
            <a:avLst>
              <a:gd fmla="val 17467" name="adj"/>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45" name="Google Shape;345;g3e955750272_3_306"/>
          <p:cNvSpPr/>
          <p:nvPr/>
        </p:nvSpPr>
        <p:spPr>
          <a:xfrm>
            <a:off x="11201858" y="3372765"/>
            <a:ext cx="1714500"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비로그인 흐름</a:t>
            </a:r>
            <a:endParaRPr b="0" i="0" sz="1400" u="none" cap="none" strike="noStrike">
              <a:solidFill>
                <a:schemeClr val="dk1"/>
              </a:solidFill>
              <a:latin typeface="Calibri"/>
              <a:ea typeface="Calibri"/>
              <a:cs typeface="Calibri"/>
              <a:sym typeface="Calibri"/>
            </a:endParaRPr>
          </a:p>
        </p:txBody>
      </p:sp>
      <p:sp>
        <p:nvSpPr>
          <p:cNvPr id="346" name="Google Shape;346;g3e955750272_3_306"/>
          <p:cNvSpPr/>
          <p:nvPr/>
        </p:nvSpPr>
        <p:spPr>
          <a:xfrm>
            <a:off x="13087808" y="3372765"/>
            <a:ext cx="4286250"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02</a:t>
            </a:r>
            <a:endParaRPr b="0" i="0" sz="1400" u="none" cap="none" strike="noStrike">
              <a:solidFill>
                <a:schemeClr val="dk1"/>
              </a:solidFill>
              <a:latin typeface="Calibri"/>
              <a:ea typeface="Calibri"/>
              <a:cs typeface="Calibri"/>
              <a:sym typeface="Calibri"/>
            </a:endParaRPr>
          </a:p>
        </p:txBody>
      </p:sp>
      <p:sp>
        <p:nvSpPr>
          <p:cNvPr id="347" name="Google Shape;347;g3e955750272_3_306"/>
          <p:cNvSpPr/>
          <p:nvPr/>
        </p:nvSpPr>
        <p:spPr>
          <a:xfrm>
            <a:off x="11201858" y="42300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보여줄 포인트</a:t>
            </a:r>
            <a:endParaRPr b="0" i="0" sz="1700" u="none" cap="none" strike="noStrike">
              <a:solidFill>
                <a:schemeClr val="dk1"/>
              </a:solidFill>
              <a:latin typeface="Calibri"/>
              <a:ea typeface="Calibri"/>
              <a:cs typeface="Calibri"/>
              <a:sym typeface="Calibri"/>
            </a:endParaRPr>
          </a:p>
        </p:txBody>
      </p:sp>
      <p:sp>
        <p:nvSpPr>
          <p:cNvPr id="348" name="Google Shape;348;g3e955750272_3_306"/>
          <p:cNvSpPr/>
          <p:nvPr/>
        </p:nvSpPr>
        <p:spPr>
          <a:xfrm>
            <a:off x="11201858" y="46305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49" name="Google Shape;349;g3e955750272_3_306"/>
          <p:cNvSpPr/>
          <p:nvPr/>
        </p:nvSpPr>
        <p:spPr>
          <a:xfrm>
            <a:off x="11402111" y="46305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카드: 제목 · 기관 · 지역 · 분야 · 모집상태 · 마감일</a:t>
            </a:r>
            <a:endParaRPr b="0" i="0" sz="1800" u="none" cap="none" strike="noStrike">
              <a:solidFill>
                <a:schemeClr val="dk1"/>
              </a:solidFill>
              <a:latin typeface="Calibri"/>
              <a:ea typeface="Calibri"/>
              <a:cs typeface="Calibri"/>
              <a:sym typeface="Calibri"/>
            </a:endParaRPr>
          </a:p>
        </p:txBody>
      </p:sp>
      <p:sp>
        <p:nvSpPr>
          <p:cNvPr id="350" name="Google Shape;350;g3e955750272_3_306"/>
          <p:cNvSpPr/>
          <p:nvPr/>
        </p:nvSpPr>
        <p:spPr>
          <a:xfrm>
            <a:off x="11201858" y="53163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51" name="Google Shape;351;g3e955750272_3_306"/>
          <p:cNvSpPr/>
          <p:nvPr/>
        </p:nvSpPr>
        <p:spPr>
          <a:xfrm>
            <a:off x="11402111" y="53163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더보기: 요약 · 신청 방법 · 제출 서류 · 추가 조건</a:t>
            </a:r>
            <a:endParaRPr b="0" i="0" sz="1800" u="none" cap="none" strike="noStrike">
              <a:solidFill>
                <a:schemeClr val="dk1"/>
              </a:solidFill>
              <a:latin typeface="Calibri"/>
              <a:ea typeface="Calibri"/>
              <a:cs typeface="Calibri"/>
              <a:sym typeface="Calibri"/>
            </a:endParaRPr>
          </a:p>
        </p:txBody>
      </p:sp>
      <p:sp>
        <p:nvSpPr>
          <p:cNvPr id="352" name="Google Shape;352;g3e955750272_3_306"/>
          <p:cNvSpPr/>
          <p:nvPr/>
        </p:nvSpPr>
        <p:spPr>
          <a:xfrm>
            <a:off x="11201858" y="6002121"/>
            <a:ext cx="42519" cy="5719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53" name="Google Shape;353;g3e955750272_3_306"/>
          <p:cNvSpPr/>
          <p:nvPr/>
        </p:nvSpPr>
        <p:spPr>
          <a:xfrm>
            <a:off x="11402111" y="6002121"/>
            <a:ext cx="5971947" cy="5719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제목 클릭 → 각 API의 공식 상세 페이지</a:t>
            </a:r>
            <a:endParaRPr b="0" i="0" sz="1800" u="none" cap="none" strike="noStrike">
              <a:solidFill>
                <a:schemeClr val="dk1"/>
              </a:solidFill>
              <a:latin typeface="Calibri"/>
              <a:ea typeface="Calibri"/>
              <a:cs typeface="Calibri"/>
              <a:sym typeface="Calibri"/>
            </a:endParaRPr>
          </a:p>
        </p:txBody>
      </p:sp>
      <p:sp>
        <p:nvSpPr>
          <p:cNvPr id="354" name="Google Shape;354;g3e955750272_3_306"/>
          <p:cNvSpPr/>
          <p:nvPr/>
        </p:nvSpPr>
        <p:spPr>
          <a:xfrm>
            <a:off x="11201858" y="6772960"/>
            <a:ext cx="617220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55" name="Google Shape;355;g3e955750272_3_306"/>
          <p:cNvSpPr/>
          <p:nvPr/>
        </p:nvSpPr>
        <p:spPr>
          <a:xfrm>
            <a:off x="11430915" y="6944411"/>
            <a:ext cx="57154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이 화면을 보여주는 이유</a:t>
            </a:r>
            <a:endParaRPr b="0" i="0" sz="1500" u="none" cap="none" strike="noStrike">
              <a:solidFill>
                <a:schemeClr val="dk1"/>
              </a:solidFill>
              <a:latin typeface="Calibri"/>
              <a:ea typeface="Calibri"/>
              <a:cs typeface="Calibri"/>
              <a:sym typeface="Calibri"/>
            </a:endParaRPr>
          </a:p>
        </p:txBody>
      </p:sp>
      <p:sp>
        <p:nvSpPr>
          <p:cNvPr id="356" name="Google Shape;356;g3e955750272_3_306"/>
          <p:cNvSpPr/>
          <p:nvPr/>
        </p:nvSpPr>
        <p:spPr>
          <a:xfrm>
            <a:off x="11430915" y="7229703"/>
            <a:ext cx="571545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신청을 대체하지 않고, 발견과 안전한 원문 이동에 집중</a:t>
            </a:r>
            <a:endParaRPr b="0" i="0" sz="2000" u="none" cap="none" strike="noStrike">
              <a:solidFill>
                <a:schemeClr val="dk1"/>
              </a:solidFill>
              <a:latin typeface="Calibri"/>
              <a:ea typeface="Calibri"/>
              <a:cs typeface="Calibri"/>
              <a:sym typeface="Calibri"/>
            </a:endParaRPr>
          </a:p>
        </p:txBody>
      </p:sp>
      <p:pic>
        <p:nvPicPr>
          <p:cNvPr id="357" name="Google Shape;357;g3e955750272_3_306"/>
          <p:cNvPicPr preferRelativeResize="0"/>
          <p:nvPr/>
        </p:nvPicPr>
        <p:blipFill rotWithShape="1">
          <a:blip r:embed="rId3">
            <a:alphaModFix/>
          </a:blip>
          <a:srcRect b="0" l="0" r="0" t="0"/>
          <a:stretch/>
        </p:blipFill>
        <p:spPr>
          <a:xfrm>
            <a:off x="928388" y="3986119"/>
            <a:ext cx="9801842" cy="4544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sp>
        <p:nvSpPr>
          <p:cNvPr id="363" name="Google Shape;363;g3e955750272_3_341"/>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64" name="Google Shape;364;g3e955750272_3_341"/>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365" name="Google Shape;365;g3e955750272_3_341"/>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문장형 검색 — 상황을 그대로 입력</a:t>
            </a:r>
            <a:endParaRPr b="0" i="0" sz="4200" u="none" cap="none" strike="noStrike">
              <a:solidFill>
                <a:schemeClr val="dk1"/>
              </a:solidFill>
              <a:latin typeface="Calibri"/>
              <a:ea typeface="Calibri"/>
              <a:cs typeface="Calibri"/>
              <a:sym typeface="Calibri"/>
            </a:endParaRPr>
          </a:p>
        </p:txBody>
      </p:sp>
      <p:sp>
        <p:nvSpPr>
          <p:cNvPr id="366" name="Google Shape;366;g3e955750272_3_341"/>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키워드 대신 상황을 담은 문장으로도 검색할 수 있습니다.</a:t>
            </a:r>
            <a:endParaRPr b="0" i="0" sz="2000" u="none" cap="none" strike="noStrike">
              <a:solidFill>
                <a:schemeClr val="dk1"/>
              </a:solidFill>
              <a:latin typeface="Calibri"/>
              <a:ea typeface="Calibri"/>
              <a:cs typeface="Calibri"/>
              <a:sym typeface="Calibri"/>
            </a:endParaRPr>
          </a:p>
        </p:txBody>
      </p:sp>
      <p:sp>
        <p:nvSpPr>
          <p:cNvPr id="367" name="Google Shape;367;g3e955750272_3_341"/>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68" name="Google Shape;368;g3e955750272_3_341"/>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문장형 검색</a:t>
            </a:r>
            <a:endParaRPr b="0" i="0" sz="1400" u="none" cap="none" strike="noStrike">
              <a:solidFill>
                <a:schemeClr val="dk1"/>
              </a:solidFill>
              <a:latin typeface="Calibri"/>
              <a:ea typeface="Calibri"/>
              <a:cs typeface="Calibri"/>
              <a:sym typeface="Calibri"/>
            </a:endParaRPr>
          </a:p>
        </p:txBody>
      </p:sp>
      <p:sp>
        <p:nvSpPr>
          <p:cNvPr id="369" name="Google Shape;369;g3e955750272_3_341"/>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08 / 23</a:t>
            </a:r>
            <a:endParaRPr b="0" i="0" sz="1400" u="none" cap="none" strike="noStrike">
              <a:solidFill>
                <a:schemeClr val="dk1"/>
              </a:solidFill>
              <a:latin typeface="Calibri"/>
              <a:ea typeface="Calibri"/>
              <a:cs typeface="Calibri"/>
              <a:sym typeface="Calibri"/>
            </a:endParaRPr>
          </a:p>
        </p:txBody>
      </p:sp>
      <p:sp>
        <p:nvSpPr>
          <p:cNvPr id="370" name="Google Shape;370;g3e955750272_3_341"/>
          <p:cNvSpPr/>
          <p:nvPr/>
        </p:nvSpPr>
        <p:spPr>
          <a:xfrm>
            <a:off x="914857" y="3372765"/>
            <a:ext cx="9830258" cy="51435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71" name="Google Shape;371;g3e955750272_3_341"/>
          <p:cNvSpPr/>
          <p:nvPr/>
        </p:nvSpPr>
        <p:spPr>
          <a:xfrm>
            <a:off x="914857" y="3372765"/>
            <a:ext cx="9830258" cy="456743"/>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72" name="Google Shape;372;g3e955750272_3_341"/>
          <p:cNvSpPr/>
          <p:nvPr/>
        </p:nvSpPr>
        <p:spPr>
          <a:xfrm>
            <a:off x="1115111" y="3544215"/>
            <a:ext cx="113842" cy="113843"/>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73" name="Google Shape;373;g3e955750272_3_341"/>
          <p:cNvSpPr/>
          <p:nvPr/>
        </p:nvSpPr>
        <p:spPr>
          <a:xfrm>
            <a:off x="1315365" y="3544215"/>
            <a:ext cx="113842" cy="113843"/>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74" name="Google Shape;374;g3e955750272_3_341"/>
          <p:cNvSpPr/>
          <p:nvPr/>
        </p:nvSpPr>
        <p:spPr>
          <a:xfrm>
            <a:off x="1515618" y="3544215"/>
            <a:ext cx="113842" cy="113843"/>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75" name="Google Shape;375;g3e955750272_3_341"/>
          <p:cNvSpPr/>
          <p:nvPr/>
        </p:nvSpPr>
        <p:spPr>
          <a:xfrm>
            <a:off x="2057400" y="3372765"/>
            <a:ext cx="7543800" cy="4567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policyrec.app  ·  문장형 검색</a:t>
            </a:r>
            <a:endParaRPr b="0" i="0" sz="1400" u="none" cap="none" strike="noStrike">
              <a:solidFill>
                <a:schemeClr val="dk1"/>
              </a:solidFill>
              <a:latin typeface="Calibri"/>
              <a:ea typeface="Calibri"/>
              <a:cs typeface="Calibri"/>
              <a:sym typeface="Calibri"/>
            </a:endParaRPr>
          </a:p>
        </p:txBody>
      </p:sp>
      <p:sp>
        <p:nvSpPr>
          <p:cNvPr id="376" name="Google Shape;376;g3e955750272_3_341"/>
          <p:cNvSpPr/>
          <p:nvPr/>
        </p:nvSpPr>
        <p:spPr>
          <a:xfrm>
            <a:off x="5429478" y="5144871"/>
            <a:ext cx="799643" cy="79964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77" name="Google Shape;377;g3e955750272_3_341"/>
          <p:cNvSpPr/>
          <p:nvPr/>
        </p:nvSpPr>
        <p:spPr>
          <a:xfrm>
            <a:off x="5429478" y="5144871"/>
            <a:ext cx="799643" cy="7996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378" name="Google Shape;378;g3e955750272_3_341"/>
          <p:cNvSpPr/>
          <p:nvPr/>
        </p:nvSpPr>
        <p:spPr>
          <a:xfrm>
            <a:off x="914857" y="6058358"/>
            <a:ext cx="983025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실제 시연 또는 캡처 영역</a:t>
            </a:r>
            <a:endParaRPr b="0" i="0" sz="2100" u="none" cap="none" strike="noStrike">
              <a:solidFill>
                <a:schemeClr val="dk1"/>
              </a:solidFill>
              <a:latin typeface="Calibri"/>
              <a:ea typeface="Calibri"/>
              <a:cs typeface="Calibri"/>
              <a:sym typeface="Calibri"/>
            </a:endParaRPr>
          </a:p>
        </p:txBody>
      </p:sp>
      <p:sp>
        <p:nvSpPr>
          <p:cNvPr id="379" name="Google Shape;379;g3e955750272_3_341"/>
          <p:cNvSpPr/>
          <p:nvPr/>
        </p:nvSpPr>
        <p:spPr>
          <a:xfrm>
            <a:off x="914857" y="6458865"/>
            <a:ext cx="9830258"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문장형 검색 흐름의 실제 화면이 이 영역에 표시됩니다.</a:t>
            </a:r>
            <a:endParaRPr b="0" i="0" sz="1700" u="none" cap="none" strike="noStrike">
              <a:solidFill>
                <a:schemeClr val="dk1"/>
              </a:solidFill>
              <a:latin typeface="Calibri"/>
              <a:ea typeface="Calibri"/>
              <a:cs typeface="Calibri"/>
              <a:sym typeface="Calibri"/>
            </a:endParaRPr>
          </a:p>
        </p:txBody>
      </p:sp>
      <p:sp>
        <p:nvSpPr>
          <p:cNvPr id="380" name="Google Shape;380;g3e955750272_3_341"/>
          <p:cNvSpPr/>
          <p:nvPr/>
        </p:nvSpPr>
        <p:spPr>
          <a:xfrm>
            <a:off x="11201858" y="3372765"/>
            <a:ext cx="1714500" cy="314097"/>
          </a:xfrm>
          <a:prstGeom prst="roundRect">
            <a:avLst>
              <a:gd fmla="val 17467" name="adj"/>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81" name="Google Shape;381;g3e955750272_3_341"/>
          <p:cNvSpPr/>
          <p:nvPr/>
        </p:nvSpPr>
        <p:spPr>
          <a:xfrm>
            <a:off x="11201858" y="3372765"/>
            <a:ext cx="1714500"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비로그인 흐름</a:t>
            </a:r>
            <a:endParaRPr b="0" i="0" sz="1400" u="none" cap="none" strike="noStrike">
              <a:solidFill>
                <a:schemeClr val="dk1"/>
              </a:solidFill>
              <a:latin typeface="Calibri"/>
              <a:ea typeface="Calibri"/>
              <a:cs typeface="Calibri"/>
              <a:sym typeface="Calibri"/>
            </a:endParaRPr>
          </a:p>
        </p:txBody>
      </p:sp>
      <p:sp>
        <p:nvSpPr>
          <p:cNvPr id="382" name="Google Shape;382;g3e955750272_3_341"/>
          <p:cNvSpPr/>
          <p:nvPr/>
        </p:nvSpPr>
        <p:spPr>
          <a:xfrm>
            <a:off x="13087808" y="3372765"/>
            <a:ext cx="4286250"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03</a:t>
            </a:r>
            <a:endParaRPr b="0" i="0" sz="1400" u="none" cap="none" strike="noStrike">
              <a:solidFill>
                <a:schemeClr val="dk1"/>
              </a:solidFill>
              <a:latin typeface="Calibri"/>
              <a:ea typeface="Calibri"/>
              <a:cs typeface="Calibri"/>
              <a:sym typeface="Calibri"/>
            </a:endParaRPr>
          </a:p>
        </p:txBody>
      </p:sp>
      <p:sp>
        <p:nvSpPr>
          <p:cNvPr id="383" name="Google Shape;383;g3e955750272_3_341"/>
          <p:cNvSpPr/>
          <p:nvPr/>
        </p:nvSpPr>
        <p:spPr>
          <a:xfrm>
            <a:off x="11201858" y="42300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보여줄 포인트</a:t>
            </a:r>
            <a:endParaRPr b="0" i="0" sz="1700" u="none" cap="none" strike="noStrike">
              <a:solidFill>
                <a:schemeClr val="dk1"/>
              </a:solidFill>
              <a:latin typeface="Calibri"/>
              <a:ea typeface="Calibri"/>
              <a:cs typeface="Calibri"/>
              <a:sym typeface="Calibri"/>
            </a:endParaRPr>
          </a:p>
        </p:txBody>
      </p:sp>
      <p:sp>
        <p:nvSpPr>
          <p:cNvPr id="384" name="Google Shape;384;g3e955750272_3_341"/>
          <p:cNvSpPr/>
          <p:nvPr/>
        </p:nvSpPr>
        <p:spPr>
          <a:xfrm>
            <a:off x="11201858" y="4630521"/>
            <a:ext cx="42519" cy="68580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85" name="Google Shape;385;g3e955750272_3_341"/>
          <p:cNvSpPr/>
          <p:nvPr/>
        </p:nvSpPr>
        <p:spPr>
          <a:xfrm>
            <a:off x="11402111" y="4630521"/>
            <a:ext cx="5971947"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예시: `부산에서 전세피해 지원받을 수 있을까`</a:t>
            </a:r>
            <a:endParaRPr b="0" i="0" sz="1800" u="none" cap="none" strike="noStrike">
              <a:solidFill>
                <a:schemeClr val="dk1"/>
              </a:solidFill>
              <a:latin typeface="Calibri"/>
              <a:ea typeface="Calibri"/>
              <a:cs typeface="Calibri"/>
              <a:sym typeface="Calibri"/>
            </a:endParaRPr>
          </a:p>
        </p:txBody>
      </p:sp>
      <p:sp>
        <p:nvSpPr>
          <p:cNvPr id="386" name="Google Shape;386;g3e955750272_3_341"/>
          <p:cNvSpPr/>
          <p:nvPr/>
        </p:nvSpPr>
        <p:spPr>
          <a:xfrm>
            <a:off x="11201858" y="5487771"/>
            <a:ext cx="42519" cy="68580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87" name="Google Shape;387;g3e955750272_3_341"/>
          <p:cNvSpPr/>
          <p:nvPr/>
        </p:nvSpPr>
        <p:spPr>
          <a:xfrm>
            <a:off x="11402111" y="5487771"/>
            <a:ext cx="5971947"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문장 → embedding → 의미 유사도 기반 관련 공고</a:t>
            </a:r>
            <a:endParaRPr b="0" i="0" sz="1800" u="none" cap="none" strike="noStrike">
              <a:solidFill>
                <a:schemeClr val="dk1"/>
              </a:solidFill>
              <a:latin typeface="Calibri"/>
              <a:ea typeface="Calibri"/>
              <a:cs typeface="Calibri"/>
              <a:sym typeface="Calibri"/>
            </a:endParaRPr>
          </a:p>
        </p:txBody>
      </p:sp>
      <p:sp>
        <p:nvSpPr>
          <p:cNvPr id="388" name="Google Shape;388;g3e955750272_3_341"/>
          <p:cNvSpPr/>
          <p:nvPr/>
        </p:nvSpPr>
        <p:spPr>
          <a:xfrm>
            <a:off x="11201858" y="6772960"/>
            <a:ext cx="617220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89" name="Google Shape;389;g3e955750272_3_341"/>
          <p:cNvSpPr/>
          <p:nvPr/>
        </p:nvSpPr>
        <p:spPr>
          <a:xfrm>
            <a:off x="11430915" y="6944411"/>
            <a:ext cx="57154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이 화면을 보여주는 이유</a:t>
            </a:r>
            <a:endParaRPr b="0" i="0" sz="1500" u="none" cap="none" strike="noStrike">
              <a:solidFill>
                <a:schemeClr val="dk1"/>
              </a:solidFill>
              <a:latin typeface="Calibri"/>
              <a:ea typeface="Calibri"/>
              <a:cs typeface="Calibri"/>
              <a:sym typeface="Calibri"/>
            </a:endParaRPr>
          </a:p>
        </p:txBody>
      </p:sp>
      <p:sp>
        <p:nvSpPr>
          <p:cNvPr id="390" name="Google Shape;390;g3e955750272_3_341"/>
          <p:cNvSpPr/>
          <p:nvPr/>
        </p:nvSpPr>
        <p:spPr>
          <a:xfrm>
            <a:off x="11430915" y="7229703"/>
            <a:ext cx="571545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공고명 / 키워드를 모를 때의 진입점</a:t>
            </a:r>
            <a:endParaRPr b="0" i="0" sz="2000" u="none" cap="none" strike="noStrike">
              <a:solidFill>
                <a:schemeClr val="dk1"/>
              </a:solidFill>
              <a:latin typeface="Calibri"/>
              <a:ea typeface="Calibri"/>
              <a:cs typeface="Calibri"/>
              <a:sym typeface="Calibri"/>
            </a:endParaRPr>
          </a:p>
        </p:txBody>
      </p:sp>
      <p:pic>
        <p:nvPicPr>
          <p:cNvPr id="391" name="Google Shape;391;g3e955750272_3_341"/>
          <p:cNvPicPr preferRelativeResize="0"/>
          <p:nvPr/>
        </p:nvPicPr>
        <p:blipFill rotWithShape="1">
          <a:blip r:embed="rId3">
            <a:alphaModFix/>
          </a:blip>
          <a:srcRect b="0" l="0" r="0" t="0"/>
          <a:stretch/>
        </p:blipFill>
        <p:spPr>
          <a:xfrm>
            <a:off x="1115100" y="3952761"/>
            <a:ext cx="9484802" cy="4367627"/>
          </a:xfrm>
          <a:prstGeom prst="rect">
            <a:avLst/>
          </a:prstGeom>
          <a:solidFill>
            <a:srgbClr val="F6F7F9"/>
          </a:solidFill>
          <a:ln cap="flat" cmpd="sng" w="9525">
            <a:solidFill>
              <a:srgbClr val="E5E7EB"/>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g3e955750272_3_374"/>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398" name="Google Shape;398;g3e955750272_3_374"/>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399" name="Google Shape;399;g3e955750272_3_374"/>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챗봇 — 검색 결과 기반 답변 + 후속 질문</a:t>
            </a:r>
            <a:endParaRPr b="0" i="0" sz="4200" u="none" cap="none" strike="noStrike">
              <a:solidFill>
                <a:schemeClr val="dk1"/>
              </a:solidFill>
              <a:latin typeface="Calibri"/>
              <a:ea typeface="Calibri"/>
              <a:cs typeface="Calibri"/>
              <a:sym typeface="Calibri"/>
            </a:endParaRPr>
          </a:p>
        </p:txBody>
      </p:sp>
      <p:sp>
        <p:nvSpPr>
          <p:cNvPr id="400" name="Google Shape;400;g3e955750272_3_374"/>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현재 질문으로 관련 공고를 찾고, 검색 결과를 바탕으로 Gemini가 답변을 생성합니다.</a:t>
            </a:r>
            <a:endParaRPr b="0" i="0" sz="2000" u="none" cap="none" strike="noStrike">
              <a:solidFill>
                <a:schemeClr val="dk1"/>
              </a:solidFill>
              <a:latin typeface="Calibri"/>
              <a:ea typeface="Calibri"/>
              <a:cs typeface="Calibri"/>
              <a:sym typeface="Calibri"/>
            </a:endParaRPr>
          </a:p>
        </p:txBody>
      </p:sp>
      <p:sp>
        <p:nvSpPr>
          <p:cNvPr id="401" name="Google Shape;401;g3e955750272_3_374"/>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02" name="Google Shape;402;g3e955750272_3_374"/>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챗봇</a:t>
            </a:r>
            <a:endParaRPr b="0" i="0" sz="1400" u="none" cap="none" strike="noStrike">
              <a:solidFill>
                <a:schemeClr val="dk1"/>
              </a:solidFill>
              <a:latin typeface="Calibri"/>
              <a:ea typeface="Calibri"/>
              <a:cs typeface="Calibri"/>
              <a:sym typeface="Calibri"/>
            </a:endParaRPr>
          </a:p>
        </p:txBody>
      </p:sp>
      <p:sp>
        <p:nvSpPr>
          <p:cNvPr id="403" name="Google Shape;403;g3e955750272_3_374"/>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09 / 23</a:t>
            </a:r>
            <a:endParaRPr b="0" i="0" sz="1400" u="none" cap="none" strike="noStrike">
              <a:solidFill>
                <a:schemeClr val="dk1"/>
              </a:solidFill>
              <a:latin typeface="Calibri"/>
              <a:ea typeface="Calibri"/>
              <a:cs typeface="Calibri"/>
              <a:sym typeface="Calibri"/>
            </a:endParaRPr>
          </a:p>
        </p:txBody>
      </p:sp>
      <p:sp>
        <p:nvSpPr>
          <p:cNvPr id="404" name="Google Shape;404;g3e955750272_3_374"/>
          <p:cNvSpPr/>
          <p:nvPr/>
        </p:nvSpPr>
        <p:spPr>
          <a:xfrm>
            <a:off x="914857" y="3372765"/>
            <a:ext cx="9830258" cy="51435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05" name="Google Shape;405;g3e955750272_3_374"/>
          <p:cNvSpPr/>
          <p:nvPr/>
        </p:nvSpPr>
        <p:spPr>
          <a:xfrm>
            <a:off x="914857" y="3372765"/>
            <a:ext cx="9830258" cy="456743"/>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06" name="Google Shape;406;g3e955750272_3_374"/>
          <p:cNvSpPr/>
          <p:nvPr/>
        </p:nvSpPr>
        <p:spPr>
          <a:xfrm>
            <a:off x="1115111" y="3544215"/>
            <a:ext cx="113842" cy="113843"/>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07" name="Google Shape;407;g3e955750272_3_374"/>
          <p:cNvSpPr/>
          <p:nvPr/>
        </p:nvSpPr>
        <p:spPr>
          <a:xfrm>
            <a:off x="1315365" y="3544215"/>
            <a:ext cx="113842" cy="113843"/>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08" name="Google Shape;408;g3e955750272_3_374"/>
          <p:cNvSpPr/>
          <p:nvPr/>
        </p:nvSpPr>
        <p:spPr>
          <a:xfrm>
            <a:off x="1515618" y="3544215"/>
            <a:ext cx="113842" cy="113843"/>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09" name="Google Shape;409;g3e955750272_3_374"/>
          <p:cNvSpPr/>
          <p:nvPr/>
        </p:nvSpPr>
        <p:spPr>
          <a:xfrm>
            <a:off x="2057400" y="3372765"/>
            <a:ext cx="7543800" cy="4567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policyrec.app  ·  챗봇</a:t>
            </a:r>
            <a:endParaRPr b="0" i="0" sz="1400" u="none" cap="none" strike="noStrike">
              <a:solidFill>
                <a:schemeClr val="dk1"/>
              </a:solidFill>
              <a:latin typeface="Calibri"/>
              <a:ea typeface="Calibri"/>
              <a:cs typeface="Calibri"/>
              <a:sym typeface="Calibri"/>
            </a:endParaRPr>
          </a:p>
        </p:txBody>
      </p:sp>
      <p:sp>
        <p:nvSpPr>
          <p:cNvPr id="410" name="Google Shape;410;g3e955750272_3_374"/>
          <p:cNvSpPr/>
          <p:nvPr/>
        </p:nvSpPr>
        <p:spPr>
          <a:xfrm>
            <a:off x="5429478" y="5144871"/>
            <a:ext cx="799643" cy="79964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11" name="Google Shape;411;g3e955750272_3_374"/>
          <p:cNvSpPr/>
          <p:nvPr/>
        </p:nvSpPr>
        <p:spPr>
          <a:xfrm>
            <a:off x="5429478" y="5144871"/>
            <a:ext cx="799643" cy="7996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412" name="Google Shape;412;g3e955750272_3_374"/>
          <p:cNvSpPr/>
          <p:nvPr/>
        </p:nvSpPr>
        <p:spPr>
          <a:xfrm>
            <a:off x="914857" y="6058358"/>
            <a:ext cx="983025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실제 시연 또는 캡처 영역</a:t>
            </a:r>
            <a:endParaRPr b="0" i="0" sz="2100" u="none" cap="none" strike="noStrike">
              <a:solidFill>
                <a:schemeClr val="dk1"/>
              </a:solidFill>
              <a:latin typeface="Calibri"/>
              <a:ea typeface="Calibri"/>
              <a:cs typeface="Calibri"/>
              <a:sym typeface="Calibri"/>
            </a:endParaRPr>
          </a:p>
        </p:txBody>
      </p:sp>
      <p:sp>
        <p:nvSpPr>
          <p:cNvPr id="413" name="Google Shape;413;g3e955750272_3_374"/>
          <p:cNvSpPr/>
          <p:nvPr/>
        </p:nvSpPr>
        <p:spPr>
          <a:xfrm>
            <a:off x="914857" y="6458865"/>
            <a:ext cx="9830258"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챗봇 흐름의 실제 화면이 이 영역에 표시됩니다.</a:t>
            </a:r>
            <a:endParaRPr b="0" i="0" sz="1700" u="none" cap="none" strike="noStrike">
              <a:solidFill>
                <a:schemeClr val="dk1"/>
              </a:solidFill>
              <a:latin typeface="Calibri"/>
              <a:ea typeface="Calibri"/>
              <a:cs typeface="Calibri"/>
              <a:sym typeface="Calibri"/>
            </a:endParaRPr>
          </a:p>
        </p:txBody>
      </p:sp>
      <p:sp>
        <p:nvSpPr>
          <p:cNvPr id="414" name="Google Shape;414;g3e955750272_3_374"/>
          <p:cNvSpPr/>
          <p:nvPr/>
        </p:nvSpPr>
        <p:spPr>
          <a:xfrm>
            <a:off x="11201858" y="3372765"/>
            <a:ext cx="1714500" cy="314097"/>
          </a:xfrm>
          <a:prstGeom prst="roundRect">
            <a:avLst>
              <a:gd fmla="val 17467" name="adj"/>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15" name="Google Shape;415;g3e955750272_3_374"/>
          <p:cNvSpPr/>
          <p:nvPr/>
        </p:nvSpPr>
        <p:spPr>
          <a:xfrm>
            <a:off x="11201858" y="3372765"/>
            <a:ext cx="1714500"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비로그인 흐름</a:t>
            </a:r>
            <a:endParaRPr b="0" i="0" sz="1400" u="none" cap="none" strike="noStrike">
              <a:solidFill>
                <a:schemeClr val="dk1"/>
              </a:solidFill>
              <a:latin typeface="Calibri"/>
              <a:ea typeface="Calibri"/>
              <a:cs typeface="Calibri"/>
              <a:sym typeface="Calibri"/>
            </a:endParaRPr>
          </a:p>
        </p:txBody>
      </p:sp>
      <p:sp>
        <p:nvSpPr>
          <p:cNvPr id="416" name="Google Shape;416;g3e955750272_3_374"/>
          <p:cNvSpPr/>
          <p:nvPr/>
        </p:nvSpPr>
        <p:spPr>
          <a:xfrm>
            <a:off x="13087808" y="3372765"/>
            <a:ext cx="4286250"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04</a:t>
            </a:r>
            <a:endParaRPr b="0" i="0" sz="1400" u="none" cap="none" strike="noStrike">
              <a:solidFill>
                <a:schemeClr val="dk1"/>
              </a:solidFill>
              <a:latin typeface="Calibri"/>
              <a:ea typeface="Calibri"/>
              <a:cs typeface="Calibri"/>
              <a:sym typeface="Calibri"/>
            </a:endParaRPr>
          </a:p>
        </p:txBody>
      </p:sp>
      <p:sp>
        <p:nvSpPr>
          <p:cNvPr id="417" name="Google Shape;417;g3e955750272_3_374"/>
          <p:cNvSpPr/>
          <p:nvPr/>
        </p:nvSpPr>
        <p:spPr>
          <a:xfrm>
            <a:off x="11201858" y="42300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보여줄 포인트</a:t>
            </a:r>
            <a:endParaRPr b="0" i="0" sz="1700" u="none" cap="none" strike="noStrike">
              <a:solidFill>
                <a:schemeClr val="dk1"/>
              </a:solidFill>
              <a:latin typeface="Calibri"/>
              <a:ea typeface="Calibri"/>
              <a:cs typeface="Calibri"/>
              <a:sym typeface="Calibri"/>
            </a:endParaRPr>
          </a:p>
        </p:txBody>
      </p:sp>
      <p:sp>
        <p:nvSpPr>
          <p:cNvPr id="418" name="Google Shape;418;g3e955750272_3_374"/>
          <p:cNvSpPr/>
          <p:nvPr/>
        </p:nvSpPr>
        <p:spPr>
          <a:xfrm>
            <a:off x="11201858" y="46305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19" name="Google Shape;419;g3e955750272_3_374"/>
          <p:cNvSpPr/>
          <p:nvPr/>
        </p:nvSpPr>
        <p:spPr>
          <a:xfrm>
            <a:off x="11402111" y="46305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질문 ①: `부산에서 전세피해 지원받을 수 있을까?`</a:t>
            </a:r>
            <a:endParaRPr b="0" i="0" sz="1800" u="none" cap="none" strike="noStrike">
              <a:solidFill>
                <a:schemeClr val="dk1"/>
              </a:solidFill>
              <a:latin typeface="Calibri"/>
              <a:ea typeface="Calibri"/>
              <a:cs typeface="Calibri"/>
              <a:sym typeface="Calibri"/>
            </a:endParaRPr>
          </a:p>
        </p:txBody>
      </p:sp>
      <p:sp>
        <p:nvSpPr>
          <p:cNvPr id="420" name="Google Shape;420;g3e955750272_3_374"/>
          <p:cNvSpPr/>
          <p:nvPr/>
        </p:nvSpPr>
        <p:spPr>
          <a:xfrm>
            <a:off x="11201858" y="53163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21" name="Google Shape;421;g3e955750272_3_374"/>
          <p:cNvSpPr/>
          <p:nvPr/>
        </p:nvSpPr>
        <p:spPr>
          <a:xfrm>
            <a:off x="11402111" y="53163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응답: 관련 공고 카드 + Gemini 요약 설명</a:t>
            </a:r>
            <a:endParaRPr b="0" i="0" sz="1800" u="none" cap="none" strike="noStrike">
              <a:solidFill>
                <a:schemeClr val="dk1"/>
              </a:solidFill>
              <a:latin typeface="Calibri"/>
              <a:ea typeface="Calibri"/>
              <a:cs typeface="Calibri"/>
              <a:sym typeface="Calibri"/>
            </a:endParaRPr>
          </a:p>
        </p:txBody>
      </p:sp>
      <p:sp>
        <p:nvSpPr>
          <p:cNvPr id="422" name="Google Shape;422;g3e955750272_3_374"/>
          <p:cNvSpPr/>
          <p:nvPr/>
        </p:nvSpPr>
        <p:spPr>
          <a:xfrm>
            <a:off x="11201858" y="6002121"/>
            <a:ext cx="42519" cy="5719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23" name="Google Shape;423;g3e955750272_3_374"/>
          <p:cNvSpPr/>
          <p:nvPr/>
        </p:nvSpPr>
        <p:spPr>
          <a:xfrm>
            <a:off x="11402111" y="6002121"/>
            <a:ext cx="5971947" cy="5719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후속 질문 ②: `부산 전세피해 임차인 주거안정지원금 지원은 어떤 내용이야?`</a:t>
            </a:r>
            <a:endParaRPr b="0" i="0" sz="1800" u="none" cap="none" strike="noStrike">
              <a:solidFill>
                <a:schemeClr val="dk1"/>
              </a:solidFill>
              <a:latin typeface="Calibri"/>
              <a:ea typeface="Calibri"/>
              <a:cs typeface="Calibri"/>
              <a:sym typeface="Calibri"/>
            </a:endParaRPr>
          </a:p>
        </p:txBody>
      </p:sp>
      <p:sp>
        <p:nvSpPr>
          <p:cNvPr id="424" name="Google Shape;424;g3e955750272_3_374"/>
          <p:cNvSpPr/>
          <p:nvPr/>
        </p:nvSpPr>
        <p:spPr>
          <a:xfrm>
            <a:off x="11201858" y="6772960"/>
            <a:ext cx="617220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25" name="Google Shape;425;g3e955750272_3_374"/>
          <p:cNvSpPr/>
          <p:nvPr/>
        </p:nvSpPr>
        <p:spPr>
          <a:xfrm>
            <a:off x="11430915" y="6944411"/>
            <a:ext cx="57154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이 화면을 보여주는 이유</a:t>
            </a:r>
            <a:endParaRPr b="0" i="0" sz="1500" u="none" cap="none" strike="noStrike">
              <a:solidFill>
                <a:schemeClr val="dk1"/>
              </a:solidFill>
              <a:latin typeface="Calibri"/>
              <a:ea typeface="Calibri"/>
              <a:cs typeface="Calibri"/>
              <a:sym typeface="Calibri"/>
            </a:endParaRPr>
          </a:p>
        </p:txBody>
      </p:sp>
      <p:sp>
        <p:nvSpPr>
          <p:cNvPr id="426" name="Google Shape;426;g3e955750272_3_374"/>
          <p:cNvSpPr/>
          <p:nvPr/>
        </p:nvSpPr>
        <p:spPr>
          <a:xfrm>
            <a:off x="11430915" y="7229703"/>
            <a:ext cx="571545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단일 답변이 아니라 후속 질문으로 세부까지 확인</a:t>
            </a:r>
            <a:endParaRPr b="0" i="0" sz="2000" u="none" cap="none" strike="noStrike">
              <a:solidFill>
                <a:schemeClr val="dk1"/>
              </a:solidFill>
              <a:latin typeface="Calibri"/>
              <a:ea typeface="Calibri"/>
              <a:cs typeface="Calibri"/>
              <a:sym typeface="Calibri"/>
            </a:endParaRPr>
          </a:p>
        </p:txBody>
      </p:sp>
      <p:pic>
        <p:nvPicPr>
          <p:cNvPr id="427" name="Google Shape;427;g3e955750272_3_374"/>
          <p:cNvPicPr preferRelativeResize="0"/>
          <p:nvPr/>
        </p:nvPicPr>
        <p:blipFill rotWithShape="1">
          <a:blip r:embed="rId3">
            <a:alphaModFix/>
          </a:blip>
          <a:srcRect b="0" l="0" r="0" t="0"/>
          <a:stretch/>
        </p:blipFill>
        <p:spPr>
          <a:xfrm>
            <a:off x="4354761" y="3933079"/>
            <a:ext cx="2949075" cy="43767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sp>
        <p:nvSpPr>
          <p:cNvPr id="433" name="Google Shape;433;g3e955750272_3_409"/>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34" name="Google Shape;434;g3e955750272_3_409"/>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435" name="Google Shape;435;g3e955750272_3_409"/>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조건검색 — 알고 있는 조건으로 좁히기</a:t>
            </a:r>
            <a:endParaRPr b="0" i="0" sz="4200" u="none" cap="none" strike="noStrike">
              <a:solidFill>
                <a:schemeClr val="dk1"/>
              </a:solidFill>
              <a:latin typeface="Calibri"/>
              <a:ea typeface="Calibri"/>
              <a:cs typeface="Calibri"/>
              <a:sym typeface="Calibri"/>
            </a:endParaRPr>
          </a:p>
        </p:txBody>
      </p:sp>
      <p:sp>
        <p:nvSpPr>
          <p:cNvPr id="436" name="Google Shape;436;g3e955750272_3_409"/>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검색어 없이 분야 · 대상 · 지역 조건만으로 후보를 좁힙니다.</a:t>
            </a:r>
            <a:endParaRPr b="0" i="0" sz="2000" u="none" cap="none" strike="noStrike">
              <a:solidFill>
                <a:schemeClr val="dk1"/>
              </a:solidFill>
              <a:latin typeface="Calibri"/>
              <a:ea typeface="Calibri"/>
              <a:cs typeface="Calibri"/>
              <a:sym typeface="Calibri"/>
            </a:endParaRPr>
          </a:p>
        </p:txBody>
      </p:sp>
      <p:sp>
        <p:nvSpPr>
          <p:cNvPr id="437" name="Google Shape;437;g3e955750272_3_409"/>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38" name="Google Shape;438;g3e955750272_3_409"/>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조건검색</a:t>
            </a:r>
            <a:endParaRPr b="0" i="0" sz="1400" u="none" cap="none" strike="noStrike">
              <a:solidFill>
                <a:schemeClr val="dk1"/>
              </a:solidFill>
              <a:latin typeface="Calibri"/>
              <a:ea typeface="Calibri"/>
              <a:cs typeface="Calibri"/>
              <a:sym typeface="Calibri"/>
            </a:endParaRPr>
          </a:p>
        </p:txBody>
      </p:sp>
      <p:sp>
        <p:nvSpPr>
          <p:cNvPr id="439" name="Google Shape;439;g3e955750272_3_409"/>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10 / 23</a:t>
            </a:r>
            <a:endParaRPr b="0" i="0" sz="1400" u="none" cap="none" strike="noStrike">
              <a:solidFill>
                <a:schemeClr val="dk1"/>
              </a:solidFill>
              <a:latin typeface="Calibri"/>
              <a:ea typeface="Calibri"/>
              <a:cs typeface="Calibri"/>
              <a:sym typeface="Calibri"/>
            </a:endParaRPr>
          </a:p>
        </p:txBody>
      </p:sp>
      <p:sp>
        <p:nvSpPr>
          <p:cNvPr id="440" name="Google Shape;440;g3e955750272_3_409"/>
          <p:cNvSpPr/>
          <p:nvPr/>
        </p:nvSpPr>
        <p:spPr>
          <a:xfrm>
            <a:off x="914857" y="3372765"/>
            <a:ext cx="9830258" cy="51435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41" name="Google Shape;441;g3e955750272_3_409"/>
          <p:cNvSpPr/>
          <p:nvPr/>
        </p:nvSpPr>
        <p:spPr>
          <a:xfrm>
            <a:off x="914857" y="3372765"/>
            <a:ext cx="9830258" cy="456743"/>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42" name="Google Shape;442;g3e955750272_3_409"/>
          <p:cNvSpPr/>
          <p:nvPr/>
        </p:nvSpPr>
        <p:spPr>
          <a:xfrm>
            <a:off x="1115111" y="3544215"/>
            <a:ext cx="113842" cy="113843"/>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43" name="Google Shape;443;g3e955750272_3_409"/>
          <p:cNvSpPr/>
          <p:nvPr/>
        </p:nvSpPr>
        <p:spPr>
          <a:xfrm>
            <a:off x="1315365" y="3544215"/>
            <a:ext cx="113842" cy="113843"/>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44" name="Google Shape;444;g3e955750272_3_409"/>
          <p:cNvSpPr/>
          <p:nvPr/>
        </p:nvSpPr>
        <p:spPr>
          <a:xfrm>
            <a:off x="1515618" y="3544215"/>
            <a:ext cx="113842" cy="113843"/>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45" name="Google Shape;445;g3e955750272_3_409"/>
          <p:cNvSpPr/>
          <p:nvPr/>
        </p:nvSpPr>
        <p:spPr>
          <a:xfrm>
            <a:off x="2057400" y="3372765"/>
            <a:ext cx="7543800" cy="4567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policyrec.app  ·  조건검색</a:t>
            </a:r>
            <a:endParaRPr b="0" i="0" sz="1400" u="none" cap="none" strike="noStrike">
              <a:solidFill>
                <a:schemeClr val="dk1"/>
              </a:solidFill>
              <a:latin typeface="Calibri"/>
              <a:ea typeface="Calibri"/>
              <a:cs typeface="Calibri"/>
              <a:sym typeface="Calibri"/>
            </a:endParaRPr>
          </a:p>
        </p:txBody>
      </p:sp>
      <p:sp>
        <p:nvSpPr>
          <p:cNvPr id="446" name="Google Shape;446;g3e955750272_3_409"/>
          <p:cNvSpPr/>
          <p:nvPr/>
        </p:nvSpPr>
        <p:spPr>
          <a:xfrm>
            <a:off x="5429478" y="5144871"/>
            <a:ext cx="799643" cy="79964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47" name="Google Shape;447;g3e955750272_3_409"/>
          <p:cNvSpPr/>
          <p:nvPr/>
        </p:nvSpPr>
        <p:spPr>
          <a:xfrm>
            <a:off x="5429478" y="5144871"/>
            <a:ext cx="799643" cy="7996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448" name="Google Shape;448;g3e955750272_3_409"/>
          <p:cNvSpPr/>
          <p:nvPr/>
        </p:nvSpPr>
        <p:spPr>
          <a:xfrm>
            <a:off x="914857" y="6058358"/>
            <a:ext cx="983025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실제 시연 또는 캡처 영역</a:t>
            </a:r>
            <a:endParaRPr b="0" i="0" sz="2100" u="none" cap="none" strike="noStrike">
              <a:solidFill>
                <a:schemeClr val="dk1"/>
              </a:solidFill>
              <a:latin typeface="Calibri"/>
              <a:ea typeface="Calibri"/>
              <a:cs typeface="Calibri"/>
              <a:sym typeface="Calibri"/>
            </a:endParaRPr>
          </a:p>
        </p:txBody>
      </p:sp>
      <p:sp>
        <p:nvSpPr>
          <p:cNvPr id="449" name="Google Shape;449;g3e955750272_3_409"/>
          <p:cNvSpPr/>
          <p:nvPr/>
        </p:nvSpPr>
        <p:spPr>
          <a:xfrm>
            <a:off x="914857" y="6458865"/>
            <a:ext cx="9830258"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조건검색 흐름의 실제 화면이 이 영역에 표시됩니다.</a:t>
            </a:r>
            <a:endParaRPr b="0" i="0" sz="1700" u="none" cap="none" strike="noStrike">
              <a:solidFill>
                <a:schemeClr val="dk1"/>
              </a:solidFill>
              <a:latin typeface="Calibri"/>
              <a:ea typeface="Calibri"/>
              <a:cs typeface="Calibri"/>
              <a:sym typeface="Calibri"/>
            </a:endParaRPr>
          </a:p>
        </p:txBody>
      </p:sp>
      <p:sp>
        <p:nvSpPr>
          <p:cNvPr id="450" name="Google Shape;450;g3e955750272_3_409"/>
          <p:cNvSpPr/>
          <p:nvPr/>
        </p:nvSpPr>
        <p:spPr>
          <a:xfrm>
            <a:off x="11201858" y="3372765"/>
            <a:ext cx="1714500" cy="314097"/>
          </a:xfrm>
          <a:prstGeom prst="roundRect">
            <a:avLst>
              <a:gd fmla="val 17467" name="adj"/>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51" name="Google Shape;451;g3e955750272_3_409"/>
          <p:cNvSpPr/>
          <p:nvPr/>
        </p:nvSpPr>
        <p:spPr>
          <a:xfrm>
            <a:off x="11201858" y="3372765"/>
            <a:ext cx="1714500"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비로그인 흐름</a:t>
            </a:r>
            <a:endParaRPr b="0" i="0" sz="1400" u="none" cap="none" strike="noStrike">
              <a:solidFill>
                <a:schemeClr val="dk1"/>
              </a:solidFill>
              <a:latin typeface="Calibri"/>
              <a:ea typeface="Calibri"/>
              <a:cs typeface="Calibri"/>
              <a:sym typeface="Calibri"/>
            </a:endParaRPr>
          </a:p>
        </p:txBody>
      </p:sp>
      <p:sp>
        <p:nvSpPr>
          <p:cNvPr id="452" name="Google Shape;452;g3e955750272_3_409"/>
          <p:cNvSpPr/>
          <p:nvPr/>
        </p:nvSpPr>
        <p:spPr>
          <a:xfrm>
            <a:off x="13087808" y="3372765"/>
            <a:ext cx="4286250"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05</a:t>
            </a:r>
            <a:endParaRPr b="0" i="0" sz="1400" u="none" cap="none" strike="noStrike">
              <a:solidFill>
                <a:schemeClr val="dk1"/>
              </a:solidFill>
              <a:latin typeface="Calibri"/>
              <a:ea typeface="Calibri"/>
              <a:cs typeface="Calibri"/>
              <a:sym typeface="Calibri"/>
            </a:endParaRPr>
          </a:p>
        </p:txBody>
      </p:sp>
      <p:sp>
        <p:nvSpPr>
          <p:cNvPr id="453" name="Google Shape;453;g3e955750272_3_409"/>
          <p:cNvSpPr/>
          <p:nvPr/>
        </p:nvSpPr>
        <p:spPr>
          <a:xfrm>
            <a:off x="11201858" y="42300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보여줄 포인트</a:t>
            </a:r>
            <a:endParaRPr b="0" i="0" sz="1700" u="none" cap="none" strike="noStrike">
              <a:solidFill>
                <a:schemeClr val="dk1"/>
              </a:solidFill>
              <a:latin typeface="Calibri"/>
              <a:ea typeface="Calibri"/>
              <a:cs typeface="Calibri"/>
              <a:sym typeface="Calibri"/>
            </a:endParaRPr>
          </a:p>
        </p:txBody>
      </p:sp>
      <p:sp>
        <p:nvSpPr>
          <p:cNvPr id="454" name="Google Shape;454;g3e955750272_3_409"/>
          <p:cNvSpPr/>
          <p:nvPr/>
        </p:nvSpPr>
        <p:spPr>
          <a:xfrm>
            <a:off x="11201858" y="46305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55" name="Google Shape;455;g3e955750272_3_409"/>
          <p:cNvSpPr/>
          <p:nvPr/>
        </p:nvSpPr>
        <p:spPr>
          <a:xfrm>
            <a:off x="11402111" y="46305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분야 `주거` + 대상 `청년` + 지역 `제주특별자치도`</a:t>
            </a:r>
            <a:endParaRPr b="0" i="0" sz="1800" u="none" cap="none" strike="noStrike">
              <a:solidFill>
                <a:schemeClr val="dk1"/>
              </a:solidFill>
              <a:latin typeface="Calibri"/>
              <a:ea typeface="Calibri"/>
              <a:cs typeface="Calibri"/>
              <a:sym typeface="Calibri"/>
            </a:endParaRPr>
          </a:p>
        </p:txBody>
      </p:sp>
      <p:sp>
        <p:nvSpPr>
          <p:cNvPr id="456" name="Google Shape;456;g3e955750272_3_409"/>
          <p:cNvSpPr/>
          <p:nvPr/>
        </p:nvSpPr>
        <p:spPr>
          <a:xfrm>
            <a:off x="11201858" y="53163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57" name="Google Shape;457;g3e955750272_3_409"/>
          <p:cNvSpPr/>
          <p:nvPr/>
        </p:nvSpPr>
        <p:spPr>
          <a:xfrm>
            <a:off x="11402111" y="53163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모집상태 `모집중`  ·  나이는 선택값(미입력)</a:t>
            </a:r>
            <a:endParaRPr b="0" i="0" sz="1800" u="none" cap="none" strike="noStrike">
              <a:solidFill>
                <a:schemeClr val="dk1"/>
              </a:solidFill>
              <a:latin typeface="Calibri"/>
              <a:ea typeface="Calibri"/>
              <a:cs typeface="Calibri"/>
              <a:sym typeface="Calibri"/>
            </a:endParaRPr>
          </a:p>
        </p:txBody>
      </p:sp>
      <p:sp>
        <p:nvSpPr>
          <p:cNvPr id="458" name="Google Shape;458;g3e955750272_3_409"/>
          <p:cNvSpPr/>
          <p:nvPr/>
        </p:nvSpPr>
        <p:spPr>
          <a:xfrm>
            <a:off x="11201858" y="6002121"/>
            <a:ext cx="42519" cy="5719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59" name="Google Shape;459;g3e955750272_3_409"/>
          <p:cNvSpPr/>
          <p:nvPr/>
        </p:nvSpPr>
        <p:spPr>
          <a:xfrm>
            <a:off x="11402111" y="6002121"/>
            <a:ext cx="5971947" cy="5719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통합검색과 의도적으로 분리한 탐색 모드</a:t>
            </a:r>
            <a:endParaRPr b="0" i="0" sz="1800" u="none" cap="none" strike="noStrike">
              <a:solidFill>
                <a:schemeClr val="dk1"/>
              </a:solidFill>
              <a:latin typeface="Calibri"/>
              <a:ea typeface="Calibri"/>
              <a:cs typeface="Calibri"/>
              <a:sym typeface="Calibri"/>
            </a:endParaRPr>
          </a:p>
        </p:txBody>
      </p:sp>
      <p:sp>
        <p:nvSpPr>
          <p:cNvPr id="460" name="Google Shape;460;g3e955750272_3_409"/>
          <p:cNvSpPr/>
          <p:nvPr/>
        </p:nvSpPr>
        <p:spPr>
          <a:xfrm>
            <a:off x="11201858" y="6772960"/>
            <a:ext cx="617220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61" name="Google Shape;461;g3e955750272_3_409"/>
          <p:cNvSpPr/>
          <p:nvPr/>
        </p:nvSpPr>
        <p:spPr>
          <a:xfrm>
            <a:off x="11430915" y="6944411"/>
            <a:ext cx="57154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이 화면을 보여주는 이유</a:t>
            </a:r>
            <a:endParaRPr b="0" i="0" sz="1500" u="none" cap="none" strike="noStrike">
              <a:solidFill>
                <a:schemeClr val="dk1"/>
              </a:solidFill>
              <a:latin typeface="Calibri"/>
              <a:ea typeface="Calibri"/>
              <a:cs typeface="Calibri"/>
              <a:sym typeface="Calibri"/>
            </a:endParaRPr>
          </a:p>
        </p:txBody>
      </p:sp>
      <p:sp>
        <p:nvSpPr>
          <p:cNvPr id="462" name="Google Shape;462;g3e955750272_3_409"/>
          <p:cNvSpPr/>
          <p:nvPr/>
        </p:nvSpPr>
        <p:spPr>
          <a:xfrm>
            <a:off x="11430915" y="7229703"/>
            <a:ext cx="571545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검색어와 조건을 의도적으로 분리한 탐색 흐름</a:t>
            </a:r>
            <a:endParaRPr b="0" i="0" sz="2000" u="none" cap="none" strike="noStrike">
              <a:solidFill>
                <a:schemeClr val="dk1"/>
              </a:solidFill>
              <a:latin typeface="Calibri"/>
              <a:ea typeface="Calibri"/>
              <a:cs typeface="Calibri"/>
              <a:sym typeface="Calibri"/>
            </a:endParaRPr>
          </a:p>
        </p:txBody>
      </p:sp>
      <p:pic>
        <p:nvPicPr>
          <p:cNvPr id="463" name="Google Shape;463;g3e955750272_3_409"/>
          <p:cNvPicPr preferRelativeResize="0"/>
          <p:nvPr/>
        </p:nvPicPr>
        <p:blipFill rotWithShape="1">
          <a:blip r:embed="rId3">
            <a:alphaModFix/>
          </a:blip>
          <a:srcRect b="0" l="0" r="0" t="0"/>
          <a:stretch/>
        </p:blipFill>
        <p:spPr>
          <a:xfrm>
            <a:off x="971100" y="3858075"/>
            <a:ext cx="9716403" cy="4526786"/>
          </a:xfrm>
          <a:prstGeom prst="rect">
            <a:avLst/>
          </a:prstGeom>
          <a:solidFill>
            <a:srgbClr val="F6F7F9"/>
          </a:solidFill>
          <a:ln cap="flat" cmpd="sng" w="9525">
            <a:solidFill>
              <a:srgbClr val="E5E7EB"/>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 name="Shape 468"/>
        <p:cNvGrpSpPr/>
        <p:nvPr/>
      </p:nvGrpSpPr>
      <p:grpSpPr>
        <a:xfrm>
          <a:off x="0" y="0"/>
          <a:ext cx="0" cy="0"/>
          <a:chOff x="0" y="0"/>
          <a:chExt cx="0" cy="0"/>
        </a:xfrm>
      </p:grpSpPr>
      <p:sp>
        <p:nvSpPr>
          <p:cNvPr id="469" name="Google Shape;469;g3e955750272_3_444"/>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70" name="Google Shape;470;g3e955750272_3_444"/>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471" name="Google Shape;471;g3e955750272_3_444"/>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정렬 — 추천순 / 마감순 / 신규순</a:t>
            </a:r>
            <a:endParaRPr b="0" i="0" sz="4200" u="none" cap="none" strike="noStrike">
              <a:solidFill>
                <a:schemeClr val="dk1"/>
              </a:solidFill>
              <a:latin typeface="Calibri"/>
              <a:ea typeface="Calibri"/>
              <a:cs typeface="Calibri"/>
              <a:sym typeface="Calibri"/>
            </a:endParaRPr>
          </a:p>
        </p:txBody>
      </p:sp>
      <p:sp>
        <p:nvSpPr>
          <p:cNvPr id="472" name="Google Shape;472;g3e955750272_3_444"/>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같은 후보도 사용자 기준에 따라 다르게 봅니다.</a:t>
            </a:r>
            <a:endParaRPr b="0" i="0" sz="2000" u="none" cap="none" strike="noStrike">
              <a:solidFill>
                <a:schemeClr val="dk1"/>
              </a:solidFill>
              <a:latin typeface="Calibri"/>
              <a:ea typeface="Calibri"/>
              <a:cs typeface="Calibri"/>
              <a:sym typeface="Calibri"/>
            </a:endParaRPr>
          </a:p>
        </p:txBody>
      </p:sp>
      <p:sp>
        <p:nvSpPr>
          <p:cNvPr id="473" name="Google Shape;473;g3e955750272_3_444"/>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74" name="Google Shape;474;g3e955750272_3_444"/>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정렬</a:t>
            </a:r>
            <a:endParaRPr b="0" i="0" sz="1400" u="none" cap="none" strike="noStrike">
              <a:solidFill>
                <a:schemeClr val="dk1"/>
              </a:solidFill>
              <a:latin typeface="Calibri"/>
              <a:ea typeface="Calibri"/>
              <a:cs typeface="Calibri"/>
              <a:sym typeface="Calibri"/>
            </a:endParaRPr>
          </a:p>
        </p:txBody>
      </p:sp>
      <p:sp>
        <p:nvSpPr>
          <p:cNvPr id="475" name="Google Shape;475;g3e955750272_3_444"/>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11 / 23</a:t>
            </a:r>
            <a:endParaRPr b="0" i="0" sz="1400" u="none" cap="none" strike="noStrike">
              <a:solidFill>
                <a:schemeClr val="dk1"/>
              </a:solidFill>
              <a:latin typeface="Calibri"/>
              <a:ea typeface="Calibri"/>
              <a:cs typeface="Calibri"/>
              <a:sym typeface="Calibri"/>
            </a:endParaRPr>
          </a:p>
        </p:txBody>
      </p:sp>
      <p:sp>
        <p:nvSpPr>
          <p:cNvPr id="476" name="Google Shape;476;g3e955750272_3_444"/>
          <p:cNvSpPr/>
          <p:nvPr/>
        </p:nvSpPr>
        <p:spPr>
          <a:xfrm>
            <a:off x="914857" y="3372765"/>
            <a:ext cx="9830258" cy="51435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77" name="Google Shape;477;g3e955750272_3_444"/>
          <p:cNvSpPr/>
          <p:nvPr/>
        </p:nvSpPr>
        <p:spPr>
          <a:xfrm>
            <a:off x="914857" y="3372765"/>
            <a:ext cx="9830258" cy="456743"/>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78" name="Google Shape;478;g3e955750272_3_444"/>
          <p:cNvSpPr/>
          <p:nvPr/>
        </p:nvSpPr>
        <p:spPr>
          <a:xfrm>
            <a:off x="1115111" y="3544215"/>
            <a:ext cx="113842" cy="113843"/>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79" name="Google Shape;479;g3e955750272_3_444"/>
          <p:cNvSpPr/>
          <p:nvPr/>
        </p:nvSpPr>
        <p:spPr>
          <a:xfrm>
            <a:off x="1315365" y="3544215"/>
            <a:ext cx="113842" cy="113843"/>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80" name="Google Shape;480;g3e955750272_3_444"/>
          <p:cNvSpPr/>
          <p:nvPr/>
        </p:nvSpPr>
        <p:spPr>
          <a:xfrm>
            <a:off x="1515618" y="3544215"/>
            <a:ext cx="113842" cy="113843"/>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81" name="Google Shape;481;g3e955750272_3_444"/>
          <p:cNvSpPr/>
          <p:nvPr/>
        </p:nvSpPr>
        <p:spPr>
          <a:xfrm>
            <a:off x="2057400" y="3372765"/>
            <a:ext cx="7543800" cy="4567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policyrec.app  ·  정렬</a:t>
            </a:r>
            <a:endParaRPr b="0" i="0" sz="1400" u="none" cap="none" strike="noStrike">
              <a:solidFill>
                <a:schemeClr val="dk1"/>
              </a:solidFill>
              <a:latin typeface="Calibri"/>
              <a:ea typeface="Calibri"/>
              <a:cs typeface="Calibri"/>
              <a:sym typeface="Calibri"/>
            </a:endParaRPr>
          </a:p>
        </p:txBody>
      </p:sp>
      <p:sp>
        <p:nvSpPr>
          <p:cNvPr id="482" name="Google Shape;482;g3e955750272_3_444"/>
          <p:cNvSpPr/>
          <p:nvPr/>
        </p:nvSpPr>
        <p:spPr>
          <a:xfrm>
            <a:off x="5429478" y="5144871"/>
            <a:ext cx="799643" cy="79964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83" name="Google Shape;483;g3e955750272_3_444"/>
          <p:cNvSpPr/>
          <p:nvPr/>
        </p:nvSpPr>
        <p:spPr>
          <a:xfrm>
            <a:off x="5429478" y="5144871"/>
            <a:ext cx="799643" cy="7996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484" name="Google Shape;484;g3e955750272_3_444"/>
          <p:cNvSpPr/>
          <p:nvPr/>
        </p:nvSpPr>
        <p:spPr>
          <a:xfrm>
            <a:off x="914857" y="6058358"/>
            <a:ext cx="983025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실제 시연 또는 캡처 영역</a:t>
            </a:r>
            <a:endParaRPr b="0" i="0" sz="2100" u="none" cap="none" strike="noStrike">
              <a:solidFill>
                <a:schemeClr val="dk1"/>
              </a:solidFill>
              <a:latin typeface="Calibri"/>
              <a:ea typeface="Calibri"/>
              <a:cs typeface="Calibri"/>
              <a:sym typeface="Calibri"/>
            </a:endParaRPr>
          </a:p>
        </p:txBody>
      </p:sp>
      <p:sp>
        <p:nvSpPr>
          <p:cNvPr id="485" name="Google Shape;485;g3e955750272_3_444"/>
          <p:cNvSpPr/>
          <p:nvPr/>
        </p:nvSpPr>
        <p:spPr>
          <a:xfrm>
            <a:off x="914857" y="6458865"/>
            <a:ext cx="9830258"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정렬 흐름의 실제 화면이 이 영역에 표시됩니다.</a:t>
            </a:r>
            <a:endParaRPr b="0" i="0" sz="1700" u="none" cap="none" strike="noStrike">
              <a:solidFill>
                <a:schemeClr val="dk1"/>
              </a:solidFill>
              <a:latin typeface="Calibri"/>
              <a:ea typeface="Calibri"/>
              <a:cs typeface="Calibri"/>
              <a:sym typeface="Calibri"/>
            </a:endParaRPr>
          </a:p>
        </p:txBody>
      </p:sp>
      <p:sp>
        <p:nvSpPr>
          <p:cNvPr id="486" name="Google Shape;486;g3e955750272_3_444"/>
          <p:cNvSpPr/>
          <p:nvPr/>
        </p:nvSpPr>
        <p:spPr>
          <a:xfrm>
            <a:off x="11201858" y="3372765"/>
            <a:ext cx="1714500" cy="314097"/>
          </a:xfrm>
          <a:prstGeom prst="roundRect">
            <a:avLst>
              <a:gd fmla="val 17467" name="adj"/>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87" name="Google Shape;487;g3e955750272_3_444"/>
          <p:cNvSpPr/>
          <p:nvPr/>
        </p:nvSpPr>
        <p:spPr>
          <a:xfrm>
            <a:off x="11201858" y="3372765"/>
            <a:ext cx="1714500"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비로그인 흐름</a:t>
            </a:r>
            <a:endParaRPr b="0" i="0" sz="1400" u="none" cap="none" strike="noStrike">
              <a:solidFill>
                <a:schemeClr val="dk1"/>
              </a:solidFill>
              <a:latin typeface="Calibri"/>
              <a:ea typeface="Calibri"/>
              <a:cs typeface="Calibri"/>
              <a:sym typeface="Calibri"/>
            </a:endParaRPr>
          </a:p>
        </p:txBody>
      </p:sp>
      <p:sp>
        <p:nvSpPr>
          <p:cNvPr id="488" name="Google Shape;488;g3e955750272_3_444"/>
          <p:cNvSpPr/>
          <p:nvPr/>
        </p:nvSpPr>
        <p:spPr>
          <a:xfrm>
            <a:off x="13087808" y="3372765"/>
            <a:ext cx="4286250"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06</a:t>
            </a:r>
            <a:endParaRPr b="0" i="0" sz="1400" u="none" cap="none" strike="noStrike">
              <a:solidFill>
                <a:schemeClr val="dk1"/>
              </a:solidFill>
              <a:latin typeface="Calibri"/>
              <a:ea typeface="Calibri"/>
              <a:cs typeface="Calibri"/>
              <a:sym typeface="Calibri"/>
            </a:endParaRPr>
          </a:p>
        </p:txBody>
      </p:sp>
      <p:sp>
        <p:nvSpPr>
          <p:cNvPr id="489" name="Google Shape;489;g3e955750272_3_444"/>
          <p:cNvSpPr/>
          <p:nvPr/>
        </p:nvSpPr>
        <p:spPr>
          <a:xfrm>
            <a:off x="11201858" y="42300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보여줄 포인트</a:t>
            </a:r>
            <a:endParaRPr b="0" i="0" sz="1700" u="none" cap="none" strike="noStrike">
              <a:solidFill>
                <a:schemeClr val="dk1"/>
              </a:solidFill>
              <a:latin typeface="Calibri"/>
              <a:ea typeface="Calibri"/>
              <a:cs typeface="Calibri"/>
              <a:sym typeface="Calibri"/>
            </a:endParaRPr>
          </a:p>
        </p:txBody>
      </p:sp>
      <p:sp>
        <p:nvSpPr>
          <p:cNvPr id="490" name="Google Shape;490;g3e955750272_3_444"/>
          <p:cNvSpPr/>
          <p:nvPr/>
        </p:nvSpPr>
        <p:spPr>
          <a:xfrm>
            <a:off x="11201858" y="46305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91" name="Google Shape;491;g3e955750272_3_444"/>
          <p:cNvSpPr/>
          <p:nvPr/>
        </p:nvSpPr>
        <p:spPr>
          <a:xfrm>
            <a:off x="11402111" y="46305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추천순 = 관련도 높은 공고</a:t>
            </a:r>
            <a:endParaRPr b="0" i="0" sz="1800" u="none" cap="none" strike="noStrike">
              <a:solidFill>
                <a:schemeClr val="dk1"/>
              </a:solidFill>
              <a:latin typeface="Calibri"/>
              <a:ea typeface="Calibri"/>
              <a:cs typeface="Calibri"/>
              <a:sym typeface="Calibri"/>
            </a:endParaRPr>
          </a:p>
        </p:txBody>
      </p:sp>
      <p:sp>
        <p:nvSpPr>
          <p:cNvPr id="492" name="Google Shape;492;g3e955750272_3_444"/>
          <p:cNvSpPr/>
          <p:nvPr/>
        </p:nvSpPr>
        <p:spPr>
          <a:xfrm>
            <a:off x="11201858" y="5316321"/>
            <a:ext cx="42519" cy="5719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93" name="Google Shape;493;g3e955750272_3_444"/>
          <p:cNvSpPr/>
          <p:nvPr/>
        </p:nvSpPr>
        <p:spPr>
          <a:xfrm>
            <a:off x="11402111" y="5316321"/>
            <a:ext cx="5971947"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마감순 = 마감 가까운 공고</a:t>
            </a:r>
            <a:endParaRPr b="0" i="0" sz="1800" u="none" cap="none" strike="noStrike">
              <a:solidFill>
                <a:schemeClr val="dk1"/>
              </a:solidFill>
              <a:latin typeface="Calibri"/>
              <a:ea typeface="Calibri"/>
              <a:cs typeface="Calibri"/>
              <a:sym typeface="Calibri"/>
            </a:endParaRPr>
          </a:p>
        </p:txBody>
      </p:sp>
      <p:sp>
        <p:nvSpPr>
          <p:cNvPr id="494" name="Google Shape;494;g3e955750272_3_444"/>
          <p:cNvSpPr/>
          <p:nvPr/>
        </p:nvSpPr>
        <p:spPr>
          <a:xfrm>
            <a:off x="11201858" y="6002121"/>
            <a:ext cx="42519" cy="5719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95" name="Google Shape;495;g3e955750272_3_444"/>
          <p:cNvSpPr/>
          <p:nvPr/>
        </p:nvSpPr>
        <p:spPr>
          <a:xfrm>
            <a:off x="11402111" y="6002121"/>
            <a:ext cx="5971947" cy="5719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신규순 = 새로 올라온 공고</a:t>
            </a:r>
            <a:endParaRPr b="0" i="0" sz="1800" u="none" cap="none" strike="noStrike">
              <a:solidFill>
                <a:schemeClr val="dk1"/>
              </a:solidFill>
              <a:latin typeface="Calibri"/>
              <a:ea typeface="Calibri"/>
              <a:cs typeface="Calibri"/>
              <a:sym typeface="Calibri"/>
            </a:endParaRPr>
          </a:p>
        </p:txBody>
      </p:sp>
      <p:sp>
        <p:nvSpPr>
          <p:cNvPr id="496" name="Google Shape;496;g3e955750272_3_444"/>
          <p:cNvSpPr/>
          <p:nvPr/>
        </p:nvSpPr>
        <p:spPr>
          <a:xfrm>
            <a:off x="11201858" y="6772960"/>
            <a:ext cx="617220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497" name="Google Shape;497;g3e955750272_3_444"/>
          <p:cNvSpPr/>
          <p:nvPr/>
        </p:nvSpPr>
        <p:spPr>
          <a:xfrm>
            <a:off x="11430915" y="6944411"/>
            <a:ext cx="57154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이 화면을 보여주는 이유</a:t>
            </a:r>
            <a:endParaRPr b="0" i="0" sz="1500" u="none" cap="none" strike="noStrike">
              <a:solidFill>
                <a:schemeClr val="dk1"/>
              </a:solidFill>
              <a:latin typeface="Calibri"/>
              <a:ea typeface="Calibri"/>
              <a:cs typeface="Calibri"/>
              <a:sym typeface="Calibri"/>
            </a:endParaRPr>
          </a:p>
        </p:txBody>
      </p:sp>
      <p:sp>
        <p:nvSpPr>
          <p:cNvPr id="498" name="Google Shape;498;g3e955750272_3_444"/>
          <p:cNvSpPr/>
          <p:nvPr/>
        </p:nvSpPr>
        <p:spPr>
          <a:xfrm>
            <a:off x="11430915" y="7229703"/>
            <a:ext cx="571545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확인 기준을 바꿔 의사결정 지원</a:t>
            </a:r>
            <a:endParaRPr b="0" i="0" sz="2000" u="none" cap="none" strike="noStrike">
              <a:solidFill>
                <a:schemeClr val="dk1"/>
              </a:solidFill>
              <a:latin typeface="Calibri"/>
              <a:ea typeface="Calibri"/>
              <a:cs typeface="Calibri"/>
              <a:sym typeface="Calibri"/>
            </a:endParaRPr>
          </a:p>
        </p:txBody>
      </p:sp>
      <p:pic>
        <p:nvPicPr>
          <p:cNvPr id="499" name="Google Shape;499;g3e955750272_3_444"/>
          <p:cNvPicPr preferRelativeResize="0"/>
          <p:nvPr/>
        </p:nvPicPr>
        <p:blipFill rotWithShape="1">
          <a:blip r:embed="rId3">
            <a:alphaModFix/>
          </a:blip>
          <a:srcRect b="0" l="0" r="0" t="0"/>
          <a:stretch/>
        </p:blipFill>
        <p:spPr>
          <a:xfrm>
            <a:off x="3242249" y="3791138"/>
            <a:ext cx="5175450" cy="4660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g3e955750272_3_479"/>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06" name="Google Shape;506;g3e955750272_3_479"/>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507" name="Google Shape;507;g3e955750272_3_479"/>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스크랩 — 관심 공고 저장</a:t>
            </a:r>
            <a:endParaRPr b="0" i="0" sz="4200" u="none" cap="none" strike="noStrike">
              <a:solidFill>
                <a:schemeClr val="dk1"/>
              </a:solidFill>
              <a:latin typeface="Calibri"/>
              <a:ea typeface="Calibri"/>
              <a:cs typeface="Calibri"/>
              <a:sym typeface="Calibri"/>
            </a:endParaRPr>
          </a:p>
        </p:txBody>
      </p:sp>
      <p:sp>
        <p:nvSpPr>
          <p:cNvPr id="508" name="Google Shape;508;g3e955750272_3_479"/>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로그인 후 카드의 별표를 눌러 저장하고, 스크랩 페이지에서 모아봅니다.</a:t>
            </a:r>
            <a:endParaRPr b="0" i="0" sz="2000" u="none" cap="none" strike="noStrike">
              <a:solidFill>
                <a:schemeClr val="dk1"/>
              </a:solidFill>
              <a:latin typeface="Calibri"/>
              <a:ea typeface="Calibri"/>
              <a:cs typeface="Calibri"/>
              <a:sym typeface="Calibri"/>
            </a:endParaRPr>
          </a:p>
        </p:txBody>
      </p:sp>
      <p:sp>
        <p:nvSpPr>
          <p:cNvPr id="509" name="Google Shape;509;g3e955750272_3_479"/>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10" name="Google Shape;510;g3e955750272_3_479"/>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스크랩</a:t>
            </a:r>
            <a:endParaRPr b="0" i="0" sz="1400" u="none" cap="none" strike="noStrike">
              <a:solidFill>
                <a:schemeClr val="dk1"/>
              </a:solidFill>
              <a:latin typeface="Calibri"/>
              <a:ea typeface="Calibri"/>
              <a:cs typeface="Calibri"/>
              <a:sym typeface="Calibri"/>
            </a:endParaRPr>
          </a:p>
        </p:txBody>
      </p:sp>
      <p:sp>
        <p:nvSpPr>
          <p:cNvPr id="511" name="Google Shape;511;g3e955750272_3_479"/>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12 / 23</a:t>
            </a:r>
            <a:endParaRPr b="0" i="0" sz="1400" u="none" cap="none" strike="noStrike">
              <a:solidFill>
                <a:schemeClr val="dk1"/>
              </a:solidFill>
              <a:latin typeface="Calibri"/>
              <a:ea typeface="Calibri"/>
              <a:cs typeface="Calibri"/>
              <a:sym typeface="Calibri"/>
            </a:endParaRPr>
          </a:p>
        </p:txBody>
      </p:sp>
      <p:sp>
        <p:nvSpPr>
          <p:cNvPr id="512" name="Google Shape;512;g3e955750272_3_479"/>
          <p:cNvSpPr/>
          <p:nvPr/>
        </p:nvSpPr>
        <p:spPr>
          <a:xfrm>
            <a:off x="914857" y="3372765"/>
            <a:ext cx="9830258" cy="514350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13" name="Google Shape;513;g3e955750272_3_479"/>
          <p:cNvSpPr/>
          <p:nvPr/>
        </p:nvSpPr>
        <p:spPr>
          <a:xfrm>
            <a:off x="914857" y="3372765"/>
            <a:ext cx="9830258" cy="456743"/>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14" name="Google Shape;514;g3e955750272_3_479"/>
          <p:cNvSpPr/>
          <p:nvPr/>
        </p:nvSpPr>
        <p:spPr>
          <a:xfrm>
            <a:off x="1115111" y="3544215"/>
            <a:ext cx="113842" cy="113843"/>
          </a:xfrm>
          <a:prstGeom prst="ellipse">
            <a:avLst/>
          </a:prstGeom>
          <a:solidFill>
            <a:srgbClr val="FF5F57"/>
          </a:solidFill>
          <a:ln cap="flat" cmpd="sng" w="12700">
            <a:solidFill>
              <a:srgbClr val="FF5F57"/>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15" name="Google Shape;515;g3e955750272_3_479"/>
          <p:cNvSpPr/>
          <p:nvPr/>
        </p:nvSpPr>
        <p:spPr>
          <a:xfrm>
            <a:off x="1315365" y="3544215"/>
            <a:ext cx="113842" cy="113843"/>
          </a:xfrm>
          <a:prstGeom prst="ellipse">
            <a:avLst/>
          </a:prstGeom>
          <a:solidFill>
            <a:srgbClr val="FEBC2E"/>
          </a:solidFill>
          <a:ln cap="flat" cmpd="sng" w="12700">
            <a:solidFill>
              <a:srgbClr val="FEBC2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16" name="Google Shape;516;g3e955750272_3_479"/>
          <p:cNvSpPr/>
          <p:nvPr/>
        </p:nvSpPr>
        <p:spPr>
          <a:xfrm>
            <a:off x="1515618" y="3544215"/>
            <a:ext cx="113842" cy="113843"/>
          </a:xfrm>
          <a:prstGeom prst="ellipse">
            <a:avLst/>
          </a:prstGeom>
          <a:solidFill>
            <a:srgbClr val="28C840"/>
          </a:solidFill>
          <a:ln cap="flat" cmpd="sng" w="12700">
            <a:solidFill>
              <a:srgbClr val="28C840"/>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17" name="Google Shape;517;g3e955750272_3_479"/>
          <p:cNvSpPr/>
          <p:nvPr/>
        </p:nvSpPr>
        <p:spPr>
          <a:xfrm>
            <a:off x="2057400" y="3372765"/>
            <a:ext cx="7543800" cy="4567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policyrec.app  ·  스크랩</a:t>
            </a:r>
            <a:endParaRPr b="0" i="0" sz="1400" u="none" cap="none" strike="noStrike">
              <a:solidFill>
                <a:schemeClr val="dk1"/>
              </a:solidFill>
              <a:latin typeface="Calibri"/>
              <a:ea typeface="Calibri"/>
              <a:cs typeface="Calibri"/>
              <a:sym typeface="Calibri"/>
            </a:endParaRPr>
          </a:p>
        </p:txBody>
      </p:sp>
      <p:sp>
        <p:nvSpPr>
          <p:cNvPr id="518" name="Google Shape;518;g3e955750272_3_479"/>
          <p:cNvSpPr/>
          <p:nvPr/>
        </p:nvSpPr>
        <p:spPr>
          <a:xfrm>
            <a:off x="5429478" y="5144871"/>
            <a:ext cx="799643" cy="799643"/>
          </a:xfrm>
          <a:prstGeom prst="ellipse">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19" name="Google Shape;519;g3e955750272_3_479"/>
          <p:cNvSpPr/>
          <p:nvPr/>
        </p:nvSpPr>
        <p:spPr>
          <a:xfrm>
            <a:off x="5429478" y="5144871"/>
            <a:ext cx="799643" cy="79964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700"/>
              <a:buFont typeface="Arial"/>
              <a:buNone/>
            </a:pPr>
            <a:r>
              <a:rPr b="1" i="0" lang="en-US" sz="2700" u="none" cap="none" strike="noStrike">
                <a:solidFill>
                  <a:srgbClr val="5B5BD6"/>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520" name="Google Shape;520;g3e955750272_3_479"/>
          <p:cNvSpPr/>
          <p:nvPr/>
        </p:nvSpPr>
        <p:spPr>
          <a:xfrm>
            <a:off x="914857" y="6058358"/>
            <a:ext cx="983025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실제 시연 또는 캡처 영역</a:t>
            </a:r>
            <a:endParaRPr b="0" i="0" sz="2100" u="none" cap="none" strike="noStrike">
              <a:solidFill>
                <a:schemeClr val="dk1"/>
              </a:solidFill>
              <a:latin typeface="Calibri"/>
              <a:ea typeface="Calibri"/>
              <a:cs typeface="Calibri"/>
              <a:sym typeface="Calibri"/>
            </a:endParaRPr>
          </a:p>
        </p:txBody>
      </p:sp>
      <p:sp>
        <p:nvSpPr>
          <p:cNvPr id="521" name="Google Shape;521;g3e955750272_3_479"/>
          <p:cNvSpPr/>
          <p:nvPr/>
        </p:nvSpPr>
        <p:spPr>
          <a:xfrm>
            <a:off x="914857" y="6458865"/>
            <a:ext cx="9830258"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스크랩 흐름의 실제 화면이 이 영역에 표시됩니다.</a:t>
            </a:r>
            <a:endParaRPr b="0" i="0" sz="1700" u="none" cap="none" strike="noStrike">
              <a:solidFill>
                <a:schemeClr val="dk1"/>
              </a:solidFill>
              <a:latin typeface="Calibri"/>
              <a:ea typeface="Calibri"/>
              <a:cs typeface="Calibri"/>
              <a:sym typeface="Calibri"/>
            </a:endParaRPr>
          </a:p>
        </p:txBody>
      </p:sp>
      <p:sp>
        <p:nvSpPr>
          <p:cNvPr id="522" name="Google Shape;522;g3e955750272_3_479"/>
          <p:cNvSpPr/>
          <p:nvPr/>
        </p:nvSpPr>
        <p:spPr>
          <a:xfrm>
            <a:off x="11201858" y="3372765"/>
            <a:ext cx="2857042" cy="314097"/>
          </a:xfrm>
          <a:prstGeom prst="roundRect">
            <a:avLst>
              <a:gd fmla="val 17467" name="adj"/>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23" name="Google Shape;523;g3e955750272_3_479"/>
          <p:cNvSpPr/>
          <p:nvPr/>
        </p:nvSpPr>
        <p:spPr>
          <a:xfrm>
            <a:off x="11201858" y="3372765"/>
            <a:ext cx="2857042"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LOGIN · 로그인 후 흐름</a:t>
            </a:r>
            <a:endParaRPr b="0" i="0" sz="1400" u="none" cap="none" strike="noStrike">
              <a:solidFill>
                <a:schemeClr val="dk1"/>
              </a:solidFill>
              <a:latin typeface="Calibri"/>
              <a:ea typeface="Calibri"/>
              <a:cs typeface="Calibri"/>
              <a:sym typeface="Calibri"/>
            </a:endParaRPr>
          </a:p>
        </p:txBody>
      </p:sp>
      <p:sp>
        <p:nvSpPr>
          <p:cNvPr id="524" name="Google Shape;524;g3e955750272_3_479"/>
          <p:cNvSpPr/>
          <p:nvPr/>
        </p:nvSpPr>
        <p:spPr>
          <a:xfrm>
            <a:off x="14230350" y="3372765"/>
            <a:ext cx="3143708"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07</a:t>
            </a:r>
            <a:endParaRPr b="0" i="0" sz="1400" u="none" cap="none" strike="noStrike">
              <a:solidFill>
                <a:schemeClr val="dk1"/>
              </a:solidFill>
              <a:latin typeface="Calibri"/>
              <a:ea typeface="Calibri"/>
              <a:cs typeface="Calibri"/>
              <a:sym typeface="Calibri"/>
            </a:endParaRPr>
          </a:p>
        </p:txBody>
      </p:sp>
      <p:sp>
        <p:nvSpPr>
          <p:cNvPr id="525" name="Google Shape;525;g3e955750272_3_479"/>
          <p:cNvSpPr/>
          <p:nvPr/>
        </p:nvSpPr>
        <p:spPr>
          <a:xfrm>
            <a:off x="11201858" y="42300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보여줄 포인트</a:t>
            </a:r>
            <a:endParaRPr b="0" i="0" sz="1700" u="none" cap="none" strike="noStrike">
              <a:solidFill>
                <a:schemeClr val="dk1"/>
              </a:solidFill>
              <a:latin typeface="Calibri"/>
              <a:ea typeface="Calibri"/>
              <a:cs typeface="Calibri"/>
              <a:sym typeface="Calibri"/>
            </a:endParaRPr>
          </a:p>
        </p:txBody>
      </p:sp>
      <p:sp>
        <p:nvSpPr>
          <p:cNvPr id="526" name="Google Shape;526;g3e955750272_3_479"/>
          <p:cNvSpPr/>
          <p:nvPr/>
        </p:nvSpPr>
        <p:spPr>
          <a:xfrm>
            <a:off x="11201858" y="4630521"/>
            <a:ext cx="42519" cy="68580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27" name="Google Shape;527;g3e955750272_3_479"/>
          <p:cNvSpPr/>
          <p:nvPr/>
        </p:nvSpPr>
        <p:spPr>
          <a:xfrm>
            <a:off x="11402111" y="4630521"/>
            <a:ext cx="5971947"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카드 별표 클릭 → 스크랩으로 저장</a:t>
            </a:r>
            <a:endParaRPr b="0" i="0" sz="1800" u="none" cap="none" strike="noStrike">
              <a:solidFill>
                <a:schemeClr val="dk1"/>
              </a:solidFill>
              <a:latin typeface="Calibri"/>
              <a:ea typeface="Calibri"/>
              <a:cs typeface="Calibri"/>
              <a:sym typeface="Calibri"/>
            </a:endParaRPr>
          </a:p>
        </p:txBody>
      </p:sp>
      <p:sp>
        <p:nvSpPr>
          <p:cNvPr id="528" name="Google Shape;528;g3e955750272_3_479"/>
          <p:cNvSpPr/>
          <p:nvPr/>
        </p:nvSpPr>
        <p:spPr>
          <a:xfrm>
            <a:off x="11201858" y="5487771"/>
            <a:ext cx="42519" cy="68580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29" name="Google Shape;529;g3e955750272_3_479"/>
          <p:cNvSpPr/>
          <p:nvPr/>
        </p:nvSpPr>
        <p:spPr>
          <a:xfrm>
            <a:off x="11402111" y="5487771"/>
            <a:ext cx="5971947"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0" i="0" lang="en-US" sz="1800" u="none" cap="none" strike="noStrike">
                <a:solidFill>
                  <a:srgbClr val="1A1A22"/>
                </a:solidFill>
                <a:latin typeface="Arial"/>
                <a:ea typeface="Arial"/>
                <a:cs typeface="Arial"/>
                <a:sym typeface="Arial"/>
              </a:rPr>
              <a:t>스크랩 페이지에서 저장된 공고 모아보기</a:t>
            </a:r>
            <a:endParaRPr b="0" i="0" sz="1800" u="none" cap="none" strike="noStrike">
              <a:solidFill>
                <a:schemeClr val="dk1"/>
              </a:solidFill>
              <a:latin typeface="Calibri"/>
              <a:ea typeface="Calibri"/>
              <a:cs typeface="Calibri"/>
              <a:sym typeface="Calibri"/>
            </a:endParaRPr>
          </a:p>
        </p:txBody>
      </p:sp>
      <p:sp>
        <p:nvSpPr>
          <p:cNvPr id="530" name="Google Shape;530;g3e955750272_3_479"/>
          <p:cNvSpPr/>
          <p:nvPr/>
        </p:nvSpPr>
        <p:spPr>
          <a:xfrm>
            <a:off x="11201858" y="6772960"/>
            <a:ext cx="617220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31" name="Google Shape;531;g3e955750272_3_479"/>
          <p:cNvSpPr/>
          <p:nvPr/>
        </p:nvSpPr>
        <p:spPr>
          <a:xfrm>
            <a:off x="11430915" y="6944411"/>
            <a:ext cx="5715458"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이 화면을 보여주는 이유</a:t>
            </a:r>
            <a:endParaRPr b="0" i="0" sz="1500" u="none" cap="none" strike="noStrike">
              <a:solidFill>
                <a:schemeClr val="dk1"/>
              </a:solidFill>
              <a:latin typeface="Calibri"/>
              <a:ea typeface="Calibri"/>
              <a:cs typeface="Calibri"/>
              <a:sym typeface="Calibri"/>
            </a:endParaRPr>
          </a:p>
        </p:txBody>
      </p:sp>
      <p:sp>
        <p:nvSpPr>
          <p:cNvPr id="532" name="Google Shape;532;g3e955750272_3_479"/>
          <p:cNvSpPr/>
          <p:nvPr/>
        </p:nvSpPr>
        <p:spPr>
          <a:xfrm>
            <a:off x="11430915" y="7229703"/>
            <a:ext cx="571545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지금 신청하지 않아도 다시 확인</a:t>
            </a:r>
            <a:endParaRPr b="0" i="0" sz="2000" u="none" cap="none" strike="noStrike">
              <a:solidFill>
                <a:schemeClr val="dk1"/>
              </a:solidFill>
              <a:latin typeface="Calibri"/>
              <a:ea typeface="Calibri"/>
              <a:cs typeface="Calibri"/>
              <a:sym typeface="Calibri"/>
            </a:endParaRPr>
          </a:p>
        </p:txBody>
      </p:sp>
      <p:pic>
        <p:nvPicPr>
          <p:cNvPr id="533" name="Google Shape;533;g3e955750272_3_479"/>
          <p:cNvPicPr preferRelativeResize="0"/>
          <p:nvPr/>
        </p:nvPicPr>
        <p:blipFill rotWithShape="1">
          <a:blip r:embed="rId3">
            <a:alphaModFix/>
          </a:blip>
          <a:srcRect b="0" l="0" r="0" t="0"/>
          <a:stretch/>
        </p:blipFill>
        <p:spPr>
          <a:xfrm>
            <a:off x="1027220" y="3769410"/>
            <a:ext cx="9605505" cy="470411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g3e955750272_3_512"/>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40" name="Google Shape;540;g3e955750272_3_512"/>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541" name="Google Shape;541;g3e955750272_3_512"/>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마이페이지 정보설정 → AI 추천공고</a:t>
            </a:r>
            <a:endParaRPr b="0" i="0" sz="4200" u="none" cap="none" strike="noStrike">
              <a:solidFill>
                <a:schemeClr val="dk1"/>
              </a:solidFill>
              <a:latin typeface="Calibri"/>
              <a:ea typeface="Calibri"/>
              <a:cs typeface="Calibri"/>
              <a:sym typeface="Calibri"/>
            </a:endParaRPr>
          </a:p>
        </p:txBody>
      </p:sp>
      <p:sp>
        <p:nvSpPr>
          <p:cNvPr id="542" name="Google Shape;542;g3e955750272_3_512"/>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매번 직접 검색하지 않아도, 내 조건에 가까운 공고를 먼저 확인합니다.</a:t>
            </a:r>
            <a:endParaRPr b="0" i="0" sz="2000" u="none" cap="none" strike="noStrike">
              <a:solidFill>
                <a:schemeClr val="dk1"/>
              </a:solidFill>
              <a:latin typeface="Calibri"/>
              <a:ea typeface="Calibri"/>
              <a:cs typeface="Calibri"/>
              <a:sym typeface="Calibri"/>
            </a:endParaRPr>
          </a:p>
        </p:txBody>
      </p:sp>
      <p:sp>
        <p:nvSpPr>
          <p:cNvPr id="543" name="Google Shape;543;g3e955750272_3_512"/>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44" name="Google Shape;544;g3e955750272_3_512"/>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마이페이지 · AI 추천</a:t>
            </a:r>
            <a:endParaRPr b="0" i="0" sz="1400" u="none" cap="none" strike="noStrike">
              <a:solidFill>
                <a:schemeClr val="dk1"/>
              </a:solidFill>
              <a:latin typeface="Calibri"/>
              <a:ea typeface="Calibri"/>
              <a:cs typeface="Calibri"/>
              <a:sym typeface="Calibri"/>
            </a:endParaRPr>
          </a:p>
        </p:txBody>
      </p:sp>
      <p:sp>
        <p:nvSpPr>
          <p:cNvPr id="545" name="Google Shape;545;g3e955750272_3_512"/>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13 / 23</a:t>
            </a:r>
            <a:endParaRPr b="0" i="0" sz="1400" u="none" cap="none" strike="noStrike">
              <a:solidFill>
                <a:schemeClr val="dk1"/>
              </a:solidFill>
              <a:latin typeface="Calibri"/>
              <a:ea typeface="Calibri"/>
              <a:cs typeface="Calibri"/>
              <a:sym typeface="Calibri"/>
            </a:endParaRPr>
          </a:p>
        </p:txBody>
      </p:sp>
      <p:sp>
        <p:nvSpPr>
          <p:cNvPr id="546" name="Google Shape;546;g3e955750272_3_512"/>
          <p:cNvSpPr/>
          <p:nvPr/>
        </p:nvSpPr>
        <p:spPr>
          <a:xfrm>
            <a:off x="914857" y="3143707"/>
            <a:ext cx="2857043" cy="314097"/>
          </a:xfrm>
          <a:prstGeom prst="roundRect">
            <a:avLst>
              <a:gd fmla="val 17467" name="adj"/>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47" name="Google Shape;547;g3e955750272_3_512"/>
          <p:cNvSpPr/>
          <p:nvPr/>
        </p:nvSpPr>
        <p:spPr>
          <a:xfrm>
            <a:off x="914857" y="3143707"/>
            <a:ext cx="2857043"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LOGIN · 로그인 후 흐름</a:t>
            </a:r>
            <a:endParaRPr b="0" i="0" sz="1400" u="none" cap="none" strike="noStrike">
              <a:solidFill>
                <a:schemeClr val="dk1"/>
              </a:solidFill>
              <a:latin typeface="Calibri"/>
              <a:ea typeface="Calibri"/>
              <a:cs typeface="Calibri"/>
              <a:sym typeface="Calibri"/>
            </a:endParaRPr>
          </a:p>
        </p:txBody>
      </p:sp>
      <p:sp>
        <p:nvSpPr>
          <p:cNvPr id="548" name="Google Shape;548;g3e955750272_3_512"/>
          <p:cNvSpPr/>
          <p:nvPr/>
        </p:nvSpPr>
        <p:spPr>
          <a:xfrm>
            <a:off x="3943350" y="3143707"/>
            <a:ext cx="2857043"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STEP 08</a:t>
            </a:r>
            <a:endParaRPr b="0" i="0" sz="1400" u="none" cap="none" strike="noStrike">
              <a:solidFill>
                <a:schemeClr val="dk1"/>
              </a:solidFill>
              <a:latin typeface="Calibri"/>
              <a:ea typeface="Calibri"/>
              <a:cs typeface="Calibri"/>
              <a:sym typeface="Calibri"/>
            </a:endParaRPr>
          </a:p>
        </p:txBody>
      </p:sp>
      <p:sp>
        <p:nvSpPr>
          <p:cNvPr id="549" name="Google Shape;549;g3e955750272_3_512"/>
          <p:cNvSpPr/>
          <p:nvPr/>
        </p:nvSpPr>
        <p:spPr>
          <a:xfrm>
            <a:off x="914858" y="3658057"/>
            <a:ext cx="7829093" cy="5428793"/>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50" name="Google Shape;550;g3e955750272_3_512"/>
          <p:cNvSpPr/>
          <p:nvPr/>
        </p:nvSpPr>
        <p:spPr>
          <a:xfrm>
            <a:off x="914858" y="3658057"/>
            <a:ext cx="7829093" cy="571957"/>
          </a:xfrm>
          <a:prstGeom prst="rect">
            <a:avLst/>
          </a:prstGeom>
          <a:solidFill>
            <a:srgbClr val="FAFBFC"/>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51" name="Google Shape;551;g3e955750272_3_512"/>
          <p:cNvSpPr/>
          <p:nvPr/>
        </p:nvSpPr>
        <p:spPr>
          <a:xfrm>
            <a:off x="1143915" y="3658057"/>
            <a:ext cx="4685385"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1" i="0" lang="en-US" sz="1500" u="none" cap="none" strike="noStrike">
                <a:solidFill>
                  <a:srgbClr val="1A1A22"/>
                </a:solidFill>
                <a:latin typeface="Arial"/>
                <a:ea typeface="Arial"/>
                <a:cs typeface="Arial"/>
                <a:sym typeface="Arial"/>
              </a:rPr>
              <a:t>/mypage  ·  내 정보 설정</a:t>
            </a:r>
            <a:endParaRPr b="0" i="0" sz="1500" u="none" cap="none" strike="noStrike">
              <a:solidFill>
                <a:schemeClr val="dk1"/>
              </a:solidFill>
              <a:latin typeface="Calibri"/>
              <a:ea typeface="Calibri"/>
              <a:cs typeface="Calibri"/>
              <a:sym typeface="Calibri"/>
            </a:endParaRPr>
          </a:p>
        </p:txBody>
      </p:sp>
      <p:sp>
        <p:nvSpPr>
          <p:cNvPr id="552" name="Google Shape;552;g3e955750272_3_512"/>
          <p:cNvSpPr/>
          <p:nvPr/>
        </p:nvSpPr>
        <p:spPr>
          <a:xfrm>
            <a:off x="5600243" y="3658057"/>
            <a:ext cx="2914650" cy="57195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STEP 1 · 프로필 조건 설정</a:t>
            </a:r>
            <a:endParaRPr b="0" i="0" sz="1400" u="none" cap="none" strike="noStrike">
              <a:solidFill>
                <a:schemeClr val="dk1"/>
              </a:solidFill>
              <a:latin typeface="Calibri"/>
              <a:ea typeface="Calibri"/>
              <a:cs typeface="Calibri"/>
              <a:sym typeface="Calibri"/>
            </a:endParaRPr>
          </a:p>
        </p:txBody>
      </p:sp>
      <p:sp>
        <p:nvSpPr>
          <p:cNvPr id="553" name="Google Shape;553;g3e955750272_3_512"/>
          <p:cNvSpPr/>
          <p:nvPr/>
        </p:nvSpPr>
        <p:spPr>
          <a:xfrm>
            <a:off x="1200150" y="4457700"/>
            <a:ext cx="7257135"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나이</a:t>
            </a:r>
            <a:endParaRPr b="0" i="0" sz="1500" u="none" cap="none" strike="noStrike">
              <a:solidFill>
                <a:schemeClr val="dk1"/>
              </a:solidFill>
              <a:latin typeface="Calibri"/>
              <a:ea typeface="Calibri"/>
              <a:cs typeface="Calibri"/>
              <a:sym typeface="Calibri"/>
            </a:endParaRPr>
          </a:p>
        </p:txBody>
      </p:sp>
      <p:sp>
        <p:nvSpPr>
          <p:cNvPr id="554" name="Google Shape;554;g3e955750272_3_512"/>
          <p:cNvSpPr/>
          <p:nvPr/>
        </p:nvSpPr>
        <p:spPr>
          <a:xfrm>
            <a:off x="1200150" y="4771797"/>
            <a:ext cx="7257135" cy="51435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55" name="Google Shape;555;g3e955750272_3_512"/>
          <p:cNvSpPr/>
          <p:nvPr/>
        </p:nvSpPr>
        <p:spPr>
          <a:xfrm>
            <a:off x="1371600" y="4771797"/>
            <a:ext cx="6914235"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만 25세</a:t>
            </a:r>
            <a:endParaRPr b="0" i="0" sz="1800" u="none" cap="none" strike="noStrike">
              <a:solidFill>
                <a:schemeClr val="dk1"/>
              </a:solidFill>
              <a:latin typeface="Calibri"/>
              <a:ea typeface="Calibri"/>
              <a:cs typeface="Calibri"/>
              <a:sym typeface="Calibri"/>
            </a:endParaRPr>
          </a:p>
        </p:txBody>
      </p:sp>
      <p:sp>
        <p:nvSpPr>
          <p:cNvPr id="556" name="Google Shape;556;g3e955750272_3_512"/>
          <p:cNvSpPr/>
          <p:nvPr/>
        </p:nvSpPr>
        <p:spPr>
          <a:xfrm>
            <a:off x="1200150" y="5515203"/>
            <a:ext cx="7257135"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관심 지역</a:t>
            </a:r>
            <a:endParaRPr b="0" i="0" sz="1500" u="none" cap="none" strike="noStrike">
              <a:solidFill>
                <a:schemeClr val="dk1"/>
              </a:solidFill>
              <a:latin typeface="Calibri"/>
              <a:ea typeface="Calibri"/>
              <a:cs typeface="Calibri"/>
              <a:sym typeface="Calibri"/>
            </a:endParaRPr>
          </a:p>
        </p:txBody>
      </p:sp>
      <p:sp>
        <p:nvSpPr>
          <p:cNvPr id="557" name="Google Shape;557;g3e955750272_3_512"/>
          <p:cNvSpPr/>
          <p:nvPr/>
        </p:nvSpPr>
        <p:spPr>
          <a:xfrm>
            <a:off x="1200150" y="5829300"/>
            <a:ext cx="7257135" cy="51435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58" name="Google Shape;558;g3e955750272_3_512"/>
          <p:cNvSpPr/>
          <p:nvPr/>
        </p:nvSpPr>
        <p:spPr>
          <a:xfrm>
            <a:off x="1371600" y="5829300"/>
            <a:ext cx="6914235"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서울특별시 · 경기도</a:t>
            </a:r>
            <a:endParaRPr b="0" i="0" sz="1800" u="none" cap="none" strike="noStrike">
              <a:solidFill>
                <a:schemeClr val="dk1"/>
              </a:solidFill>
              <a:latin typeface="Calibri"/>
              <a:ea typeface="Calibri"/>
              <a:cs typeface="Calibri"/>
              <a:sym typeface="Calibri"/>
            </a:endParaRPr>
          </a:p>
        </p:txBody>
      </p:sp>
      <p:sp>
        <p:nvSpPr>
          <p:cNvPr id="559" name="Google Shape;559;g3e955750272_3_512"/>
          <p:cNvSpPr/>
          <p:nvPr/>
        </p:nvSpPr>
        <p:spPr>
          <a:xfrm>
            <a:off x="1200150" y="6572708"/>
            <a:ext cx="7257135"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유형</a:t>
            </a:r>
            <a:endParaRPr b="0" i="0" sz="1500" u="none" cap="none" strike="noStrike">
              <a:solidFill>
                <a:schemeClr val="dk1"/>
              </a:solidFill>
              <a:latin typeface="Calibri"/>
              <a:ea typeface="Calibri"/>
              <a:cs typeface="Calibri"/>
              <a:sym typeface="Calibri"/>
            </a:endParaRPr>
          </a:p>
        </p:txBody>
      </p:sp>
      <p:sp>
        <p:nvSpPr>
          <p:cNvPr id="560" name="Google Shape;560;g3e955750272_3_512"/>
          <p:cNvSpPr/>
          <p:nvPr/>
        </p:nvSpPr>
        <p:spPr>
          <a:xfrm>
            <a:off x="1200150" y="6886803"/>
            <a:ext cx="7257135" cy="51435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61" name="Google Shape;561;g3e955750272_3_512"/>
          <p:cNvSpPr/>
          <p:nvPr/>
        </p:nvSpPr>
        <p:spPr>
          <a:xfrm>
            <a:off x="1371600" y="6886803"/>
            <a:ext cx="6914235"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청년 · 1인 가구</a:t>
            </a:r>
            <a:endParaRPr b="0" i="0" sz="1800" u="none" cap="none" strike="noStrike">
              <a:solidFill>
                <a:schemeClr val="dk1"/>
              </a:solidFill>
              <a:latin typeface="Calibri"/>
              <a:ea typeface="Calibri"/>
              <a:cs typeface="Calibri"/>
              <a:sym typeface="Calibri"/>
            </a:endParaRPr>
          </a:p>
        </p:txBody>
      </p:sp>
      <p:sp>
        <p:nvSpPr>
          <p:cNvPr id="562" name="Google Shape;562;g3e955750272_3_512"/>
          <p:cNvSpPr/>
          <p:nvPr/>
        </p:nvSpPr>
        <p:spPr>
          <a:xfrm>
            <a:off x="1200150" y="7630211"/>
            <a:ext cx="7257135"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관심 분야</a:t>
            </a:r>
            <a:endParaRPr b="0" i="0" sz="1500" u="none" cap="none" strike="noStrike">
              <a:solidFill>
                <a:schemeClr val="dk1"/>
              </a:solidFill>
              <a:latin typeface="Calibri"/>
              <a:ea typeface="Calibri"/>
              <a:cs typeface="Calibri"/>
              <a:sym typeface="Calibri"/>
            </a:endParaRPr>
          </a:p>
        </p:txBody>
      </p:sp>
      <p:sp>
        <p:nvSpPr>
          <p:cNvPr id="563" name="Google Shape;563;g3e955750272_3_512"/>
          <p:cNvSpPr/>
          <p:nvPr/>
        </p:nvSpPr>
        <p:spPr>
          <a:xfrm>
            <a:off x="1200150" y="7944308"/>
            <a:ext cx="7257135" cy="514350"/>
          </a:xfrm>
          <a:prstGeom prst="rect">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64" name="Google Shape;564;g3e955750272_3_512"/>
          <p:cNvSpPr/>
          <p:nvPr/>
        </p:nvSpPr>
        <p:spPr>
          <a:xfrm>
            <a:off x="1371600" y="7944308"/>
            <a:ext cx="6914235"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주거 · 일자리 · 창업</a:t>
            </a:r>
            <a:endParaRPr b="0" i="0" sz="1800" u="none" cap="none" strike="noStrike">
              <a:solidFill>
                <a:schemeClr val="dk1"/>
              </a:solidFill>
              <a:latin typeface="Calibri"/>
              <a:ea typeface="Calibri"/>
              <a:cs typeface="Calibri"/>
              <a:sym typeface="Calibri"/>
            </a:endParaRPr>
          </a:p>
        </p:txBody>
      </p:sp>
      <p:sp>
        <p:nvSpPr>
          <p:cNvPr id="565" name="Google Shape;565;g3e955750272_3_512"/>
          <p:cNvSpPr/>
          <p:nvPr/>
        </p:nvSpPr>
        <p:spPr>
          <a:xfrm>
            <a:off x="8857792" y="6115965"/>
            <a:ext cx="571957" cy="57195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4200"/>
              <a:buFont typeface="Arial"/>
              <a:buNone/>
            </a:pPr>
            <a:r>
              <a:rPr b="1" i="0" lang="en-US" sz="4200" u="none" cap="none" strike="noStrike">
                <a:solidFill>
                  <a:srgbClr val="5B5BD6"/>
                </a:solidFill>
                <a:latin typeface="Arial"/>
                <a:ea typeface="Arial"/>
                <a:cs typeface="Arial"/>
                <a:sym typeface="Arial"/>
              </a:rPr>
              <a:t>→</a:t>
            </a:r>
            <a:endParaRPr b="0" i="0" sz="4200" u="none" cap="none" strike="noStrike">
              <a:solidFill>
                <a:schemeClr val="dk1"/>
              </a:solidFill>
              <a:latin typeface="Calibri"/>
              <a:ea typeface="Calibri"/>
              <a:cs typeface="Calibri"/>
              <a:sym typeface="Calibri"/>
            </a:endParaRPr>
          </a:p>
        </p:txBody>
      </p:sp>
      <p:sp>
        <p:nvSpPr>
          <p:cNvPr id="566" name="Google Shape;566;g3e955750272_3_512"/>
          <p:cNvSpPr/>
          <p:nvPr/>
        </p:nvSpPr>
        <p:spPr>
          <a:xfrm>
            <a:off x="8743950" y="6686550"/>
            <a:ext cx="799643" cy="2852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추천에 활용</a:t>
            </a:r>
            <a:endParaRPr b="0" i="0" sz="1400" u="none" cap="none" strike="noStrike">
              <a:solidFill>
                <a:schemeClr val="dk1"/>
              </a:solidFill>
              <a:latin typeface="Calibri"/>
              <a:ea typeface="Calibri"/>
              <a:cs typeface="Calibri"/>
              <a:sym typeface="Calibri"/>
            </a:endParaRPr>
          </a:p>
        </p:txBody>
      </p:sp>
      <p:sp>
        <p:nvSpPr>
          <p:cNvPr id="567" name="Google Shape;567;g3e955750272_3_512"/>
          <p:cNvSpPr/>
          <p:nvPr/>
        </p:nvSpPr>
        <p:spPr>
          <a:xfrm>
            <a:off x="9543593" y="3658057"/>
            <a:ext cx="7830465" cy="5428793"/>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68" name="Google Shape;568;g3e955750272_3_512"/>
          <p:cNvSpPr/>
          <p:nvPr/>
        </p:nvSpPr>
        <p:spPr>
          <a:xfrm>
            <a:off x="9543593" y="3658057"/>
            <a:ext cx="7830465" cy="6858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69" name="Google Shape;569;g3e955750272_3_512"/>
          <p:cNvSpPr/>
          <p:nvPr/>
        </p:nvSpPr>
        <p:spPr>
          <a:xfrm>
            <a:off x="9772650" y="3658057"/>
            <a:ext cx="257175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2100"/>
              <a:buFont typeface="Arial"/>
              <a:buNone/>
            </a:pPr>
            <a:r>
              <a:rPr b="1" i="0" lang="en-US" sz="2100" u="none" cap="none" strike="noStrike">
                <a:solidFill>
                  <a:srgbClr val="3F3FB8"/>
                </a:solidFill>
                <a:latin typeface="Arial"/>
                <a:ea typeface="Arial"/>
                <a:cs typeface="Arial"/>
                <a:sym typeface="Arial"/>
              </a:rPr>
              <a:t>AI 추천공고</a:t>
            </a:r>
            <a:endParaRPr b="0" i="0" sz="2100" u="none" cap="none" strike="noStrike">
              <a:solidFill>
                <a:schemeClr val="dk1"/>
              </a:solidFill>
              <a:latin typeface="Calibri"/>
              <a:ea typeface="Calibri"/>
              <a:cs typeface="Calibri"/>
              <a:sym typeface="Calibri"/>
            </a:endParaRPr>
          </a:p>
        </p:txBody>
      </p:sp>
      <p:sp>
        <p:nvSpPr>
          <p:cNvPr id="570" name="Google Shape;570;g3e955750272_3_512"/>
          <p:cNvSpPr/>
          <p:nvPr/>
        </p:nvSpPr>
        <p:spPr>
          <a:xfrm>
            <a:off x="12400635" y="3658057"/>
            <a:ext cx="4744365" cy="6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STEP 2 · 메인 화면 노출</a:t>
            </a:r>
            <a:endParaRPr b="0" i="0" sz="1400" u="none" cap="none" strike="noStrike">
              <a:solidFill>
                <a:schemeClr val="dk1"/>
              </a:solidFill>
              <a:latin typeface="Calibri"/>
              <a:ea typeface="Calibri"/>
              <a:cs typeface="Calibri"/>
              <a:sym typeface="Calibri"/>
            </a:endParaRPr>
          </a:p>
        </p:txBody>
      </p:sp>
      <p:sp>
        <p:nvSpPr>
          <p:cNvPr id="571" name="Google Shape;571;g3e955750272_3_512"/>
          <p:cNvSpPr/>
          <p:nvPr/>
        </p:nvSpPr>
        <p:spPr>
          <a:xfrm>
            <a:off x="9772650" y="4544111"/>
            <a:ext cx="7373721" cy="1257757"/>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72" name="Google Shape;572;g3e955750272_3_512"/>
          <p:cNvSpPr/>
          <p:nvPr/>
        </p:nvSpPr>
        <p:spPr>
          <a:xfrm>
            <a:off x="9772650" y="4544111"/>
            <a:ext cx="42519" cy="12577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73" name="Google Shape;573;g3e955750272_3_512"/>
          <p:cNvSpPr/>
          <p:nvPr/>
        </p:nvSpPr>
        <p:spPr>
          <a:xfrm>
            <a:off x="9944100" y="4715561"/>
            <a:ext cx="7030821"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서울 청년 월세 한시 특별지원</a:t>
            </a:r>
            <a:endParaRPr b="0" i="0" sz="1800" u="none" cap="none" strike="noStrike">
              <a:solidFill>
                <a:schemeClr val="dk1"/>
              </a:solidFill>
              <a:latin typeface="Calibri"/>
              <a:ea typeface="Calibri"/>
              <a:cs typeface="Calibri"/>
              <a:sym typeface="Calibri"/>
            </a:endParaRPr>
          </a:p>
        </p:txBody>
      </p:sp>
      <p:sp>
        <p:nvSpPr>
          <p:cNvPr id="574" name="Google Shape;574;g3e955750272_3_512"/>
          <p:cNvSpPr/>
          <p:nvPr/>
        </p:nvSpPr>
        <p:spPr>
          <a:xfrm>
            <a:off x="9944100" y="5058461"/>
            <a:ext cx="7030821"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서울특별시 · 주거 · 청년</a:t>
            </a:r>
            <a:endParaRPr b="0" i="0" sz="1500" u="none" cap="none" strike="noStrike">
              <a:solidFill>
                <a:schemeClr val="dk1"/>
              </a:solidFill>
              <a:latin typeface="Calibri"/>
              <a:ea typeface="Calibri"/>
              <a:cs typeface="Calibri"/>
              <a:sym typeface="Calibri"/>
            </a:endParaRPr>
          </a:p>
        </p:txBody>
      </p:sp>
      <p:sp>
        <p:nvSpPr>
          <p:cNvPr id="575" name="Google Shape;575;g3e955750272_3_512"/>
          <p:cNvSpPr/>
          <p:nvPr/>
        </p:nvSpPr>
        <p:spPr>
          <a:xfrm>
            <a:off x="9944100" y="5372558"/>
            <a:ext cx="1142543" cy="314097"/>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76" name="Google Shape;576;g3e955750272_3_512"/>
          <p:cNvSpPr/>
          <p:nvPr/>
        </p:nvSpPr>
        <p:spPr>
          <a:xfrm>
            <a:off x="9944100" y="5372558"/>
            <a:ext cx="1142543"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프로필 매칭</a:t>
            </a:r>
            <a:endParaRPr b="0" i="0" sz="1400" u="none" cap="none" strike="noStrike">
              <a:solidFill>
                <a:schemeClr val="dk1"/>
              </a:solidFill>
              <a:latin typeface="Calibri"/>
              <a:ea typeface="Calibri"/>
              <a:cs typeface="Calibri"/>
              <a:sym typeface="Calibri"/>
            </a:endParaRPr>
          </a:p>
        </p:txBody>
      </p:sp>
      <p:sp>
        <p:nvSpPr>
          <p:cNvPr id="577" name="Google Shape;577;g3e955750272_3_512"/>
          <p:cNvSpPr/>
          <p:nvPr/>
        </p:nvSpPr>
        <p:spPr>
          <a:xfrm>
            <a:off x="9772650" y="6002121"/>
            <a:ext cx="7373721" cy="12577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78" name="Google Shape;578;g3e955750272_3_512"/>
          <p:cNvSpPr/>
          <p:nvPr/>
        </p:nvSpPr>
        <p:spPr>
          <a:xfrm>
            <a:off x="9772650" y="6002121"/>
            <a:ext cx="42519" cy="12577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79" name="Google Shape;579;g3e955750272_3_512"/>
          <p:cNvSpPr/>
          <p:nvPr/>
        </p:nvSpPr>
        <p:spPr>
          <a:xfrm>
            <a:off x="9944100" y="6173571"/>
            <a:ext cx="7030821"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예비창업패키지</a:t>
            </a:r>
            <a:endParaRPr b="0" i="0" sz="1800" u="none" cap="none" strike="noStrike">
              <a:solidFill>
                <a:schemeClr val="dk1"/>
              </a:solidFill>
              <a:latin typeface="Calibri"/>
              <a:ea typeface="Calibri"/>
              <a:cs typeface="Calibri"/>
              <a:sym typeface="Calibri"/>
            </a:endParaRPr>
          </a:p>
        </p:txBody>
      </p:sp>
      <p:sp>
        <p:nvSpPr>
          <p:cNvPr id="580" name="Google Shape;580;g3e955750272_3_512"/>
          <p:cNvSpPr/>
          <p:nvPr/>
        </p:nvSpPr>
        <p:spPr>
          <a:xfrm>
            <a:off x="9944100" y="6516471"/>
            <a:ext cx="7030821"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K-Startup · 창업 · 전국</a:t>
            </a:r>
            <a:endParaRPr b="0" i="0" sz="1500" u="none" cap="none" strike="noStrike">
              <a:solidFill>
                <a:schemeClr val="dk1"/>
              </a:solidFill>
              <a:latin typeface="Calibri"/>
              <a:ea typeface="Calibri"/>
              <a:cs typeface="Calibri"/>
              <a:sym typeface="Calibri"/>
            </a:endParaRPr>
          </a:p>
        </p:txBody>
      </p:sp>
      <p:sp>
        <p:nvSpPr>
          <p:cNvPr id="581" name="Google Shape;581;g3e955750272_3_512"/>
          <p:cNvSpPr/>
          <p:nvPr/>
        </p:nvSpPr>
        <p:spPr>
          <a:xfrm>
            <a:off x="9944100" y="6830568"/>
            <a:ext cx="1142543" cy="314097"/>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82" name="Google Shape;582;g3e955750272_3_512"/>
          <p:cNvSpPr/>
          <p:nvPr/>
        </p:nvSpPr>
        <p:spPr>
          <a:xfrm>
            <a:off x="9944100" y="6830568"/>
            <a:ext cx="1142543"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프로필 매칭</a:t>
            </a:r>
            <a:endParaRPr b="0" i="0" sz="1400" u="none" cap="none" strike="noStrike">
              <a:solidFill>
                <a:schemeClr val="dk1"/>
              </a:solidFill>
              <a:latin typeface="Calibri"/>
              <a:ea typeface="Calibri"/>
              <a:cs typeface="Calibri"/>
              <a:sym typeface="Calibri"/>
            </a:endParaRPr>
          </a:p>
        </p:txBody>
      </p:sp>
      <p:sp>
        <p:nvSpPr>
          <p:cNvPr id="583" name="Google Shape;583;g3e955750272_3_512"/>
          <p:cNvSpPr/>
          <p:nvPr/>
        </p:nvSpPr>
        <p:spPr>
          <a:xfrm>
            <a:off x="9772650" y="7460133"/>
            <a:ext cx="7373721" cy="1257757"/>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84" name="Google Shape;584;g3e955750272_3_512"/>
          <p:cNvSpPr/>
          <p:nvPr/>
        </p:nvSpPr>
        <p:spPr>
          <a:xfrm>
            <a:off x="9772650" y="7460133"/>
            <a:ext cx="42519" cy="1257757"/>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85" name="Google Shape;585;g3e955750272_3_512"/>
          <p:cNvSpPr/>
          <p:nvPr/>
        </p:nvSpPr>
        <p:spPr>
          <a:xfrm>
            <a:off x="9944100" y="7631583"/>
            <a:ext cx="7030821"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경기도 청년 일자리 도약 장려금</a:t>
            </a:r>
            <a:endParaRPr b="0" i="0" sz="1800" u="none" cap="none" strike="noStrike">
              <a:solidFill>
                <a:schemeClr val="dk1"/>
              </a:solidFill>
              <a:latin typeface="Calibri"/>
              <a:ea typeface="Calibri"/>
              <a:cs typeface="Calibri"/>
              <a:sym typeface="Calibri"/>
            </a:endParaRPr>
          </a:p>
        </p:txBody>
      </p:sp>
      <p:sp>
        <p:nvSpPr>
          <p:cNvPr id="586" name="Google Shape;586;g3e955750272_3_512"/>
          <p:cNvSpPr/>
          <p:nvPr/>
        </p:nvSpPr>
        <p:spPr>
          <a:xfrm>
            <a:off x="9944100" y="7974483"/>
            <a:ext cx="7030821"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경기도 · 일자리 · 청년</a:t>
            </a:r>
            <a:endParaRPr b="0" i="0" sz="1500" u="none" cap="none" strike="noStrike">
              <a:solidFill>
                <a:schemeClr val="dk1"/>
              </a:solidFill>
              <a:latin typeface="Calibri"/>
              <a:ea typeface="Calibri"/>
              <a:cs typeface="Calibri"/>
              <a:sym typeface="Calibri"/>
            </a:endParaRPr>
          </a:p>
        </p:txBody>
      </p:sp>
      <p:sp>
        <p:nvSpPr>
          <p:cNvPr id="587" name="Google Shape;587;g3e955750272_3_512"/>
          <p:cNvSpPr/>
          <p:nvPr/>
        </p:nvSpPr>
        <p:spPr>
          <a:xfrm>
            <a:off x="9944100" y="8288579"/>
            <a:ext cx="1142543" cy="314097"/>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88" name="Google Shape;588;g3e955750272_3_512"/>
          <p:cNvSpPr/>
          <p:nvPr/>
        </p:nvSpPr>
        <p:spPr>
          <a:xfrm>
            <a:off x="9944100" y="8288579"/>
            <a:ext cx="1142543"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프로필 매칭</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g3e955750272_3_566"/>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95" name="Google Shape;595;g3e955750272_3_566"/>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CH.04  ·  서비스 시연</a:t>
            </a:r>
            <a:endParaRPr b="0" i="0" sz="1400" u="none" cap="none" strike="noStrike">
              <a:solidFill>
                <a:schemeClr val="dk1"/>
              </a:solidFill>
              <a:latin typeface="Calibri"/>
              <a:ea typeface="Calibri"/>
              <a:cs typeface="Calibri"/>
              <a:sym typeface="Calibri"/>
            </a:endParaRPr>
          </a:p>
        </p:txBody>
      </p:sp>
      <p:sp>
        <p:nvSpPr>
          <p:cNvPr id="596" name="Google Shape;596;g3e955750272_3_566"/>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관리자 조회 화면</a:t>
            </a:r>
            <a:endParaRPr b="0" i="0" sz="4200" u="none" cap="none" strike="noStrike">
              <a:solidFill>
                <a:schemeClr val="dk1"/>
              </a:solidFill>
              <a:latin typeface="Calibri"/>
              <a:ea typeface="Calibri"/>
              <a:cs typeface="Calibri"/>
              <a:sym typeface="Calibri"/>
            </a:endParaRPr>
          </a:p>
        </p:txBody>
      </p:sp>
      <p:sp>
        <p:nvSpPr>
          <p:cNvPr id="597" name="Google Shape;597;g3e955750272_3_566"/>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정책 데이터 품질을 확인하는 read-only 조회 화면입니다.</a:t>
            </a:r>
            <a:endParaRPr b="0" i="0" sz="2000" u="none" cap="none" strike="noStrike">
              <a:solidFill>
                <a:schemeClr val="dk1"/>
              </a:solidFill>
              <a:latin typeface="Calibri"/>
              <a:ea typeface="Calibri"/>
              <a:cs typeface="Calibri"/>
              <a:sym typeface="Calibri"/>
            </a:endParaRPr>
          </a:p>
        </p:txBody>
      </p:sp>
      <p:sp>
        <p:nvSpPr>
          <p:cNvPr id="598" name="Google Shape;598;g3e955750272_3_566"/>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99" name="Google Shape;599;g3e955750272_3_566"/>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관리자 조회</a:t>
            </a:r>
            <a:endParaRPr b="0" i="0" sz="1400" u="none" cap="none" strike="noStrike">
              <a:solidFill>
                <a:schemeClr val="dk1"/>
              </a:solidFill>
              <a:latin typeface="Calibri"/>
              <a:ea typeface="Calibri"/>
              <a:cs typeface="Calibri"/>
              <a:sym typeface="Calibri"/>
            </a:endParaRPr>
          </a:p>
        </p:txBody>
      </p:sp>
      <p:sp>
        <p:nvSpPr>
          <p:cNvPr id="600" name="Google Shape;600;g3e955750272_3_566"/>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14 / 23</a:t>
            </a:r>
            <a:endParaRPr b="0" i="0" sz="1400" u="none" cap="none" strike="noStrike">
              <a:solidFill>
                <a:schemeClr val="dk1"/>
              </a:solidFill>
              <a:latin typeface="Calibri"/>
              <a:ea typeface="Calibri"/>
              <a:cs typeface="Calibri"/>
              <a:sym typeface="Calibri"/>
            </a:endParaRPr>
          </a:p>
        </p:txBody>
      </p:sp>
      <p:sp>
        <p:nvSpPr>
          <p:cNvPr id="601" name="Google Shape;601;g3e955750272_3_566"/>
          <p:cNvSpPr/>
          <p:nvPr/>
        </p:nvSpPr>
        <p:spPr>
          <a:xfrm>
            <a:off x="914857" y="3372765"/>
            <a:ext cx="9830258" cy="51435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02" name="Google Shape;602;g3e955750272_3_566"/>
          <p:cNvSpPr/>
          <p:nvPr/>
        </p:nvSpPr>
        <p:spPr>
          <a:xfrm>
            <a:off x="914857" y="3372765"/>
            <a:ext cx="9830258" cy="514350"/>
          </a:xfrm>
          <a:prstGeom prst="rect">
            <a:avLst/>
          </a:prstGeom>
          <a:solidFill>
            <a:srgbClr val="1A2A4A"/>
          </a:solidFill>
          <a:ln cap="flat" cmpd="sng" w="12700">
            <a:solidFill>
              <a:srgbClr val="1A2A4A"/>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03" name="Google Shape;603;g3e955750272_3_566"/>
          <p:cNvSpPr/>
          <p:nvPr/>
        </p:nvSpPr>
        <p:spPr>
          <a:xfrm>
            <a:off x="1143915" y="3372765"/>
            <a:ext cx="9373515"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/admin  ·  PolicyRec Console</a:t>
            </a:r>
            <a:endParaRPr b="0" i="0" sz="1700" u="none" cap="none" strike="noStrike">
              <a:solidFill>
                <a:schemeClr val="dk1"/>
              </a:solidFill>
              <a:latin typeface="Calibri"/>
              <a:ea typeface="Calibri"/>
              <a:cs typeface="Calibri"/>
              <a:sym typeface="Calibri"/>
            </a:endParaRPr>
          </a:p>
        </p:txBody>
      </p:sp>
      <p:sp>
        <p:nvSpPr>
          <p:cNvPr id="604" name="Google Shape;604;g3e955750272_3_566"/>
          <p:cNvSpPr/>
          <p:nvPr/>
        </p:nvSpPr>
        <p:spPr>
          <a:xfrm>
            <a:off x="1143915" y="4172408"/>
            <a:ext cx="2214791"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05" name="Google Shape;605;g3e955750272_3_566"/>
          <p:cNvSpPr/>
          <p:nvPr/>
        </p:nvSpPr>
        <p:spPr>
          <a:xfrm>
            <a:off x="1372971" y="4343858"/>
            <a:ext cx="175804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3600"/>
              <a:buFont typeface="Arial"/>
              <a:buNone/>
            </a:pPr>
            <a:r>
              <a:rPr b="1" i="0" lang="en-US" sz="3600" u="none" cap="none" strike="noStrike">
                <a:solidFill>
                  <a:srgbClr val="5B5BD6"/>
                </a:solidFill>
                <a:latin typeface="Arial"/>
                <a:ea typeface="Arial"/>
                <a:cs typeface="Arial"/>
                <a:sym typeface="Arial"/>
              </a:rPr>
              <a:t>565</a:t>
            </a:r>
            <a:endParaRPr b="0" i="0" sz="3600" u="none" cap="none" strike="noStrike">
              <a:solidFill>
                <a:schemeClr val="dk1"/>
              </a:solidFill>
              <a:latin typeface="Calibri"/>
              <a:ea typeface="Calibri"/>
              <a:cs typeface="Calibri"/>
              <a:sym typeface="Calibri"/>
            </a:endParaRPr>
          </a:p>
        </p:txBody>
      </p:sp>
      <p:sp>
        <p:nvSpPr>
          <p:cNvPr id="606" name="Google Shape;606;g3e955750272_3_566"/>
          <p:cNvSpPr/>
          <p:nvPr/>
        </p:nvSpPr>
        <p:spPr>
          <a:xfrm>
            <a:off x="1372971" y="4915815"/>
            <a:ext cx="1758048"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총 공고</a:t>
            </a:r>
            <a:endParaRPr b="0" i="0" sz="1500" u="none" cap="none" strike="noStrike">
              <a:solidFill>
                <a:schemeClr val="dk1"/>
              </a:solidFill>
              <a:latin typeface="Calibri"/>
              <a:ea typeface="Calibri"/>
              <a:cs typeface="Calibri"/>
              <a:sym typeface="Calibri"/>
            </a:endParaRPr>
          </a:p>
        </p:txBody>
      </p:sp>
      <p:sp>
        <p:nvSpPr>
          <p:cNvPr id="607" name="Google Shape;607;g3e955750272_3_566"/>
          <p:cNvSpPr/>
          <p:nvPr/>
        </p:nvSpPr>
        <p:spPr>
          <a:xfrm>
            <a:off x="3530156" y="4172408"/>
            <a:ext cx="2214791"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08" name="Google Shape;608;g3e955750272_3_566"/>
          <p:cNvSpPr/>
          <p:nvPr/>
        </p:nvSpPr>
        <p:spPr>
          <a:xfrm>
            <a:off x="3759213" y="4343858"/>
            <a:ext cx="175804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3600"/>
              <a:buFont typeface="Arial"/>
              <a:buNone/>
            </a:pPr>
            <a:r>
              <a:rPr b="1" i="0" lang="en-US" sz="3600" u="none" cap="none" strike="noStrike">
                <a:solidFill>
                  <a:srgbClr val="9A3412"/>
                </a:solidFill>
                <a:latin typeface="Arial"/>
                <a:ea typeface="Arial"/>
                <a:cs typeface="Arial"/>
                <a:sym typeface="Arial"/>
              </a:rPr>
              <a:t>3</a:t>
            </a:r>
            <a:endParaRPr b="0" i="0" sz="3600" u="none" cap="none" strike="noStrike">
              <a:solidFill>
                <a:schemeClr val="dk1"/>
              </a:solidFill>
              <a:latin typeface="Calibri"/>
              <a:ea typeface="Calibri"/>
              <a:cs typeface="Calibri"/>
              <a:sym typeface="Calibri"/>
            </a:endParaRPr>
          </a:p>
        </p:txBody>
      </p:sp>
      <p:sp>
        <p:nvSpPr>
          <p:cNvPr id="609" name="Google Shape;609;g3e955750272_3_566"/>
          <p:cNvSpPr/>
          <p:nvPr/>
        </p:nvSpPr>
        <p:spPr>
          <a:xfrm>
            <a:off x="3759213" y="4915815"/>
            <a:ext cx="1758048"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데이터 소스</a:t>
            </a:r>
            <a:endParaRPr b="0" i="0" sz="1500" u="none" cap="none" strike="noStrike">
              <a:solidFill>
                <a:schemeClr val="dk1"/>
              </a:solidFill>
              <a:latin typeface="Calibri"/>
              <a:ea typeface="Calibri"/>
              <a:cs typeface="Calibri"/>
              <a:sym typeface="Calibri"/>
            </a:endParaRPr>
          </a:p>
        </p:txBody>
      </p:sp>
      <p:sp>
        <p:nvSpPr>
          <p:cNvPr id="610" name="Google Shape;610;g3e955750272_3_566"/>
          <p:cNvSpPr/>
          <p:nvPr/>
        </p:nvSpPr>
        <p:spPr>
          <a:xfrm>
            <a:off x="5916396" y="4172408"/>
            <a:ext cx="2214790"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11" name="Google Shape;611;g3e955750272_3_566"/>
          <p:cNvSpPr/>
          <p:nvPr/>
        </p:nvSpPr>
        <p:spPr>
          <a:xfrm>
            <a:off x="6145454" y="4343858"/>
            <a:ext cx="175804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3600"/>
              <a:buFont typeface="Arial"/>
              <a:buNone/>
            </a:pPr>
            <a:r>
              <a:rPr b="1" i="0" lang="en-US" sz="3600" u="none" cap="none" strike="noStrike">
                <a:solidFill>
                  <a:srgbClr val="166534"/>
                </a:solidFill>
                <a:latin typeface="Arial"/>
                <a:ea typeface="Arial"/>
                <a:cs typeface="Arial"/>
                <a:sym typeface="Arial"/>
              </a:rPr>
              <a:t>17</a:t>
            </a:r>
            <a:endParaRPr b="0" i="0" sz="3600" u="none" cap="none" strike="noStrike">
              <a:solidFill>
                <a:schemeClr val="dk1"/>
              </a:solidFill>
              <a:latin typeface="Calibri"/>
              <a:ea typeface="Calibri"/>
              <a:cs typeface="Calibri"/>
              <a:sym typeface="Calibri"/>
            </a:endParaRPr>
          </a:p>
        </p:txBody>
      </p:sp>
      <p:sp>
        <p:nvSpPr>
          <p:cNvPr id="612" name="Google Shape;612;g3e955750272_3_566"/>
          <p:cNvSpPr/>
          <p:nvPr/>
        </p:nvSpPr>
        <p:spPr>
          <a:xfrm>
            <a:off x="6145454" y="4915815"/>
            <a:ext cx="1758048"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지역</a:t>
            </a:r>
            <a:endParaRPr b="0" i="0" sz="1500" u="none" cap="none" strike="noStrike">
              <a:solidFill>
                <a:schemeClr val="dk1"/>
              </a:solidFill>
              <a:latin typeface="Calibri"/>
              <a:ea typeface="Calibri"/>
              <a:cs typeface="Calibri"/>
              <a:sym typeface="Calibri"/>
            </a:endParaRPr>
          </a:p>
        </p:txBody>
      </p:sp>
      <p:sp>
        <p:nvSpPr>
          <p:cNvPr id="613" name="Google Shape;613;g3e955750272_3_566"/>
          <p:cNvSpPr/>
          <p:nvPr/>
        </p:nvSpPr>
        <p:spPr>
          <a:xfrm>
            <a:off x="8302638" y="4172408"/>
            <a:ext cx="2214791" cy="11425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14" name="Google Shape;614;g3e955750272_3_566"/>
          <p:cNvSpPr/>
          <p:nvPr/>
        </p:nvSpPr>
        <p:spPr>
          <a:xfrm>
            <a:off x="8531696" y="4343858"/>
            <a:ext cx="1758048"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4ED8"/>
              </a:buClr>
              <a:buSzPts val="3600"/>
              <a:buFont typeface="Arial"/>
              <a:buNone/>
            </a:pPr>
            <a:r>
              <a:rPr b="1" i="0" lang="en-US" sz="3600" u="none" cap="none" strike="noStrike">
                <a:solidFill>
                  <a:srgbClr val="1D4ED8"/>
                </a:solidFill>
                <a:latin typeface="Arial"/>
                <a:ea typeface="Arial"/>
                <a:cs typeface="Arial"/>
                <a:sym typeface="Arial"/>
              </a:rPr>
              <a:t>29</a:t>
            </a:r>
            <a:endParaRPr b="0" i="0" sz="3600" u="none" cap="none" strike="noStrike">
              <a:solidFill>
                <a:schemeClr val="dk1"/>
              </a:solidFill>
              <a:latin typeface="Calibri"/>
              <a:ea typeface="Calibri"/>
              <a:cs typeface="Calibri"/>
              <a:sym typeface="Calibri"/>
            </a:endParaRPr>
          </a:p>
        </p:txBody>
      </p:sp>
      <p:sp>
        <p:nvSpPr>
          <p:cNvPr id="615" name="Google Shape;615;g3e955750272_3_566"/>
          <p:cNvSpPr/>
          <p:nvPr/>
        </p:nvSpPr>
        <p:spPr>
          <a:xfrm>
            <a:off x="8531696" y="4915815"/>
            <a:ext cx="1758048"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공통 컬럼</a:t>
            </a:r>
            <a:endParaRPr b="0" i="0" sz="1500" u="none" cap="none" strike="noStrike">
              <a:solidFill>
                <a:schemeClr val="dk1"/>
              </a:solidFill>
              <a:latin typeface="Calibri"/>
              <a:ea typeface="Calibri"/>
              <a:cs typeface="Calibri"/>
              <a:sym typeface="Calibri"/>
            </a:endParaRPr>
          </a:p>
        </p:txBody>
      </p:sp>
      <p:sp>
        <p:nvSpPr>
          <p:cNvPr id="616" name="Google Shape;616;g3e955750272_3_566"/>
          <p:cNvSpPr/>
          <p:nvPr/>
        </p:nvSpPr>
        <p:spPr>
          <a:xfrm>
            <a:off x="1143915" y="5659221"/>
            <a:ext cx="9373515"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1" i="0" lang="en-US" sz="1700" u="none" cap="none" strike="noStrike">
                <a:solidFill>
                  <a:srgbClr val="1A1A22"/>
                </a:solidFill>
                <a:latin typeface="Arial"/>
                <a:ea typeface="Arial"/>
                <a:cs typeface="Arial"/>
                <a:sym typeface="Arial"/>
              </a:rPr>
              <a:t>최근 적재된 공고 (read-only)</a:t>
            </a:r>
            <a:endParaRPr b="0" i="0" sz="1700" u="none" cap="none" strike="noStrike">
              <a:solidFill>
                <a:schemeClr val="dk1"/>
              </a:solidFill>
              <a:latin typeface="Calibri"/>
              <a:ea typeface="Calibri"/>
              <a:cs typeface="Calibri"/>
              <a:sym typeface="Calibri"/>
            </a:endParaRPr>
          </a:p>
        </p:txBody>
      </p:sp>
      <p:sp>
        <p:nvSpPr>
          <p:cNvPr id="617" name="Google Shape;617;g3e955750272_3_566"/>
          <p:cNvSpPr/>
          <p:nvPr/>
        </p:nvSpPr>
        <p:spPr>
          <a:xfrm>
            <a:off x="1143915" y="6059729"/>
            <a:ext cx="9373515" cy="400507"/>
          </a:xfrm>
          <a:prstGeom prst="rect">
            <a:avLst/>
          </a:prstGeom>
          <a:solidFill>
            <a:srgbClr val="F6F7F9"/>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18" name="Google Shape;618;g3e955750272_3_566"/>
          <p:cNvSpPr/>
          <p:nvPr/>
        </p:nvSpPr>
        <p:spPr>
          <a:xfrm>
            <a:off x="1315365" y="60597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title</a:t>
            </a:r>
            <a:endParaRPr b="0" i="0" sz="1500" u="none" cap="none" strike="noStrike">
              <a:solidFill>
                <a:schemeClr val="dk1"/>
              </a:solidFill>
              <a:latin typeface="Calibri"/>
              <a:ea typeface="Calibri"/>
              <a:cs typeface="Calibri"/>
              <a:sym typeface="Calibri"/>
            </a:endParaRPr>
          </a:p>
        </p:txBody>
      </p:sp>
      <p:sp>
        <p:nvSpPr>
          <p:cNvPr id="619" name="Google Shape;619;g3e955750272_3_566"/>
          <p:cNvSpPr/>
          <p:nvPr/>
        </p:nvSpPr>
        <p:spPr>
          <a:xfrm>
            <a:off x="3658743" y="60597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source</a:t>
            </a:r>
            <a:endParaRPr b="0" i="0" sz="1500" u="none" cap="none" strike="noStrike">
              <a:solidFill>
                <a:schemeClr val="dk1"/>
              </a:solidFill>
              <a:latin typeface="Calibri"/>
              <a:ea typeface="Calibri"/>
              <a:cs typeface="Calibri"/>
              <a:sym typeface="Calibri"/>
            </a:endParaRPr>
          </a:p>
        </p:txBody>
      </p:sp>
      <p:sp>
        <p:nvSpPr>
          <p:cNvPr id="620" name="Google Shape;620;g3e955750272_3_566"/>
          <p:cNvSpPr/>
          <p:nvPr/>
        </p:nvSpPr>
        <p:spPr>
          <a:xfrm>
            <a:off x="6002121" y="60597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region</a:t>
            </a:r>
            <a:endParaRPr b="0" i="0" sz="1500" u="none" cap="none" strike="noStrike">
              <a:solidFill>
                <a:schemeClr val="dk1"/>
              </a:solidFill>
              <a:latin typeface="Calibri"/>
              <a:ea typeface="Calibri"/>
              <a:cs typeface="Calibri"/>
              <a:sym typeface="Calibri"/>
            </a:endParaRPr>
          </a:p>
        </p:txBody>
      </p:sp>
      <p:sp>
        <p:nvSpPr>
          <p:cNvPr id="621" name="Google Shape;621;g3e955750272_3_566"/>
          <p:cNvSpPr/>
          <p:nvPr/>
        </p:nvSpPr>
        <p:spPr>
          <a:xfrm>
            <a:off x="8345501" y="60597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1" i="0" lang="en-US" sz="1500" u="none" cap="none" strike="noStrike">
                <a:solidFill>
                  <a:srgbClr val="6B7280"/>
                </a:solidFill>
                <a:latin typeface="Arial"/>
                <a:ea typeface="Arial"/>
                <a:cs typeface="Arial"/>
                <a:sym typeface="Arial"/>
              </a:rPr>
              <a:t>category</a:t>
            </a:r>
            <a:endParaRPr b="0" i="0" sz="1500" u="none" cap="none" strike="noStrike">
              <a:solidFill>
                <a:schemeClr val="dk1"/>
              </a:solidFill>
              <a:latin typeface="Calibri"/>
              <a:ea typeface="Calibri"/>
              <a:cs typeface="Calibri"/>
              <a:sym typeface="Calibri"/>
            </a:endParaRPr>
          </a:p>
        </p:txBody>
      </p:sp>
      <p:sp>
        <p:nvSpPr>
          <p:cNvPr id="622" name="Google Shape;622;g3e955750272_3_566"/>
          <p:cNvSpPr/>
          <p:nvPr/>
        </p:nvSpPr>
        <p:spPr>
          <a:xfrm>
            <a:off x="1143915" y="6974586"/>
            <a:ext cx="9373515" cy="13716"/>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23" name="Google Shape;623;g3e955750272_3_566"/>
          <p:cNvSpPr/>
          <p:nvPr/>
        </p:nvSpPr>
        <p:spPr>
          <a:xfrm>
            <a:off x="1315365" y="65740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서울 청년 창업 지원</a:t>
            </a:r>
            <a:endParaRPr b="0" i="0" sz="1500" u="none" cap="none" strike="noStrike">
              <a:solidFill>
                <a:schemeClr val="dk1"/>
              </a:solidFill>
              <a:latin typeface="Calibri"/>
              <a:ea typeface="Calibri"/>
              <a:cs typeface="Calibri"/>
              <a:sym typeface="Calibri"/>
            </a:endParaRPr>
          </a:p>
        </p:txBody>
      </p:sp>
      <p:sp>
        <p:nvSpPr>
          <p:cNvPr id="624" name="Google Shape;624;g3e955750272_3_566"/>
          <p:cNvSpPr/>
          <p:nvPr/>
        </p:nvSpPr>
        <p:spPr>
          <a:xfrm>
            <a:off x="3658743" y="65740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kst</a:t>
            </a:r>
            <a:endParaRPr b="0" i="0" sz="1500" u="none" cap="none" strike="noStrike">
              <a:solidFill>
                <a:schemeClr val="dk1"/>
              </a:solidFill>
              <a:latin typeface="Calibri"/>
              <a:ea typeface="Calibri"/>
              <a:cs typeface="Calibri"/>
              <a:sym typeface="Calibri"/>
            </a:endParaRPr>
          </a:p>
        </p:txBody>
      </p:sp>
      <p:sp>
        <p:nvSpPr>
          <p:cNvPr id="625" name="Google Shape;625;g3e955750272_3_566"/>
          <p:cNvSpPr/>
          <p:nvPr/>
        </p:nvSpPr>
        <p:spPr>
          <a:xfrm>
            <a:off x="6002121" y="65740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서울특별시</a:t>
            </a:r>
            <a:endParaRPr b="0" i="0" sz="1500" u="none" cap="none" strike="noStrike">
              <a:solidFill>
                <a:schemeClr val="dk1"/>
              </a:solidFill>
              <a:latin typeface="Calibri"/>
              <a:ea typeface="Calibri"/>
              <a:cs typeface="Calibri"/>
              <a:sym typeface="Calibri"/>
            </a:endParaRPr>
          </a:p>
        </p:txBody>
      </p:sp>
      <p:sp>
        <p:nvSpPr>
          <p:cNvPr id="626" name="Google Shape;626;g3e955750272_3_566"/>
          <p:cNvSpPr/>
          <p:nvPr/>
        </p:nvSpPr>
        <p:spPr>
          <a:xfrm>
            <a:off x="8345501" y="65740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사업화</a:t>
            </a:r>
            <a:endParaRPr b="0" i="0" sz="1500" u="none" cap="none" strike="noStrike">
              <a:solidFill>
                <a:schemeClr val="dk1"/>
              </a:solidFill>
              <a:latin typeface="Calibri"/>
              <a:ea typeface="Calibri"/>
              <a:cs typeface="Calibri"/>
              <a:sym typeface="Calibri"/>
            </a:endParaRPr>
          </a:p>
        </p:txBody>
      </p:sp>
      <p:sp>
        <p:nvSpPr>
          <p:cNvPr id="627" name="Google Shape;627;g3e955750272_3_566"/>
          <p:cNvSpPr/>
          <p:nvPr/>
        </p:nvSpPr>
        <p:spPr>
          <a:xfrm>
            <a:off x="1143915" y="7488936"/>
            <a:ext cx="9373515" cy="13716"/>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28" name="Google Shape;628;g3e955750272_3_566"/>
          <p:cNvSpPr/>
          <p:nvPr/>
        </p:nvSpPr>
        <p:spPr>
          <a:xfrm>
            <a:off x="1315365" y="70884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전세피해 청년 지원</a:t>
            </a:r>
            <a:endParaRPr b="0" i="0" sz="1500" u="none" cap="none" strike="noStrike">
              <a:solidFill>
                <a:schemeClr val="dk1"/>
              </a:solidFill>
              <a:latin typeface="Calibri"/>
              <a:ea typeface="Calibri"/>
              <a:cs typeface="Calibri"/>
              <a:sym typeface="Calibri"/>
            </a:endParaRPr>
          </a:p>
        </p:txBody>
      </p:sp>
      <p:sp>
        <p:nvSpPr>
          <p:cNvPr id="629" name="Google Shape;629;g3e955750272_3_566"/>
          <p:cNvSpPr/>
          <p:nvPr/>
        </p:nvSpPr>
        <p:spPr>
          <a:xfrm>
            <a:off x="3658743" y="70884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youth</a:t>
            </a:r>
            <a:endParaRPr b="0" i="0" sz="1500" u="none" cap="none" strike="noStrike">
              <a:solidFill>
                <a:schemeClr val="dk1"/>
              </a:solidFill>
              <a:latin typeface="Calibri"/>
              <a:ea typeface="Calibri"/>
              <a:cs typeface="Calibri"/>
              <a:sym typeface="Calibri"/>
            </a:endParaRPr>
          </a:p>
        </p:txBody>
      </p:sp>
      <p:sp>
        <p:nvSpPr>
          <p:cNvPr id="630" name="Google Shape;630;g3e955750272_3_566"/>
          <p:cNvSpPr/>
          <p:nvPr/>
        </p:nvSpPr>
        <p:spPr>
          <a:xfrm>
            <a:off x="6002121" y="70884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전국</a:t>
            </a:r>
            <a:endParaRPr b="0" i="0" sz="1500" u="none" cap="none" strike="noStrike">
              <a:solidFill>
                <a:schemeClr val="dk1"/>
              </a:solidFill>
              <a:latin typeface="Calibri"/>
              <a:ea typeface="Calibri"/>
              <a:cs typeface="Calibri"/>
              <a:sym typeface="Calibri"/>
            </a:endParaRPr>
          </a:p>
        </p:txBody>
      </p:sp>
      <p:sp>
        <p:nvSpPr>
          <p:cNvPr id="631" name="Google Shape;631;g3e955750272_3_566"/>
          <p:cNvSpPr/>
          <p:nvPr/>
        </p:nvSpPr>
        <p:spPr>
          <a:xfrm>
            <a:off x="8345501" y="708842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주거</a:t>
            </a:r>
            <a:endParaRPr b="0" i="0" sz="1500" u="none" cap="none" strike="noStrike">
              <a:solidFill>
                <a:schemeClr val="dk1"/>
              </a:solidFill>
              <a:latin typeface="Calibri"/>
              <a:ea typeface="Calibri"/>
              <a:cs typeface="Calibri"/>
              <a:sym typeface="Calibri"/>
            </a:endParaRPr>
          </a:p>
        </p:txBody>
      </p:sp>
      <p:sp>
        <p:nvSpPr>
          <p:cNvPr id="632" name="Google Shape;632;g3e955750272_3_566"/>
          <p:cNvSpPr/>
          <p:nvPr/>
        </p:nvSpPr>
        <p:spPr>
          <a:xfrm>
            <a:off x="1143915" y="8003286"/>
            <a:ext cx="9373515" cy="13716"/>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33" name="Google Shape;633;g3e955750272_3_566"/>
          <p:cNvSpPr/>
          <p:nvPr/>
        </p:nvSpPr>
        <p:spPr>
          <a:xfrm>
            <a:off x="1315365" y="76027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소상공인 자금지원</a:t>
            </a:r>
            <a:endParaRPr b="0" i="0" sz="1500" u="none" cap="none" strike="noStrike">
              <a:solidFill>
                <a:schemeClr val="dk1"/>
              </a:solidFill>
              <a:latin typeface="Calibri"/>
              <a:ea typeface="Calibri"/>
              <a:cs typeface="Calibri"/>
              <a:sym typeface="Calibri"/>
            </a:endParaRPr>
          </a:p>
        </p:txBody>
      </p:sp>
      <p:sp>
        <p:nvSpPr>
          <p:cNvPr id="634" name="Google Shape;634;g3e955750272_3_566"/>
          <p:cNvSpPr/>
          <p:nvPr/>
        </p:nvSpPr>
        <p:spPr>
          <a:xfrm>
            <a:off x="3658743" y="76027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biz</a:t>
            </a:r>
            <a:endParaRPr b="0" i="0" sz="1500" u="none" cap="none" strike="noStrike">
              <a:solidFill>
                <a:schemeClr val="dk1"/>
              </a:solidFill>
              <a:latin typeface="Calibri"/>
              <a:ea typeface="Calibri"/>
              <a:cs typeface="Calibri"/>
              <a:sym typeface="Calibri"/>
            </a:endParaRPr>
          </a:p>
        </p:txBody>
      </p:sp>
      <p:sp>
        <p:nvSpPr>
          <p:cNvPr id="635" name="Google Shape;635;g3e955750272_3_566"/>
          <p:cNvSpPr/>
          <p:nvPr/>
        </p:nvSpPr>
        <p:spPr>
          <a:xfrm>
            <a:off x="6002121" y="76027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전국</a:t>
            </a:r>
            <a:endParaRPr b="0" i="0" sz="1500" u="none" cap="none" strike="noStrike">
              <a:solidFill>
                <a:schemeClr val="dk1"/>
              </a:solidFill>
              <a:latin typeface="Calibri"/>
              <a:ea typeface="Calibri"/>
              <a:cs typeface="Calibri"/>
              <a:sym typeface="Calibri"/>
            </a:endParaRPr>
          </a:p>
        </p:txBody>
      </p:sp>
      <p:sp>
        <p:nvSpPr>
          <p:cNvPr id="636" name="Google Shape;636;g3e955750272_3_566"/>
          <p:cNvSpPr/>
          <p:nvPr/>
        </p:nvSpPr>
        <p:spPr>
          <a:xfrm>
            <a:off x="8345501" y="7602779"/>
            <a:ext cx="2171928"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500"/>
              <a:buFont typeface="Arial"/>
              <a:buNone/>
            </a:pPr>
            <a:r>
              <a:rPr b="0" i="0" lang="en-US" sz="1500" u="none" cap="none" strike="noStrike">
                <a:solidFill>
                  <a:srgbClr val="1A1A22"/>
                </a:solidFill>
                <a:latin typeface="Arial"/>
                <a:ea typeface="Arial"/>
                <a:cs typeface="Arial"/>
                <a:sym typeface="Arial"/>
              </a:rPr>
              <a:t>경영</a:t>
            </a:r>
            <a:endParaRPr b="0" i="0" sz="1500" u="none" cap="none" strike="noStrike">
              <a:solidFill>
                <a:schemeClr val="dk1"/>
              </a:solidFill>
              <a:latin typeface="Calibri"/>
              <a:ea typeface="Calibri"/>
              <a:cs typeface="Calibri"/>
              <a:sym typeface="Calibri"/>
            </a:endParaRPr>
          </a:p>
        </p:txBody>
      </p:sp>
      <p:sp>
        <p:nvSpPr>
          <p:cNvPr id="637" name="Google Shape;637;g3e955750272_3_566"/>
          <p:cNvSpPr/>
          <p:nvPr/>
        </p:nvSpPr>
        <p:spPr>
          <a:xfrm>
            <a:off x="11201858" y="3372765"/>
            <a:ext cx="1419606" cy="314097"/>
          </a:xfrm>
          <a:prstGeom prst="roundRect">
            <a:avLst>
              <a:gd fmla="val 17467" name="adj"/>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38" name="Google Shape;638;g3e955750272_3_566"/>
          <p:cNvSpPr/>
          <p:nvPr/>
        </p:nvSpPr>
        <p:spPr>
          <a:xfrm>
            <a:off x="11201858" y="3372765"/>
            <a:ext cx="1419606"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READ-ONLY</a:t>
            </a:r>
            <a:endParaRPr b="0" i="0" sz="1400" u="none" cap="none" strike="noStrike">
              <a:solidFill>
                <a:schemeClr val="dk1"/>
              </a:solidFill>
              <a:latin typeface="Calibri"/>
              <a:ea typeface="Calibri"/>
              <a:cs typeface="Calibri"/>
              <a:sym typeface="Calibri"/>
            </a:endParaRPr>
          </a:p>
        </p:txBody>
      </p:sp>
      <p:sp>
        <p:nvSpPr>
          <p:cNvPr id="639" name="Google Shape;639;g3e955750272_3_566"/>
          <p:cNvSpPr/>
          <p:nvPr/>
        </p:nvSpPr>
        <p:spPr>
          <a:xfrm>
            <a:off x="12573458" y="3372765"/>
            <a:ext cx="1142542" cy="314097"/>
          </a:xfrm>
          <a:prstGeom prst="roundRect">
            <a:avLst>
              <a:gd fmla="val 17467" name="adj"/>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40" name="Google Shape;640;g3e955750272_3_566"/>
          <p:cNvSpPr/>
          <p:nvPr/>
        </p:nvSpPr>
        <p:spPr>
          <a:xfrm>
            <a:off x="12573458" y="3372765"/>
            <a:ext cx="1142542"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NOT CMS</a:t>
            </a:r>
            <a:endParaRPr b="0" i="0" sz="1400" u="none" cap="none" strike="noStrike">
              <a:solidFill>
                <a:schemeClr val="dk1"/>
              </a:solidFill>
              <a:latin typeface="Calibri"/>
              <a:ea typeface="Calibri"/>
              <a:cs typeface="Calibri"/>
              <a:sym typeface="Calibri"/>
            </a:endParaRPr>
          </a:p>
        </p:txBody>
      </p:sp>
      <p:sp>
        <p:nvSpPr>
          <p:cNvPr id="641" name="Google Shape;641;g3e955750272_3_566"/>
          <p:cNvSpPr/>
          <p:nvPr/>
        </p:nvSpPr>
        <p:spPr>
          <a:xfrm>
            <a:off x="11201858" y="3887115"/>
            <a:ext cx="6172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정책 추가 · 수정이 아닌 DB 상태 확인 전용</a:t>
            </a:r>
            <a:endParaRPr b="0" i="0" sz="1700" u="none" cap="none" strike="noStrike">
              <a:solidFill>
                <a:schemeClr val="dk1"/>
              </a:solidFill>
              <a:latin typeface="Calibri"/>
              <a:ea typeface="Calibri"/>
              <a:cs typeface="Calibri"/>
              <a:sym typeface="Calibri"/>
            </a:endParaRPr>
          </a:p>
        </p:txBody>
      </p:sp>
      <p:sp>
        <p:nvSpPr>
          <p:cNvPr id="642" name="Google Shape;642;g3e955750272_3_566"/>
          <p:cNvSpPr/>
          <p:nvPr/>
        </p:nvSpPr>
        <p:spPr>
          <a:xfrm>
            <a:off x="11201858" y="4515308"/>
            <a:ext cx="42519" cy="799643"/>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43" name="Google Shape;643;g3e955750272_3_566"/>
          <p:cNvSpPr/>
          <p:nvPr/>
        </p:nvSpPr>
        <p:spPr>
          <a:xfrm>
            <a:off x="11402111" y="4515308"/>
            <a:ext cx="597194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DB에 어떤 공고가 적재되어 있는지</a:t>
            </a:r>
            <a:endParaRPr b="0" i="0" sz="2000" u="none" cap="none" strike="noStrike">
              <a:solidFill>
                <a:schemeClr val="dk1"/>
              </a:solidFill>
              <a:latin typeface="Calibri"/>
              <a:ea typeface="Calibri"/>
              <a:cs typeface="Calibri"/>
              <a:sym typeface="Calibri"/>
            </a:endParaRPr>
          </a:p>
        </p:txBody>
      </p:sp>
      <p:sp>
        <p:nvSpPr>
          <p:cNvPr id="644" name="Google Shape;644;g3e955750272_3_566"/>
          <p:cNvSpPr/>
          <p:nvPr/>
        </p:nvSpPr>
        <p:spPr>
          <a:xfrm>
            <a:off x="11402111" y="4915815"/>
            <a:ext cx="5971947"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main CSV 기준 565건의 적재 상태 확인</a:t>
            </a:r>
            <a:endParaRPr b="0" i="0" sz="1700" u="none" cap="none" strike="noStrike">
              <a:solidFill>
                <a:schemeClr val="dk1"/>
              </a:solidFill>
              <a:latin typeface="Calibri"/>
              <a:ea typeface="Calibri"/>
              <a:cs typeface="Calibri"/>
              <a:sym typeface="Calibri"/>
            </a:endParaRPr>
          </a:p>
        </p:txBody>
      </p:sp>
      <p:sp>
        <p:nvSpPr>
          <p:cNvPr id="645" name="Google Shape;645;g3e955750272_3_566"/>
          <p:cNvSpPr/>
          <p:nvPr/>
        </p:nvSpPr>
        <p:spPr>
          <a:xfrm>
            <a:off x="11201858" y="5544008"/>
            <a:ext cx="42519" cy="799643"/>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46" name="Google Shape;646;g3e955750272_3_566"/>
          <p:cNvSpPr/>
          <p:nvPr/>
        </p:nvSpPr>
        <p:spPr>
          <a:xfrm>
            <a:off x="11402111" y="5544008"/>
            <a:ext cx="597194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분야 · 지역 분포 확인</a:t>
            </a:r>
            <a:endParaRPr b="0" i="0" sz="2000" u="none" cap="none" strike="noStrike">
              <a:solidFill>
                <a:schemeClr val="dk1"/>
              </a:solidFill>
              <a:latin typeface="Calibri"/>
              <a:ea typeface="Calibri"/>
              <a:cs typeface="Calibri"/>
              <a:sym typeface="Calibri"/>
            </a:endParaRPr>
          </a:p>
        </p:txBody>
      </p:sp>
      <p:sp>
        <p:nvSpPr>
          <p:cNvPr id="647" name="Google Shape;647;g3e955750272_3_566"/>
          <p:cNvSpPr/>
          <p:nvPr/>
        </p:nvSpPr>
        <p:spPr>
          <a:xfrm>
            <a:off x="11402111" y="5944515"/>
            <a:ext cx="5971947"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카테고리 · 지역 단위 데이터 편향 점검</a:t>
            </a:r>
            <a:endParaRPr b="0" i="0" sz="1700" u="none" cap="none" strike="noStrike">
              <a:solidFill>
                <a:schemeClr val="dk1"/>
              </a:solidFill>
              <a:latin typeface="Calibri"/>
              <a:ea typeface="Calibri"/>
              <a:cs typeface="Calibri"/>
              <a:sym typeface="Calibri"/>
            </a:endParaRPr>
          </a:p>
        </p:txBody>
      </p:sp>
      <p:sp>
        <p:nvSpPr>
          <p:cNvPr id="648" name="Google Shape;648;g3e955750272_3_566"/>
          <p:cNvSpPr/>
          <p:nvPr/>
        </p:nvSpPr>
        <p:spPr>
          <a:xfrm>
            <a:off x="11201858" y="6572708"/>
            <a:ext cx="42519" cy="799643"/>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49" name="Google Shape;649;g3e955750272_3_566"/>
          <p:cNvSpPr/>
          <p:nvPr/>
        </p:nvSpPr>
        <p:spPr>
          <a:xfrm>
            <a:off x="11402111" y="6572708"/>
            <a:ext cx="597194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사용자 · 스크랩 데이터</a:t>
            </a:r>
            <a:endParaRPr b="0" i="0" sz="2000" u="none" cap="none" strike="noStrike">
              <a:solidFill>
                <a:schemeClr val="dk1"/>
              </a:solidFill>
              <a:latin typeface="Calibri"/>
              <a:ea typeface="Calibri"/>
              <a:cs typeface="Calibri"/>
              <a:sym typeface="Calibri"/>
            </a:endParaRPr>
          </a:p>
        </p:txBody>
      </p:sp>
      <p:sp>
        <p:nvSpPr>
          <p:cNvPr id="650" name="Google Shape;650;g3e955750272_3_566"/>
          <p:cNvSpPr/>
          <p:nvPr/>
        </p:nvSpPr>
        <p:spPr>
          <a:xfrm>
            <a:off x="11402111" y="6973215"/>
            <a:ext cx="5971947"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기능 검증용으로 확인</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5" name="Shape 655"/>
        <p:cNvGrpSpPr/>
        <p:nvPr/>
      </p:nvGrpSpPr>
      <p:grpSpPr>
        <a:xfrm>
          <a:off x="0" y="0"/>
          <a:ext cx="0" cy="0"/>
          <a:chOff x="0" y="0"/>
          <a:chExt cx="0" cy="0"/>
        </a:xfrm>
      </p:grpSpPr>
      <p:sp>
        <p:nvSpPr>
          <p:cNvPr id="656" name="Google Shape;656;g3e955750272_3_627"/>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57" name="Google Shape;657;g3e955750272_3_627"/>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CH.05  ·  데이터 흐름</a:t>
            </a:r>
            <a:endParaRPr b="0" i="0" sz="1400" u="none" cap="none" strike="noStrike">
              <a:solidFill>
                <a:schemeClr val="dk1"/>
              </a:solidFill>
              <a:latin typeface="Calibri"/>
              <a:ea typeface="Calibri"/>
              <a:cs typeface="Calibri"/>
              <a:sym typeface="Calibri"/>
            </a:endParaRPr>
          </a:p>
        </p:txBody>
      </p:sp>
      <p:sp>
        <p:nvSpPr>
          <p:cNvPr id="658" name="Google Shape;658;g3e955750272_3_627"/>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서비스 뒤의 데이터 흐름 : 데이터가 어떻게 만들어지고 저장되는</a:t>
            </a:r>
            <a:endParaRPr b="0" i="0" sz="4200" u="none" cap="none" strike="noStrike">
              <a:solidFill>
                <a:schemeClr val="dk1"/>
              </a:solidFill>
              <a:latin typeface="Calibri"/>
              <a:ea typeface="Calibri"/>
              <a:cs typeface="Calibri"/>
              <a:sym typeface="Calibri"/>
            </a:endParaRPr>
          </a:p>
        </p:txBody>
      </p:sp>
      <p:sp>
        <p:nvSpPr>
          <p:cNvPr id="659" name="Google Shape;659;g3e955750272_3_627"/>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3개 API 데이터가 정제되어 웹 기능으로 연결되는 과정</a:t>
            </a:r>
            <a:endParaRPr b="0" i="0" sz="2000" u="none" cap="none" strike="noStrike">
              <a:solidFill>
                <a:schemeClr val="dk1"/>
              </a:solidFill>
              <a:latin typeface="Calibri"/>
              <a:ea typeface="Calibri"/>
              <a:cs typeface="Calibri"/>
              <a:sym typeface="Calibri"/>
            </a:endParaRPr>
          </a:p>
        </p:txBody>
      </p:sp>
      <p:sp>
        <p:nvSpPr>
          <p:cNvPr id="660" name="Google Shape;660;g3e955750272_3_627"/>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61" name="Google Shape;661;g3e955750272_3_627"/>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데이터 흐름</a:t>
            </a:r>
            <a:endParaRPr b="0" i="0" sz="1400" u="none" cap="none" strike="noStrike">
              <a:solidFill>
                <a:schemeClr val="dk1"/>
              </a:solidFill>
              <a:latin typeface="Calibri"/>
              <a:ea typeface="Calibri"/>
              <a:cs typeface="Calibri"/>
              <a:sym typeface="Calibri"/>
            </a:endParaRPr>
          </a:p>
        </p:txBody>
      </p:sp>
      <p:sp>
        <p:nvSpPr>
          <p:cNvPr id="662" name="Google Shape;662;g3e955750272_3_627"/>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15 / 23</a:t>
            </a:r>
            <a:endParaRPr b="0" i="0" sz="1400" u="none" cap="none" strike="noStrike">
              <a:solidFill>
                <a:schemeClr val="dk1"/>
              </a:solidFill>
              <a:latin typeface="Calibri"/>
              <a:ea typeface="Calibri"/>
              <a:cs typeface="Calibri"/>
              <a:sym typeface="Calibri"/>
            </a:endParaRPr>
          </a:p>
        </p:txBody>
      </p:sp>
      <p:sp>
        <p:nvSpPr>
          <p:cNvPr id="663" name="Google Shape;663;g3e955750272_3_627"/>
          <p:cNvSpPr/>
          <p:nvPr/>
        </p:nvSpPr>
        <p:spPr>
          <a:xfrm>
            <a:off x="914857" y="7830465"/>
            <a:ext cx="16459200" cy="799643"/>
          </a:xfrm>
          <a:prstGeom prst="rect">
            <a:avLst/>
          </a:prstGeom>
          <a:solidFill>
            <a:srgbClr val="F9F8FF"/>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64" name="Google Shape;664;g3e955750272_3_627"/>
          <p:cNvSpPr/>
          <p:nvPr/>
        </p:nvSpPr>
        <p:spPr>
          <a:xfrm>
            <a:off x="914858" y="7830465"/>
            <a:ext cx="57608" cy="799643"/>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65" name="Google Shape;665;g3e955750272_3_627"/>
          <p:cNvSpPr/>
          <p:nvPr/>
        </p:nvSpPr>
        <p:spPr>
          <a:xfrm>
            <a:off x="1257757" y="7830465"/>
            <a:ext cx="2250000" cy="7996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2A2A33"/>
                </a:solidFill>
                <a:latin typeface="Arial"/>
                <a:ea typeface="Arial"/>
                <a:cs typeface="Arial"/>
                <a:sym typeface="Arial"/>
              </a:rPr>
              <a:t>저장된 데이터를 </a:t>
            </a:r>
            <a:endParaRPr b="0" i="0" sz="2100" u="none" cap="none" strike="noStrike">
              <a:solidFill>
                <a:schemeClr val="dk1"/>
              </a:solidFill>
              <a:latin typeface="Arial"/>
              <a:ea typeface="Arial"/>
              <a:cs typeface="Arial"/>
              <a:sym typeface="Arial"/>
            </a:endParaRPr>
          </a:p>
        </p:txBody>
      </p:sp>
      <p:sp>
        <p:nvSpPr>
          <p:cNvPr id="666" name="Google Shape;666;g3e955750272_3_627"/>
          <p:cNvSpPr/>
          <p:nvPr/>
        </p:nvSpPr>
        <p:spPr>
          <a:xfrm>
            <a:off x="3600000" y="7953300"/>
            <a:ext cx="1350000" cy="555000"/>
          </a:xfrm>
          <a:prstGeom prst="roundRect">
            <a:avLst>
              <a:gd fmla="val 30000" name="adj"/>
            </a:avLst>
          </a:prstGeom>
          <a:solidFill>
            <a:srgbClr val="DDD6FE"/>
          </a:solidFill>
          <a:ln>
            <a:noFill/>
          </a:ln>
        </p:spPr>
        <p:txBody>
          <a:bodyPr anchorCtr="1" anchor="ctr" bIns="54000" lIns="108000" spcFirstLastPara="1" rIns="108000" wrap="square" tIns="540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5B5BD6"/>
                </a:solidFill>
                <a:latin typeface="Arial"/>
                <a:ea typeface="Arial"/>
                <a:cs typeface="Arial"/>
                <a:sym typeface="Arial"/>
              </a:rPr>
              <a:t>Next.js</a:t>
            </a:r>
            <a:endParaRPr b="0" i="0" sz="2000" u="none" cap="none" strike="noStrike">
              <a:solidFill>
                <a:schemeClr val="dk1"/>
              </a:solidFill>
              <a:latin typeface="Arial"/>
              <a:ea typeface="Arial"/>
              <a:cs typeface="Arial"/>
              <a:sym typeface="Arial"/>
            </a:endParaRPr>
          </a:p>
        </p:txBody>
      </p:sp>
      <p:sp>
        <p:nvSpPr>
          <p:cNvPr id="667" name="Google Shape;667;g3e955750272_3_627"/>
          <p:cNvSpPr/>
          <p:nvPr/>
        </p:nvSpPr>
        <p:spPr>
          <a:xfrm>
            <a:off x="5070000" y="7953300"/>
            <a:ext cx="1500000" cy="555000"/>
          </a:xfrm>
          <a:prstGeom prst="roundRect">
            <a:avLst>
              <a:gd fmla="val 30000" name="adj"/>
            </a:avLst>
          </a:prstGeom>
          <a:solidFill>
            <a:srgbClr val="DDD6FE"/>
          </a:solidFill>
          <a:ln>
            <a:noFill/>
          </a:ln>
        </p:spPr>
        <p:txBody>
          <a:bodyPr anchorCtr="1" anchor="ctr" bIns="54000" lIns="108000" spcFirstLastPara="1" rIns="108000" wrap="square" tIns="54000">
            <a:noAutofit/>
          </a:bodyPr>
          <a:lstStyle/>
          <a:p>
            <a:pPr indent="0" lvl="0" marL="0" marR="0" rtl="0" algn="ctr">
              <a:lnSpc>
                <a:spcPct val="100000"/>
              </a:lnSpc>
              <a:spcBef>
                <a:spcPts val="0"/>
              </a:spcBef>
              <a:spcAft>
                <a:spcPts val="0"/>
              </a:spcAft>
              <a:buClr>
                <a:srgbClr val="000000"/>
              </a:buClr>
              <a:buSzPts val="2000"/>
              <a:buFont typeface="Arial"/>
              <a:buNone/>
            </a:pPr>
            <a:r>
              <a:rPr b="1" i="0" lang="en-US" sz="1900" u="none" cap="none" strike="noStrike">
                <a:solidFill>
                  <a:srgbClr val="5B5BD6"/>
                </a:solidFill>
                <a:latin typeface="Arial"/>
                <a:ea typeface="Arial"/>
                <a:cs typeface="Arial"/>
                <a:sym typeface="Arial"/>
              </a:rPr>
              <a:t>API</a:t>
            </a:r>
            <a:r>
              <a:rPr b="1" lang="en-US" sz="1900">
                <a:solidFill>
                  <a:srgbClr val="5B5BD6"/>
                </a:solidFill>
              </a:rPr>
              <a:t> </a:t>
            </a:r>
            <a:r>
              <a:rPr b="1" i="0" lang="en-US" sz="1900" u="none" cap="none" strike="noStrike">
                <a:solidFill>
                  <a:srgbClr val="5B5BD6"/>
                </a:solidFill>
                <a:latin typeface="Arial"/>
                <a:ea typeface="Arial"/>
                <a:cs typeface="Arial"/>
                <a:sym typeface="Arial"/>
              </a:rPr>
              <a:t>Route</a:t>
            </a:r>
            <a:endParaRPr b="0" i="0" sz="1900" u="none" cap="none" strike="noStrike">
              <a:solidFill>
                <a:schemeClr val="dk1"/>
              </a:solidFill>
              <a:latin typeface="Arial"/>
              <a:ea typeface="Arial"/>
              <a:cs typeface="Arial"/>
              <a:sym typeface="Arial"/>
            </a:endParaRPr>
          </a:p>
        </p:txBody>
      </p:sp>
      <p:sp>
        <p:nvSpPr>
          <p:cNvPr id="668" name="Google Shape;668;g3e955750272_3_627"/>
          <p:cNvSpPr/>
          <p:nvPr/>
        </p:nvSpPr>
        <p:spPr>
          <a:xfrm>
            <a:off x="6690000" y="7830465"/>
            <a:ext cx="10350000" cy="7996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2A2A33"/>
                </a:solidFill>
                <a:latin typeface="Arial"/>
                <a:ea typeface="Arial"/>
                <a:cs typeface="Arial"/>
                <a:sym typeface="Arial"/>
              </a:rPr>
              <a:t>가 조회해 </a:t>
            </a:r>
            <a:r>
              <a:rPr b="1" i="0" lang="en-US" sz="2100" u="none" cap="none" strike="noStrike">
                <a:solidFill>
                  <a:srgbClr val="3F3FB8"/>
                </a:solidFill>
                <a:latin typeface="Arial"/>
                <a:ea typeface="Arial"/>
                <a:cs typeface="Arial"/>
                <a:sym typeface="Arial"/>
              </a:rPr>
              <a:t>통합검색 · 조건검색 · 추천 · 챗봇 응답</a:t>
            </a:r>
            <a:r>
              <a:rPr b="0" i="0" lang="en-US" sz="2100" u="none" cap="none" strike="noStrike">
                <a:solidFill>
                  <a:srgbClr val="2A2A33"/>
                </a:solidFill>
                <a:latin typeface="Arial"/>
                <a:ea typeface="Arial"/>
                <a:cs typeface="Arial"/>
                <a:sym typeface="Arial"/>
              </a:rPr>
              <a:t> 으로 연결</a:t>
            </a:r>
            <a:endParaRPr b="0" i="0" sz="2100" u="none" cap="none" strike="noStrike">
              <a:solidFill>
                <a:schemeClr val="dk1"/>
              </a:solidFill>
              <a:latin typeface="Arial"/>
              <a:ea typeface="Arial"/>
              <a:cs typeface="Arial"/>
              <a:sym typeface="Arial"/>
            </a:endParaRPr>
          </a:p>
        </p:txBody>
      </p:sp>
      <p:sp>
        <p:nvSpPr>
          <p:cNvPr id="669" name="Google Shape;669;g3e955750272_3_627"/>
          <p:cNvSpPr/>
          <p:nvPr/>
        </p:nvSpPr>
        <p:spPr>
          <a:xfrm>
            <a:off x="914857" y="9086850"/>
            <a:ext cx="164592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출처: 팀원 파이프라인 자료. 발표에서는 큰 흐름만 설명하고, 세부 구현은 16~19번에서 짧게 이어갑니다.</a:t>
            </a:r>
            <a:endParaRPr b="0" i="0" sz="1400" u="none" cap="none" strike="noStrike">
              <a:solidFill>
                <a:schemeClr val="dk1"/>
              </a:solidFill>
              <a:latin typeface="Calibri"/>
              <a:ea typeface="Calibri"/>
              <a:cs typeface="Calibri"/>
              <a:sym typeface="Calibri"/>
            </a:endParaRPr>
          </a:p>
        </p:txBody>
      </p:sp>
      <p:grpSp>
        <p:nvGrpSpPr>
          <p:cNvPr id="670" name="Google Shape;670;g3e955750272_3_627"/>
          <p:cNvGrpSpPr/>
          <p:nvPr/>
        </p:nvGrpSpPr>
        <p:grpSpPr>
          <a:xfrm>
            <a:off x="914858" y="3544215"/>
            <a:ext cx="16460719" cy="4000950"/>
            <a:chOff x="609905" y="2362810"/>
            <a:chExt cx="10973813" cy="2667300"/>
          </a:xfrm>
        </p:grpSpPr>
        <p:sp>
          <p:nvSpPr>
            <p:cNvPr id="671" name="Google Shape;671;g3e955750272_3_627"/>
            <p:cNvSpPr/>
            <p:nvPr/>
          </p:nvSpPr>
          <p:spPr>
            <a:xfrm>
              <a:off x="609905" y="2362810"/>
              <a:ext cx="3403800" cy="26673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72" name="Google Shape;672;g3e955750272_3_627"/>
            <p:cNvSpPr/>
            <p:nvPr/>
          </p:nvSpPr>
          <p:spPr>
            <a:xfrm>
              <a:off x="609905" y="2362810"/>
              <a:ext cx="3403800" cy="38400"/>
            </a:xfrm>
            <a:prstGeom prst="rect">
              <a:avLst/>
            </a:prstGeom>
            <a:solidFill>
              <a:srgbClr val="1D4ED8"/>
            </a:solidFill>
            <a:ln cap="flat" cmpd="sng" w="12700">
              <a:solidFill>
                <a:srgbClr val="1D4ED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73" name="Google Shape;673;g3e955750272_3_627"/>
            <p:cNvSpPr/>
            <p:nvPr/>
          </p:nvSpPr>
          <p:spPr>
            <a:xfrm>
              <a:off x="800100" y="2553005"/>
              <a:ext cx="1156800" cy="209400"/>
            </a:xfrm>
            <a:prstGeom prst="roundRect">
              <a:avLst>
                <a:gd fmla="val 17467" name="adj"/>
              </a:avLst>
            </a:prstGeom>
            <a:solidFill>
              <a:srgbClr val="E0F2FE"/>
            </a:solidFill>
            <a:ln cap="flat" cmpd="sng" w="12700">
              <a:solidFill>
                <a:srgbClr val="E0F2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74" name="Google Shape;674;g3e955750272_3_627"/>
            <p:cNvSpPr/>
            <p:nvPr/>
          </p:nvSpPr>
          <p:spPr>
            <a:xfrm>
              <a:off x="800100" y="2553005"/>
              <a:ext cx="11568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DATA SOURCE</a:t>
              </a:r>
              <a:endParaRPr b="0" i="0" sz="1400" u="none" cap="none" strike="noStrike">
                <a:solidFill>
                  <a:srgbClr val="000000"/>
                </a:solidFill>
                <a:latin typeface="Calibri"/>
                <a:ea typeface="Calibri"/>
                <a:cs typeface="Calibri"/>
                <a:sym typeface="Calibri"/>
              </a:endParaRPr>
            </a:p>
          </p:txBody>
        </p:sp>
        <p:sp>
          <p:nvSpPr>
            <p:cNvPr id="675" name="Google Shape;675;g3e955750272_3_627"/>
            <p:cNvSpPr/>
            <p:nvPr/>
          </p:nvSpPr>
          <p:spPr>
            <a:xfrm>
              <a:off x="1968856" y="2934310"/>
              <a:ext cx="685800" cy="685800"/>
            </a:xfrm>
            <a:prstGeom prst="ellipse">
              <a:avLst/>
            </a:prstGeom>
            <a:solidFill>
              <a:srgbClr val="E0F2FE"/>
            </a:solidFill>
            <a:ln cap="flat" cmpd="sng" w="12700">
              <a:solidFill>
                <a:srgbClr val="E0F2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76" name="Google Shape;676;g3e955750272_3_627"/>
            <p:cNvSpPr/>
            <p:nvPr/>
          </p:nvSpPr>
          <p:spPr>
            <a:xfrm>
              <a:off x="1968856" y="293431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4200"/>
                <a:buFont typeface="Arial"/>
                <a:buNone/>
              </a:pPr>
              <a:r>
                <a:rPr b="0" i="0" lang="en-US" sz="4200" u="none" cap="none" strike="noStrike">
                  <a:solidFill>
                    <a:srgbClr val="1D4ED8"/>
                  </a:solidFill>
                  <a:latin typeface="Arial"/>
                  <a:ea typeface="Arial"/>
                  <a:cs typeface="Arial"/>
                  <a:sym typeface="Arial"/>
                </a:rPr>
                <a:t>🌐</a:t>
              </a:r>
              <a:endParaRPr b="0" i="0" sz="4200" u="none" cap="none" strike="noStrike">
                <a:solidFill>
                  <a:srgbClr val="000000"/>
                </a:solidFill>
                <a:latin typeface="Calibri"/>
                <a:ea typeface="Calibri"/>
                <a:cs typeface="Calibri"/>
                <a:sym typeface="Calibri"/>
              </a:endParaRPr>
            </a:p>
          </p:txBody>
        </p:sp>
        <p:sp>
          <p:nvSpPr>
            <p:cNvPr id="677" name="Google Shape;677;g3e955750272_3_627"/>
            <p:cNvSpPr/>
            <p:nvPr/>
          </p:nvSpPr>
          <p:spPr>
            <a:xfrm>
              <a:off x="800100" y="37920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78" name="Google Shape;678;g3e955750272_3_627"/>
            <p:cNvSpPr/>
            <p:nvPr/>
          </p:nvSpPr>
          <p:spPr>
            <a:xfrm>
              <a:off x="914400" y="37920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온통청년</a:t>
              </a:r>
              <a:endParaRPr b="0" i="0" sz="1800" u="none" cap="none" strike="noStrike">
                <a:solidFill>
                  <a:srgbClr val="000000"/>
                </a:solidFill>
                <a:latin typeface="Calibri"/>
                <a:ea typeface="Calibri"/>
                <a:cs typeface="Calibri"/>
                <a:sym typeface="Calibri"/>
              </a:endParaRPr>
            </a:p>
          </p:txBody>
        </p:sp>
        <p:sp>
          <p:nvSpPr>
            <p:cNvPr id="679" name="Google Shape;679;g3e955750272_3_627"/>
            <p:cNvSpPr/>
            <p:nvPr/>
          </p:nvSpPr>
          <p:spPr>
            <a:xfrm>
              <a:off x="800100" y="41349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80" name="Google Shape;680;g3e955750272_3_627"/>
            <p:cNvSpPr/>
            <p:nvPr/>
          </p:nvSpPr>
          <p:spPr>
            <a:xfrm>
              <a:off x="914400" y="41349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기업마당</a:t>
              </a:r>
              <a:endParaRPr b="0" i="0" sz="1800" u="none" cap="none" strike="noStrike">
                <a:solidFill>
                  <a:srgbClr val="000000"/>
                </a:solidFill>
                <a:latin typeface="Calibri"/>
                <a:ea typeface="Calibri"/>
                <a:cs typeface="Calibri"/>
                <a:sym typeface="Calibri"/>
              </a:endParaRPr>
            </a:p>
          </p:txBody>
        </p:sp>
        <p:sp>
          <p:nvSpPr>
            <p:cNvPr id="681" name="Google Shape;681;g3e955750272_3_627"/>
            <p:cNvSpPr/>
            <p:nvPr/>
          </p:nvSpPr>
          <p:spPr>
            <a:xfrm>
              <a:off x="800100" y="44778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82" name="Google Shape;682;g3e955750272_3_627"/>
            <p:cNvSpPr/>
            <p:nvPr/>
          </p:nvSpPr>
          <p:spPr>
            <a:xfrm>
              <a:off x="914400" y="44778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K-Startup</a:t>
              </a:r>
              <a:endParaRPr b="0" i="0" sz="1800" u="none" cap="none" strike="noStrike">
                <a:solidFill>
                  <a:srgbClr val="000000"/>
                </a:solidFill>
                <a:latin typeface="Calibri"/>
                <a:ea typeface="Calibri"/>
                <a:cs typeface="Calibri"/>
                <a:sym typeface="Calibri"/>
              </a:endParaRPr>
            </a:p>
          </p:txBody>
        </p:sp>
        <p:sp>
          <p:nvSpPr>
            <p:cNvPr id="683" name="Google Shape;683;g3e955750272_3_627"/>
            <p:cNvSpPr/>
            <p:nvPr/>
          </p:nvSpPr>
          <p:spPr>
            <a:xfrm>
              <a:off x="4013606" y="3543757"/>
              <a:ext cx="381300" cy="304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3900"/>
                <a:buFont typeface="Arial"/>
                <a:buNone/>
              </a:pPr>
              <a:r>
                <a:rPr b="1" i="0" lang="en-US" sz="3900" u="none" cap="none" strike="noStrike">
                  <a:solidFill>
                    <a:srgbClr val="5B5BD6"/>
                  </a:solidFill>
                  <a:latin typeface="Arial"/>
                  <a:ea typeface="Arial"/>
                  <a:cs typeface="Arial"/>
                  <a:sym typeface="Arial"/>
                </a:rPr>
                <a:t>→</a:t>
              </a:r>
              <a:endParaRPr b="0" i="0" sz="3900" u="none" cap="none" strike="noStrike">
                <a:solidFill>
                  <a:srgbClr val="000000"/>
                </a:solidFill>
                <a:latin typeface="Calibri"/>
                <a:ea typeface="Calibri"/>
                <a:cs typeface="Calibri"/>
                <a:sym typeface="Calibri"/>
              </a:endParaRPr>
            </a:p>
          </p:txBody>
        </p:sp>
        <p:sp>
          <p:nvSpPr>
            <p:cNvPr id="684" name="Google Shape;684;g3e955750272_3_627"/>
            <p:cNvSpPr/>
            <p:nvPr/>
          </p:nvSpPr>
          <p:spPr>
            <a:xfrm>
              <a:off x="4394911" y="2362810"/>
              <a:ext cx="3403800" cy="26673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85" name="Google Shape;685;g3e955750272_3_627"/>
            <p:cNvSpPr/>
            <p:nvPr/>
          </p:nvSpPr>
          <p:spPr>
            <a:xfrm>
              <a:off x="4394911" y="2362810"/>
              <a:ext cx="3403800" cy="38400"/>
            </a:xfrm>
            <a:prstGeom prst="rect">
              <a:avLst/>
            </a:prstGeom>
            <a:solidFill>
              <a:srgbClr val="166534"/>
            </a:solidFill>
            <a:ln cap="flat" cmpd="sng" w="12700">
              <a:solidFill>
                <a:srgbClr val="166534"/>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86" name="Google Shape;686;g3e955750272_3_627"/>
            <p:cNvSpPr/>
            <p:nvPr/>
          </p:nvSpPr>
          <p:spPr>
            <a:xfrm>
              <a:off x="4585106" y="2553005"/>
              <a:ext cx="1892700" cy="209400"/>
            </a:xfrm>
            <a:prstGeom prst="roundRect">
              <a:avLst>
                <a:gd fmla="val 17467" name="adj"/>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87" name="Google Shape;687;g3e955750272_3_627"/>
            <p:cNvSpPr/>
            <p:nvPr/>
          </p:nvSpPr>
          <p:spPr>
            <a:xfrm>
              <a:off x="4585106" y="2553005"/>
              <a:ext cx="18927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INGESTION PIPELINE</a:t>
              </a:r>
              <a:endParaRPr b="0" i="0" sz="1400" u="none" cap="none" strike="noStrike">
                <a:solidFill>
                  <a:srgbClr val="000000"/>
                </a:solidFill>
                <a:latin typeface="Calibri"/>
                <a:ea typeface="Calibri"/>
                <a:cs typeface="Calibri"/>
                <a:sym typeface="Calibri"/>
              </a:endParaRPr>
            </a:p>
          </p:txBody>
        </p:sp>
        <p:sp>
          <p:nvSpPr>
            <p:cNvPr id="688" name="Google Shape;688;g3e955750272_3_627"/>
            <p:cNvSpPr/>
            <p:nvPr/>
          </p:nvSpPr>
          <p:spPr>
            <a:xfrm>
              <a:off x="5753862" y="2934310"/>
              <a:ext cx="685800" cy="685800"/>
            </a:xfrm>
            <a:prstGeom prst="ellipse">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89" name="Google Shape;689;g3e955750272_3_627"/>
            <p:cNvSpPr/>
            <p:nvPr/>
          </p:nvSpPr>
          <p:spPr>
            <a:xfrm>
              <a:off x="5753862" y="293431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4200"/>
                <a:buFont typeface="Arial"/>
                <a:buNone/>
              </a:pPr>
              <a:r>
                <a:rPr b="0" i="0" lang="en-US" sz="4200" u="none" cap="none" strike="noStrike">
                  <a:solidFill>
                    <a:srgbClr val="166534"/>
                  </a:solidFill>
                  <a:latin typeface="Arial"/>
                  <a:ea typeface="Arial"/>
                  <a:cs typeface="Arial"/>
                  <a:sym typeface="Arial"/>
                </a:rPr>
                <a:t>⚙</a:t>
              </a:r>
              <a:endParaRPr b="0" i="0" sz="4200" u="none" cap="none" strike="noStrike">
                <a:solidFill>
                  <a:srgbClr val="000000"/>
                </a:solidFill>
                <a:latin typeface="Calibri"/>
                <a:ea typeface="Calibri"/>
                <a:cs typeface="Calibri"/>
                <a:sym typeface="Calibri"/>
              </a:endParaRPr>
            </a:p>
          </p:txBody>
        </p:sp>
        <p:sp>
          <p:nvSpPr>
            <p:cNvPr id="690" name="Google Shape;690;g3e955750272_3_627"/>
            <p:cNvSpPr/>
            <p:nvPr/>
          </p:nvSpPr>
          <p:spPr>
            <a:xfrm>
              <a:off x="4585106" y="37920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91" name="Google Shape;691;g3e955750272_3_627"/>
            <p:cNvSpPr/>
            <p:nvPr/>
          </p:nvSpPr>
          <p:spPr>
            <a:xfrm>
              <a:off x="4699406" y="37920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정제 · 표준화</a:t>
              </a:r>
              <a:endParaRPr b="0" i="0" sz="1800" u="none" cap="none" strike="noStrike">
                <a:solidFill>
                  <a:srgbClr val="000000"/>
                </a:solidFill>
                <a:latin typeface="Calibri"/>
                <a:ea typeface="Calibri"/>
                <a:cs typeface="Calibri"/>
                <a:sym typeface="Calibri"/>
              </a:endParaRPr>
            </a:p>
          </p:txBody>
        </p:sp>
        <p:sp>
          <p:nvSpPr>
            <p:cNvPr id="692" name="Google Shape;692;g3e955750272_3_627"/>
            <p:cNvSpPr/>
            <p:nvPr/>
          </p:nvSpPr>
          <p:spPr>
            <a:xfrm>
              <a:off x="4585106" y="41349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93" name="Google Shape;693;g3e955750272_3_627"/>
            <p:cNvSpPr/>
            <p:nvPr/>
          </p:nvSpPr>
          <p:spPr>
            <a:xfrm>
              <a:off x="4699406" y="41349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공통 스키마</a:t>
              </a:r>
              <a:endParaRPr b="0" i="0" sz="1800" u="none" cap="none" strike="noStrike">
                <a:solidFill>
                  <a:srgbClr val="000000"/>
                </a:solidFill>
                <a:latin typeface="Calibri"/>
                <a:ea typeface="Calibri"/>
                <a:cs typeface="Calibri"/>
                <a:sym typeface="Calibri"/>
              </a:endParaRPr>
            </a:p>
          </p:txBody>
        </p:sp>
        <p:sp>
          <p:nvSpPr>
            <p:cNvPr id="694" name="Google Shape;694;g3e955750272_3_627"/>
            <p:cNvSpPr/>
            <p:nvPr/>
          </p:nvSpPr>
          <p:spPr>
            <a:xfrm>
              <a:off x="4585106" y="44778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95" name="Google Shape;695;g3e955750272_3_627"/>
            <p:cNvSpPr/>
            <p:nvPr/>
          </p:nvSpPr>
          <p:spPr>
            <a:xfrm>
              <a:off x="4699406" y="44778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Gemini Embedding</a:t>
              </a:r>
              <a:endParaRPr b="0" i="0" sz="1800" u="none" cap="none" strike="noStrike">
                <a:solidFill>
                  <a:srgbClr val="000000"/>
                </a:solidFill>
                <a:latin typeface="Calibri"/>
                <a:ea typeface="Calibri"/>
                <a:cs typeface="Calibri"/>
                <a:sym typeface="Calibri"/>
              </a:endParaRPr>
            </a:p>
          </p:txBody>
        </p:sp>
        <p:sp>
          <p:nvSpPr>
            <p:cNvPr id="696" name="Google Shape;696;g3e955750272_3_627"/>
            <p:cNvSpPr/>
            <p:nvPr/>
          </p:nvSpPr>
          <p:spPr>
            <a:xfrm>
              <a:off x="7798613" y="3543757"/>
              <a:ext cx="381300" cy="304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3900"/>
                <a:buFont typeface="Arial"/>
                <a:buNone/>
              </a:pPr>
              <a:r>
                <a:rPr b="1" i="0" lang="en-US" sz="3900" u="none" cap="none" strike="noStrike">
                  <a:solidFill>
                    <a:srgbClr val="5B5BD6"/>
                  </a:solidFill>
                  <a:latin typeface="Arial"/>
                  <a:ea typeface="Arial"/>
                  <a:cs typeface="Arial"/>
                  <a:sym typeface="Arial"/>
                </a:rPr>
                <a:t>→</a:t>
              </a:r>
              <a:endParaRPr b="0" i="0" sz="3900" u="none" cap="none" strike="noStrike">
                <a:solidFill>
                  <a:srgbClr val="000000"/>
                </a:solidFill>
                <a:latin typeface="Calibri"/>
                <a:ea typeface="Calibri"/>
                <a:cs typeface="Calibri"/>
                <a:sym typeface="Calibri"/>
              </a:endParaRPr>
            </a:p>
          </p:txBody>
        </p:sp>
        <p:sp>
          <p:nvSpPr>
            <p:cNvPr id="697" name="Google Shape;697;g3e955750272_3_627"/>
            <p:cNvSpPr/>
            <p:nvPr/>
          </p:nvSpPr>
          <p:spPr>
            <a:xfrm>
              <a:off x="8179918" y="2362810"/>
              <a:ext cx="3403800" cy="26673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98" name="Google Shape;698;g3e955750272_3_627"/>
            <p:cNvSpPr/>
            <p:nvPr/>
          </p:nvSpPr>
          <p:spPr>
            <a:xfrm>
              <a:off x="8179918" y="2362810"/>
              <a:ext cx="3403800" cy="38400"/>
            </a:xfrm>
            <a:prstGeom prst="rect">
              <a:avLst/>
            </a:prstGeom>
            <a:solidFill>
              <a:srgbClr val="9A3412"/>
            </a:solidFill>
            <a:ln cap="flat" cmpd="sng" w="12700">
              <a:solidFill>
                <a:srgbClr val="9A3412"/>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699" name="Google Shape;699;g3e955750272_3_627"/>
            <p:cNvSpPr/>
            <p:nvPr/>
          </p:nvSpPr>
          <p:spPr>
            <a:xfrm>
              <a:off x="8370113" y="2553005"/>
              <a:ext cx="1261800" cy="209400"/>
            </a:xfrm>
            <a:prstGeom prst="roundRect">
              <a:avLst>
                <a:gd fmla="val 17467" name="adj"/>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00" name="Google Shape;700;g3e955750272_3_627"/>
            <p:cNvSpPr/>
            <p:nvPr/>
          </p:nvSpPr>
          <p:spPr>
            <a:xfrm>
              <a:off x="8370113" y="2553005"/>
              <a:ext cx="12618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CORE STORAGE</a:t>
              </a:r>
              <a:endParaRPr b="0" i="0" sz="1400" u="none" cap="none" strike="noStrike">
                <a:solidFill>
                  <a:srgbClr val="000000"/>
                </a:solidFill>
                <a:latin typeface="Calibri"/>
                <a:ea typeface="Calibri"/>
                <a:cs typeface="Calibri"/>
                <a:sym typeface="Calibri"/>
              </a:endParaRPr>
            </a:p>
          </p:txBody>
        </p:sp>
        <p:sp>
          <p:nvSpPr>
            <p:cNvPr id="701" name="Google Shape;701;g3e955750272_3_627"/>
            <p:cNvSpPr/>
            <p:nvPr/>
          </p:nvSpPr>
          <p:spPr>
            <a:xfrm>
              <a:off x="9538868" y="2934310"/>
              <a:ext cx="685800" cy="685800"/>
            </a:xfrm>
            <a:prstGeom prst="ellipse">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02" name="Google Shape;702;g3e955750272_3_627"/>
            <p:cNvSpPr/>
            <p:nvPr/>
          </p:nvSpPr>
          <p:spPr>
            <a:xfrm>
              <a:off x="9538868" y="293431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4200"/>
                <a:buFont typeface="Arial"/>
                <a:buNone/>
              </a:pPr>
              <a:r>
                <a:rPr b="0" i="0" lang="en-US" sz="4200" u="none" cap="none" strike="noStrike">
                  <a:solidFill>
                    <a:srgbClr val="9A3412"/>
                  </a:solidFill>
                  <a:latin typeface="Arial"/>
                  <a:ea typeface="Arial"/>
                  <a:cs typeface="Arial"/>
                  <a:sym typeface="Arial"/>
                </a:rPr>
                <a:t>🗄</a:t>
              </a:r>
              <a:endParaRPr b="0" i="0" sz="4200" u="none" cap="none" strike="noStrike">
                <a:solidFill>
                  <a:srgbClr val="000000"/>
                </a:solidFill>
                <a:latin typeface="Calibri"/>
                <a:ea typeface="Calibri"/>
                <a:cs typeface="Calibri"/>
                <a:sym typeface="Calibri"/>
              </a:endParaRPr>
            </a:p>
          </p:txBody>
        </p:sp>
        <p:sp>
          <p:nvSpPr>
            <p:cNvPr id="703" name="Google Shape;703;g3e955750272_3_627"/>
            <p:cNvSpPr/>
            <p:nvPr/>
          </p:nvSpPr>
          <p:spPr>
            <a:xfrm>
              <a:off x="8370113" y="37920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04" name="Google Shape;704;g3e955750272_3_627"/>
            <p:cNvSpPr/>
            <p:nvPr/>
          </p:nvSpPr>
          <p:spPr>
            <a:xfrm>
              <a:off x="8484413" y="37920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announcements</a:t>
              </a:r>
              <a:endParaRPr b="0" i="0" sz="1800" u="none" cap="none" strike="noStrike">
                <a:solidFill>
                  <a:srgbClr val="000000"/>
                </a:solidFill>
                <a:latin typeface="Calibri"/>
                <a:ea typeface="Calibri"/>
                <a:cs typeface="Calibri"/>
                <a:sym typeface="Calibri"/>
              </a:endParaRPr>
            </a:p>
          </p:txBody>
        </p:sp>
        <p:sp>
          <p:nvSpPr>
            <p:cNvPr id="705" name="Google Shape;705;g3e955750272_3_627"/>
            <p:cNvSpPr/>
            <p:nvPr/>
          </p:nvSpPr>
          <p:spPr>
            <a:xfrm>
              <a:off x="8370113" y="41349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06" name="Google Shape;706;g3e955750272_3_627"/>
            <p:cNvSpPr/>
            <p:nvPr/>
          </p:nvSpPr>
          <p:spPr>
            <a:xfrm>
              <a:off x="8484413" y="41349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Vector DB</a:t>
              </a:r>
              <a:endParaRPr b="0" i="0" sz="1800" u="none" cap="none" strike="noStrike">
                <a:solidFill>
                  <a:srgbClr val="000000"/>
                </a:solidFill>
                <a:latin typeface="Calibri"/>
                <a:ea typeface="Calibri"/>
                <a:cs typeface="Calibri"/>
                <a:sym typeface="Calibri"/>
              </a:endParaRPr>
            </a:p>
          </p:txBody>
        </p:sp>
        <p:sp>
          <p:nvSpPr>
            <p:cNvPr id="707" name="Google Shape;707;g3e955750272_3_627"/>
            <p:cNvSpPr/>
            <p:nvPr/>
          </p:nvSpPr>
          <p:spPr>
            <a:xfrm>
              <a:off x="8370113" y="4477817"/>
              <a:ext cx="3022500" cy="2670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08" name="Google Shape;708;g3e955750272_3_627"/>
            <p:cNvSpPr/>
            <p:nvPr/>
          </p:nvSpPr>
          <p:spPr>
            <a:xfrm>
              <a:off x="8484413" y="4477817"/>
              <a:ext cx="27939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Supabase</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3" name="Shape 713"/>
        <p:cNvGrpSpPr/>
        <p:nvPr/>
      </p:nvGrpSpPr>
      <p:grpSpPr>
        <a:xfrm>
          <a:off x="0" y="0"/>
          <a:ext cx="0" cy="0"/>
          <a:chOff x="0" y="0"/>
          <a:chExt cx="0" cy="0"/>
        </a:xfrm>
      </p:grpSpPr>
      <p:sp>
        <p:nvSpPr>
          <p:cNvPr id="714" name="Google Shape;714;g3e955750272_3_684"/>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15" name="Google Shape;715;g3e955750272_3_684"/>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CH.05  ·  데이터 선정</a:t>
            </a:r>
            <a:endParaRPr b="0" i="0" sz="1400" u="none" cap="none" strike="noStrike">
              <a:solidFill>
                <a:schemeClr val="dk1"/>
              </a:solidFill>
              <a:latin typeface="Calibri"/>
              <a:ea typeface="Calibri"/>
              <a:cs typeface="Calibri"/>
              <a:sym typeface="Calibri"/>
            </a:endParaRPr>
          </a:p>
        </p:txBody>
      </p:sp>
      <p:sp>
        <p:nvSpPr>
          <p:cNvPr id="716" name="Google Shape;716;g3e955750272_3_684"/>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데이터 소스 선정</a:t>
            </a:r>
            <a:endParaRPr b="0" i="0" sz="4200" u="none" cap="none" strike="noStrike">
              <a:solidFill>
                <a:schemeClr val="dk1"/>
              </a:solidFill>
              <a:latin typeface="Calibri"/>
              <a:ea typeface="Calibri"/>
              <a:cs typeface="Calibri"/>
              <a:sym typeface="Calibri"/>
            </a:endParaRPr>
          </a:p>
        </p:txBody>
      </p:sp>
      <p:sp>
        <p:nvSpPr>
          <p:cNvPr id="717" name="Google Shape;717;g3e955750272_3_684"/>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많이 가져오기보다 탐색 범위를 넓히기 위해 성격이 다른 3군데를 선정했습니다.</a:t>
            </a:r>
            <a:endParaRPr b="0" i="0" sz="2000" u="none" cap="none" strike="noStrike">
              <a:solidFill>
                <a:schemeClr val="dk1"/>
              </a:solidFill>
              <a:latin typeface="Calibri"/>
              <a:ea typeface="Calibri"/>
              <a:cs typeface="Calibri"/>
              <a:sym typeface="Calibri"/>
            </a:endParaRPr>
          </a:p>
        </p:txBody>
      </p:sp>
      <p:sp>
        <p:nvSpPr>
          <p:cNvPr id="718" name="Google Shape;718;g3e955750272_3_684"/>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19" name="Google Shape;719;g3e955750272_3_684"/>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데이터 선정</a:t>
            </a:r>
            <a:endParaRPr b="0" i="0" sz="1400" u="none" cap="none" strike="noStrike">
              <a:solidFill>
                <a:schemeClr val="dk1"/>
              </a:solidFill>
              <a:latin typeface="Calibri"/>
              <a:ea typeface="Calibri"/>
              <a:cs typeface="Calibri"/>
              <a:sym typeface="Calibri"/>
            </a:endParaRPr>
          </a:p>
        </p:txBody>
      </p:sp>
      <p:sp>
        <p:nvSpPr>
          <p:cNvPr id="720" name="Google Shape;720;g3e955750272_3_684"/>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16 / 23</a:t>
            </a:r>
            <a:endParaRPr b="0" i="0" sz="1400" u="none" cap="none" strike="noStrike">
              <a:solidFill>
                <a:schemeClr val="dk1"/>
              </a:solidFill>
              <a:latin typeface="Calibri"/>
              <a:ea typeface="Calibri"/>
              <a:cs typeface="Calibri"/>
              <a:sym typeface="Calibri"/>
            </a:endParaRPr>
          </a:p>
        </p:txBody>
      </p:sp>
      <p:sp>
        <p:nvSpPr>
          <p:cNvPr id="721" name="Google Shape;721;g3e955750272_3_684"/>
          <p:cNvSpPr/>
          <p:nvPr/>
        </p:nvSpPr>
        <p:spPr>
          <a:xfrm>
            <a:off x="914857" y="3544215"/>
            <a:ext cx="5257800" cy="40009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22" name="Google Shape;722;g3e955750272_3_684"/>
          <p:cNvSpPr/>
          <p:nvPr/>
        </p:nvSpPr>
        <p:spPr>
          <a:xfrm>
            <a:off x="914857" y="3544215"/>
            <a:ext cx="5257800" cy="1142543"/>
          </a:xfrm>
          <a:prstGeom prst="rect">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23" name="Google Shape;723;g3e955750272_3_684"/>
          <p:cNvSpPr/>
          <p:nvPr/>
        </p:nvSpPr>
        <p:spPr>
          <a:xfrm>
            <a:off x="1257757" y="3829508"/>
            <a:ext cx="4572000"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300"/>
              <a:buFont typeface="Arial"/>
              <a:buNone/>
            </a:pPr>
            <a:r>
              <a:rPr b="1" i="0" lang="en-US" sz="3300" u="none" cap="none" strike="noStrike">
                <a:solidFill>
                  <a:srgbClr val="1A1A22"/>
                </a:solidFill>
                <a:latin typeface="Arial"/>
                <a:ea typeface="Arial"/>
                <a:cs typeface="Arial"/>
                <a:sym typeface="Arial"/>
              </a:rPr>
              <a:t>온통청년</a:t>
            </a:r>
            <a:endParaRPr b="0" i="0" sz="3300" u="none" cap="none" strike="noStrike">
              <a:solidFill>
                <a:schemeClr val="dk1"/>
              </a:solidFill>
              <a:latin typeface="Calibri"/>
              <a:ea typeface="Calibri"/>
              <a:cs typeface="Calibri"/>
              <a:sym typeface="Calibri"/>
            </a:endParaRPr>
          </a:p>
        </p:txBody>
      </p:sp>
      <p:sp>
        <p:nvSpPr>
          <p:cNvPr id="724" name="Google Shape;724;g3e955750272_3_684"/>
          <p:cNvSpPr/>
          <p:nvPr/>
        </p:nvSpPr>
        <p:spPr>
          <a:xfrm>
            <a:off x="1257757" y="4316426"/>
            <a:ext cx="45720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청년 개인 정책</a:t>
            </a:r>
            <a:endParaRPr b="0" i="0" sz="1700" u="none" cap="none" strike="noStrike">
              <a:solidFill>
                <a:schemeClr val="dk1"/>
              </a:solidFill>
              <a:latin typeface="Calibri"/>
              <a:ea typeface="Calibri"/>
              <a:cs typeface="Calibri"/>
              <a:sym typeface="Calibri"/>
            </a:endParaRPr>
          </a:p>
        </p:txBody>
      </p:sp>
      <p:sp>
        <p:nvSpPr>
          <p:cNvPr id="725" name="Google Shape;725;g3e955750272_3_684"/>
          <p:cNvSpPr/>
          <p:nvPr/>
        </p:nvSpPr>
        <p:spPr>
          <a:xfrm>
            <a:off x="1257757" y="5144871"/>
            <a:ext cx="4572000" cy="7996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주거 · 취업 · 생활 · 복지</a:t>
            </a:r>
            <a:endParaRPr b="0" i="0" sz="2100" u="none" cap="none" strike="noStrike">
              <a:solidFill>
                <a:schemeClr val="dk1"/>
              </a:solidFill>
              <a:latin typeface="Calibri"/>
              <a:ea typeface="Calibri"/>
              <a:cs typeface="Calibri"/>
              <a:sym typeface="Calibri"/>
            </a:endParaRPr>
          </a:p>
        </p:txBody>
      </p:sp>
      <p:sp>
        <p:nvSpPr>
          <p:cNvPr id="726" name="Google Shape;726;g3e955750272_3_684"/>
          <p:cNvSpPr/>
          <p:nvPr/>
        </p:nvSpPr>
        <p:spPr>
          <a:xfrm>
            <a:off x="1257757" y="6115965"/>
            <a:ext cx="45720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27" name="Google Shape;727;g3e955750272_3_684"/>
          <p:cNvSpPr/>
          <p:nvPr/>
        </p:nvSpPr>
        <p:spPr>
          <a:xfrm>
            <a:off x="1257757" y="6287415"/>
            <a:ext cx="45720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적재 건수</a:t>
            </a:r>
            <a:endParaRPr b="0" i="0" sz="1500" u="none" cap="none" strike="noStrike">
              <a:solidFill>
                <a:schemeClr val="dk1"/>
              </a:solidFill>
              <a:latin typeface="Calibri"/>
              <a:ea typeface="Calibri"/>
              <a:cs typeface="Calibri"/>
              <a:sym typeface="Calibri"/>
            </a:endParaRPr>
          </a:p>
        </p:txBody>
      </p:sp>
      <p:sp>
        <p:nvSpPr>
          <p:cNvPr id="728" name="Google Shape;728;g3e955750272_3_684"/>
          <p:cNvSpPr/>
          <p:nvPr/>
        </p:nvSpPr>
        <p:spPr>
          <a:xfrm>
            <a:off x="1257757" y="6572708"/>
            <a:ext cx="4572000"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4200"/>
              <a:buFont typeface="Arial"/>
              <a:buNone/>
            </a:pPr>
            <a:r>
              <a:rPr b="1" i="0" lang="en-US" sz="4200" u="none" cap="none" strike="noStrike">
                <a:solidFill>
                  <a:srgbClr val="9A3412"/>
                </a:solidFill>
                <a:latin typeface="Arial"/>
                <a:ea typeface="Arial"/>
                <a:cs typeface="Arial"/>
                <a:sym typeface="Arial"/>
              </a:rPr>
              <a:t>167건</a:t>
            </a:r>
            <a:endParaRPr b="0" i="0" sz="4200" u="none" cap="none" strike="noStrike">
              <a:solidFill>
                <a:schemeClr val="dk1"/>
              </a:solidFill>
              <a:latin typeface="Calibri"/>
              <a:ea typeface="Calibri"/>
              <a:cs typeface="Calibri"/>
              <a:sym typeface="Calibri"/>
            </a:endParaRPr>
          </a:p>
        </p:txBody>
      </p:sp>
      <p:sp>
        <p:nvSpPr>
          <p:cNvPr id="729" name="Google Shape;729;g3e955750272_3_684"/>
          <p:cNvSpPr/>
          <p:nvPr/>
        </p:nvSpPr>
        <p:spPr>
          <a:xfrm>
            <a:off x="6515558" y="3544215"/>
            <a:ext cx="5257800" cy="40009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30" name="Google Shape;730;g3e955750272_3_684"/>
          <p:cNvSpPr/>
          <p:nvPr/>
        </p:nvSpPr>
        <p:spPr>
          <a:xfrm>
            <a:off x="6515558" y="3544215"/>
            <a:ext cx="5257800" cy="1142543"/>
          </a:xfrm>
          <a:prstGeom prst="rect">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31" name="Google Shape;731;g3e955750272_3_684"/>
          <p:cNvSpPr/>
          <p:nvPr/>
        </p:nvSpPr>
        <p:spPr>
          <a:xfrm>
            <a:off x="6858458" y="3829508"/>
            <a:ext cx="4572000"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300"/>
              <a:buFont typeface="Arial"/>
              <a:buNone/>
            </a:pPr>
            <a:r>
              <a:rPr b="1" i="0" lang="en-US" sz="3300" u="none" cap="none" strike="noStrike">
                <a:solidFill>
                  <a:srgbClr val="1A1A22"/>
                </a:solidFill>
                <a:latin typeface="Arial"/>
                <a:ea typeface="Arial"/>
                <a:cs typeface="Arial"/>
                <a:sym typeface="Arial"/>
              </a:rPr>
              <a:t>기업마당</a:t>
            </a:r>
            <a:endParaRPr b="0" i="0" sz="3300" u="none" cap="none" strike="noStrike">
              <a:solidFill>
                <a:schemeClr val="dk1"/>
              </a:solidFill>
              <a:latin typeface="Calibri"/>
              <a:ea typeface="Calibri"/>
              <a:cs typeface="Calibri"/>
              <a:sym typeface="Calibri"/>
            </a:endParaRPr>
          </a:p>
        </p:txBody>
      </p:sp>
      <p:sp>
        <p:nvSpPr>
          <p:cNvPr id="732" name="Google Shape;732;g3e955750272_3_684"/>
          <p:cNvSpPr/>
          <p:nvPr/>
        </p:nvSpPr>
        <p:spPr>
          <a:xfrm>
            <a:off x="6858458" y="4316426"/>
            <a:ext cx="45720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중소기업 · 소상공인 지원</a:t>
            </a:r>
            <a:endParaRPr b="0" i="0" sz="1700" u="none" cap="none" strike="noStrike">
              <a:solidFill>
                <a:schemeClr val="dk1"/>
              </a:solidFill>
              <a:latin typeface="Calibri"/>
              <a:ea typeface="Calibri"/>
              <a:cs typeface="Calibri"/>
              <a:sym typeface="Calibri"/>
            </a:endParaRPr>
          </a:p>
        </p:txBody>
      </p:sp>
      <p:sp>
        <p:nvSpPr>
          <p:cNvPr id="733" name="Google Shape;733;g3e955750272_3_684"/>
          <p:cNvSpPr/>
          <p:nvPr/>
        </p:nvSpPr>
        <p:spPr>
          <a:xfrm>
            <a:off x="6858458" y="5144871"/>
            <a:ext cx="4572000" cy="7996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자금 · 판로 · 기술 · 컨설팅</a:t>
            </a:r>
            <a:endParaRPr b="0" i="0" sz="2100" u="none" cap="none" strike="noStrike">
              <a:solidFill>
                <a:schemeClr val="dk1"/>
              </a:solidFill>
              <a:latin typeface="Calibri"/>
              <a:ea typeface="Calibri"/>
              <a:cs typeface="Calibri"/>
              <a:sym typeface="Calibri"/>
            </a:endParaRPr>
          </a:p>
        </p:txBody>
      </p:sp>
      <p:sp>
        <p:nvSpPr>
          <p:cNvPr id="734" name="Google Shape;734;g3e955750272_3_684"/>
          <p:cNvSpPr/>
          <p:nvPr/>
        </p:nvSpPr>
        <p:spPr>
          <a:xfrm>
            <a:off x="6858458" y="6115965"/>
            <a:ext cx="45720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35" name="Google Shape;735;g3e955750272_3_684"/>
          <p:cNvSpPr/>
          <p:nvPr/>
        </p:nvSpPr>
        <p:spPr>
          <a:xfrm>
            <a:off x="6858458" y="6287415"/>
            <a:ext cx="45720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적재 건수</a:t>
            </a:r>
            <a:endParaRPr b="0" i="0" sz="1500" u="none" cap="none" strike="noStrike">
              <a:solidFill>
                <a:schemeClr val="dk1"/>
              </a:solidFill>
              <a:latin typeface="Calibri"/>
              <a:ea typeface="Calibri"/>
              <a:cs typeface="Calibri"/>
              <a:sym typeface="Calibri"/>
            </a:endParaRPr>
          </a:p>
        </p:txBody>
      </p:sp>
      <p:sp>
        <p:nvSpPr>
          <p:cNvPr id="736" name="Google Shape;736;g3e955750272_3_684"/>
          <p:cNvSpPr/>
          <p:nvPr/>
        </p:nvSpPr>
        <p:spPr>
          <a:xfrm>
            <a:off x="6858458" y="6572708"/>
            <a:ext cx="4572000"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4200"/>
              <a:buFont typeface="Arial"/>
              <a:buNone/>
            </a:pPr>
            <a:r>
              <a:rPr b="1" i="0" lang="en-US" sz="4200" u="none" cap="none" strike="noStrike">
                <a:solidFill>
                  <a:srgbClr val="166534"/>
                </a:solidFill>
                <a:latin typeface="Arial"/>
                <a:ea typeface="Arial"/>
                <a:cs typeface="Arial"/>
                <a:sym typeface="Arial"/>
              </a:rPr>
              <a:t>200건</a:t>
            </a:r>
            <a:endParaRPr b="0" i="0" sz="4200" u="none" cap="none" strike="noStrike">
              <a:solidFill>
                <a:schemeClr val="dk1"/>
              </a:solidFill>
              <a:latin typeface="Calibri"/>
              <a:ea typeface="Calibri"/>
              <a:cs typeface="Calibri"/>
              <a:sym typeface="Calibri"/>
            </a:endParaRPr>
          </a:p>
        </p:txBody>
      </p:sp>
      <p:sp>
        <p:nvSpPr>
          <p:cNvPr id="737" name="Google Shape;737;g3e955750272_3_684"/>
          <p:cNvSpPr/>
          <p:nvPr/>
        </p:nvSpPr>
        <p:spPr>
          <a:xfrm>
            <a:off x="12116258" y="3544215"/>
            <a:ext cx="5257800" cy="40009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38" name="Google Shape;738;g3e955750272_3_684"/>
          <p:cNvSpPr/>
          <p:nvPr/>
        </p:nvSpPr>
        <p:spPr>
          <a:xfrm>
            <a:off x="12116258" y="3544215"/>
            <a:ext cx="5257800" cy="1142543"/>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39" name="Google Shape;739;g3e955750272_3_684"/>
          <p:cNvSpPr/>
          <p:nvPr/>
        </p:nvSpPr>
        <p:spPr>
          <a:xfrm>
            <a:off x="12459158" y="3829508"/>
            <a:ext cx="4572000"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3300"/>
              <a:buFont typeface="Arial"/>
              <a:buNone/>
            </a:pPr>
            <a:r>
              <a:rPr b="1" i="0" lang="en-US" sz="3300" u="none" cap="none" strike="noStrike">
                <a:solidFill>
                  <a:srgbClr val="1A1A22"/>
                </a:solidFill>
                <a:latin typeface="Arial"/>
                <a:ea typeface="Arial"/>
                <a:cs typeface="Arial"/>
                <a:sym typeface="Arial"/>
              </a:rPr>
              <a:t>K-Startup</a:t>
            </a:r>
            <a:endParaRPr b="0" i="0" sz="3300" u="none" cap="none" strike="noStrike">
              <a:solidFill>
                <a:schemeClr val="dk1"/>
              </a:solidFill>
              <a:latin typeface="Calibri"/>
              <a:ea typeface="Calibri"/>
              <a:cs typeface="Calibri"/>
              <a:sym typeface="Calibri"/>
            </a:endParaRPr>
          </a:p>
        </p:txBody>
      </p:sp>
      <p:sp>
        <p:nvSpPr>
          <p:cNvPr id="740" name="Google Shape;740;g3e955750272_3_684"/>
          <p:cNvSpPr/>
          <p:nvPr/>
        </p:nvSpPr>
        <p:spPr>
          <a:xfrm>
            <a:off x="12459158" y="4316426"/>
            <a:ext cx="45720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700"/>
              <a:buFont typeface="Arial"/>
              <a:buNone/>
            </a:pPr>
            <a:r>
              <a:rPr b="0" i="0" lang="en-US" sz="1700" u="none" cap="none" strike="noStrike">
                <a:solidFill>
                  <a:srgbClr val="4A4F5A"/>
                </a:solidFill>
                <a:latin typeface="Arial"/>
                <a:ea typeface="Arial"/>
                <a:cs typeface="Arial"/>
                <a:sym typeface="Arial"/>
              </a:rPr>
              <a:t>예비 / 초기 창업자</a:t>
            </a:r>
            <a:endParaRPr b="0" i="0" sz="1700" u="none" cap="none" strike="noStrike">
              <a:solidFill>
                <a:schemeClr val="dk1"/>
              </a:solidFill>
              <a:latin typeface="Calibri"/>
              <a:ea typeface="Calibri"/>
              <a:cs typeface="Calibri"/>
              <a:sym typeface="Calibri"/>
            </a:endParaRPr>
          </a:p>
        </p:txBody>
      </p:sp>
      <p:sp>
        <p:nvSpPr>
          <p:cNvPr id="741" name="Google Shape;741;g3e955750272_3_684"/>
          <p:cNvSpPr/>
          <p:nvPr/>
        </p:nvSpPr>
        <p:spPr>
          <a:xfrm>
            <a:off x="12459158" y="5144871"/>
            <a:ext cx="4572000" cy="7996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100"/>
              <a:buFont typeface="Arial"/>
              <a:buNone/>
            </a:pPr>
            <a:r>
              <a:rPr b="1" i="0" lang="en-US" sz="2100" u="none" cap="none" strike="noStrike">
                <a:solidFill>
                  <a:srgbClr val="1A1A22"/>
                </a:solidFill>
                <a:latin typeface="Arial"/>
                <a:ea typeface="Arial"/>
                <a:cs typeface="Arial"/>
                <a:sym typeface="Arial"/>
              </a:rPr>
              <a:t>창업 지원사업 중심</a:t>
            </a:r>
            <a:endParaRPr b="0" i="0" sz="2100" u="none" cap="none" strike="noStrike">
              <a:solidFill>
                <a:schemeClr val="dk1"/>
              </a:solidFill>
              <a:latin typeface="Calibri"/>
              <a:ea typeface="Calibri"/>
              <a:cs typeface="Calibri"/>
              <a:sym typeface="Calibri"/>
            </a:endParaRPr>
          </a:p>
        </p:txBody>
      </p:sp>
      <p:sp>
        <p:nvSpPr>
          <p:cNvPr id="742" name="Google Shape;742;g3e955750272_3_684"/>
          <p:cNvSpPr/>
          <p:nvPr/>
        </p:nvSpPr>
        <p:spPr>
          <a:xfrm>
            <a:off x="12459158" y="6115965"/>
            <a:ext cx="45720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43" name="Google Shape;743;g3e955750272_3_684"/>
          <p:cNvSpPr/>
          <p:nvPr/>
        </p:nvSpPr>
        <p:spPr>
          <a:xfrm>
            <a:off x="12459158" y="6287415"/>
            <a:ext cx="4572000" cy="2852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적재 건수</a:t>
            </a:r>
            <a:endParaRPr b="0" i="0" sz="1500" u="none" cap="none" strike="noStrike">
              <a:solidFill>
                <a:schemeClr val="dk1"/>
              </a:solidFill>
              <a:latin typeface="Calibri"/>
              <a:ea typeface="Calibri"/>
              <a:cs typeface="Calibri"/>
              <a:sym typeface="Calibri"/>
            </a:endParaRPr>
          </a:p>
        </p:txBody>
      </p:sp>
      <p:sp>
        <p:nvSpPr>
          <p:cNvPr id="744" name="Google Shape;744;g3e955750272_3_684"/>
          <p:cNvSpPr/>
          <p:nvPr/>
        </p:nvSpPr>
        <p:spPr>
          <a:xfrm>
            <a:off x="12459158" y="6572708"/>
            <a:ext cx="4572000"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4200"/>
              <a:buFont typeface="Arial"/>
              <a:buNone/>
            </a:pPr>
            <a:r>
              <a:rPr b="1" i="0" lang="en-US" sz="4200" u="none" cap="none" strike="noStrike">
                <a:solidFill>
                  <a:srgbClr val="5B21B6"/>
                </a:solidFill>
                <a:latin typeface="Arial"/>
                <a:ea typeface="Arial"/>
                <a:cs typeface="Arial"/>
                <a:sym typeface="Arial"/>
              </a:rPr>
              <a:t>198건</a:t>
            </a:r>
            <a:endParaRPr b="0" i="0" sz="4200" u="none" cap="none" strike="noStrike">
              <a:solidFill>
                <a:schemeClr val="dk1"/>
              </a:solidFill>
              <a:latin typeface="Calibri"/>
              <a:ea typeface="Calibri"/>
              <a:cs typeface="Calibri"/>
              <a:sym typeface="Calibri"/>
            </a:endParaRPr>
          </a:p>
        </p:txBody>
      </p:sp>
      <p:sp>
        <p:nvSpPr>
          <p:cNvPr id="745" name="Google Shape;745;g3e955750272_3_684"/>
          <p:cNvSpPr/>
          <p:nvPr/>
        </p:nvSpPr>
        <p:spPr>
          <a:xfrm>
            <a:off x="914857" y="7830465"/>
            <a:ext cx="16459200" cy="999897"/>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46" name="Google Shape;746;g3e955750272_3_684"/>
          <p:cNvSpPr/>
          <p:nvPr/>
        </p:nvSpPr>
        <p:spPr>
          <a:xfrm>
            <a:off x="1257757" y="7830465"/>
            <a:ext cx="15773400" cy="9998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공식 플랫폼 기반 데이터로 신뢰성을 확보</a:t>
            </a:r>
            <a:r>
              <a:rPr b="0" i="0" lang="en-US" sz="2000" u="none" cap="none" strike="noStrike">
                <a:solidFill>
                  <a:srgbClr val="4A4F5A"/>
                </a:solidFill>
                <a:latin typeface="Arial"/>
                <a:ea typeface="Arial"/>
                <a:cs typeface="Arial"/>
                <a:sym typeface="Arial"/>
              </a:rPr>
              <a:t>  하고, 사용자의 정책 탐색 범위를 넓혔습니다.</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1" name="Shape 751"/>
        <p:cNvGrpSpPr/>
        <p:nvPr/>
      </p:nvGrpSpPr>
      <p:grpSpPr>
        <a:xfrm>
          <a:off x="0" y="0"/>
          <a:ext cx="0" cy="0"/>
          <a:chOff x="0" y="0"/>
          <a:chExt cx="0" cy="0"/>
        </a:xfrm>
      </p:grpSpPr>
      <p:sp>
        <p:nvSpPr>
          <p:cNvPr id="752" name="Google Shape;752;g3e955750272_3_721"/>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53" name="Google Shape;753;g3e955750272_3_721"/>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CH.05  ·  EDA</a:t>
            </a:r>
            <a:endParaRPr b="0" i="0" sz="1400" u="none" cap="none" strike="noStrike">
              <a:solidFill>
                <a:schemeClr val="dk1"/>
              </a:solidFill>
              <a:latin typeface="Calibri"/>
              <a:ea typeface="Calibri"/>
              <a:cs typeface="Calibri"/>
              <a:sym typeface="Calibri"/>
            </a:endParaRPr>
          </a:p>
        </p:txBody>
      </p:sp>
      <p:sp>
        <p:nvSpPr>
          <p:cNvPr id="754" name="Google Shape;754;g3e955750272_3_721"/>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EDA — 같은 의미, 다른 컬럼</a:t>
            </a:r>
            <a:endParaRPr b="0" i="0" sz="4200" u="none" cap="none" strike="noStrike">
              <a:solidFill>
                <a:schemeClr val="dk1"/>
              </a:solidFill>
              <a:latin typeface="Calibri"/>
              <a:ea typeface="Calibri"/>
              <a:cs typeface="Calibri"/>
              <a:sym typeface="Calibri"/>
            </a:endParaRPr>
          </a:p>
        </p:txBody>
      </p:sp>
      <p:sp>
        <p:nvSpPr>
          <p:cNvPr id="755" name="Google Shape;755;g3e955750272_3_721"/>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3개 API는 같은 정책 공고라도 컬럼 구조와 표현이 서로 달랐습니다.</a:t>
            </a:r>
            <a:endParaRPr b="0" i="0" sz="2000" u="none" cap="none" strike="noStrike">
              <a:solidFill>
                <a:schemeClr val="dk1"/>
              </a:solidFill>
              <a:latin typeface="Calibri"/>
              <a:ea typeface="Calibri"/>
              <a:cs typeface="Calibri"/>
              <a:sym typeface="Calibri"/>
            </a:endParaRPr>
          </a:p>
        </p:txBody>
      </p:sp>
      <p:sp>
        <p:nvSpPr>
          <p:cNvPr id="756" name="Google Shape;756;g3e955750272_3_721"/>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57" name="Google Shape;757;g3e955750272_3_721"/>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EDA</a:t>
            </a:r>
            <a:endParaRPr b="0" i="0" sz="1400" u="none" cap="none" strike="noStrike">
              <a:solidFill>
                <a:schemeClr val="dk1"/>
              </a:solidFill>
              <a:latin typeface="Calibri"/>
              <a:ea typeface="Calibri"/>
              <a:cs typeface="Calibri"/>
              <a:sym typeface="Calibri"/>
            </a:endParaRPr>
          </a:p>
        </p:txBody>
      </p:sp>
      <p:sp>
        <p:nvSpPr>
          <p:cNvPr id="758" name="Google Shape;758;g3e955750272_3_721"/>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17 / 23</a:t>
            </a:r>
            <a:endParaRPr b="0" i="0" sz="1400" u="none" cap="none" strike="noStrike">
              <a:solidFill>
                <a:schemeClr val="dk1"/>
              </a:solidFill>
              <a:latin typeface="Calibri"/>
              <a:ea typeface="Calibri"/>
              <a:cs typeface="Calibri"/>
              <a:sym typeface="Calibri"/>
            </a:endParaRPr>
          </a:p>
        </p:txBody>
      </p:sp>
      <p:sp>
        <p:nvSpPr>
          <p:cNvPr id="759" name="Google Shape;759;g3e955750272_3_721"/>
          <p:cNvSpPr/>
          <p:nvPr/>
        </p:nvSpPr>
        <p:spPr>
          <a:xfrm>
            <a:off x="914857" y="3257550"/>
            <a:ext cx="5334153" cy="4143603"/>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60" name="Google Shape;760;g3e955750272_3_721"/>
          <p:cNvSpPr/>
          <p:nvPr/>
        </p:nvSpPr>
        <p:spPr>
          <a:xfrm>
            <a:off x="914857" y="3257550"/>
            <a:ext cx="5334153" cy="857250"/>
          </a:xfrm>
          <a:prstGeom prst="rect">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61" name="Google Shape;761;g3e955750272_3_721"/>
          <p:cNvSpPr/>
          <p:nvPr/>
        </p:nvSpPr>
        <p:spPr>
          <a:xfrm>
            <a:off x="1200150" y="3400197"/>
            <a:ext cx="36196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BizInfo</a:t>
            </a:r>
            <a:endParaRPr b="0" i="0" sz="2400" u="none" cap="none" strike="noStrike">
              <a:solidFill>
                <a:schemeClr val="dk1"/>
              </a:solidFill>
              <a:latin typeface="Calibri"/>
              <a:ea typeface="Calibri"/>
              <a:cs typeface="Calibri"/>
              <a:sym typeface="Calibri"/>
            </a:endParaRPr>
          </a:p>
        </p:txBody>
      </p:sp>
      <p:sp>
        <p:nvSpPr>
          <p:cNvPr id="762" name="Google Shape;762;g3e955750272_3_721"/>
          <p:cNvSpPr/>
          <p:nvPr/>
        </p:nvSpPr>
        <p:spPr>
          <a:xfrm>
            <a:off x="1200150" y="3743097"/>
            <a:ext cx="3619653"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500"/>
              <a:buFont typeface="Arial"/>
              <a:buNone/>
            </a:pPr>
            <a:r>
              <a:rPr b="0" i="0" lang="en-US" sz="1500" u="none" cap="none" strike="noStrike">
                <a:solidFill>
                  <a:srgbClr val="4A4F5A"/>
                </a:solidFill>
                <a:latin typeface="Arial"/>
                <a:ea typeface="Arial"/>
                <a:cs typeface="Arial"/>
                <a:sym typeface="Arial"/>
              </a:rPr>
              <a:t>기업마당</a:t>
            </a:r>
            <a:endParaRPr b="0" i="0" sz="1500" u="none" cap="none" strike="noStrike">
              <a:solidFill>
                <a:schemeClr val="dk1"/>
              </a:solidFill>
              <a:latin typeface="Calibri"/>
              <a:ea typeface="Calibri"/>
              <a:cs typeface="Calibri"/>
              <a:sym typeface="Calibri"/>
            </a:endParaRPr>
          </a:p>
        </p:txBody>
      </p:sp>
      <p:sp>
        <p:nvSpPr>
          <p:cNvPr id="763" name="Google Shape;763;g3e955750272_3_721"/>
          <p:cNvSpPr/>
          <p:nvPr/>
        </p:nvSpPr>
        <p:spPr>
          <a:xfrm>
            <a:off x="5020056" y="3542843"/>
            <a:ext cx="999897" cy="314097"/>
          </a:xfrm>
          <a:prstGeom prst="roundRect">
            <a:avLst>
              <a:gd fmla="val 17467" name="adj"/>
            </a:avLst>
          </a:prstGeom>
          <a:solidFill>
            <a:srgbClr val="FFFFFF"/>
          </a:solidFill>
          <a:ln cap="flat" cmpd="sng" w="9525">
            <a:solidFill>
              <a:srgbClr val="166534"/>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64" name="Google Shape;764;g3e955750272_3_721"/>
          <p:cNvSpPr/>
          <p:nvPr/>
        </p:nvSpPr>
        <p:spPr>
          <a:xfrm>
            <a:off x="5020056" y="3542843"/>
            <a:ext cx="999897"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22 컬럼</a:t>
            </a:r>
            <a:endParaRPr b="0" i="0" sz="1400" u="none" cap="none" strike="noStrike">
              <a:solidFill>
                <a:schemeClr val="dk1"/>
              </a:solidFill>
              <a:latin typeface="Calibri"/>
              <a:ea typeface="Calibri"/>
              <a:cs typeface="Calibri"/>
              <a:sym typeface="Calibri"/>
            </a:endParaRPr>
          </a:p>
        </p:txBody>
      </p:sp>
      <p:sp>
        <p:nvSpPr>
          <p:cNvPr id="765" name="Google Shape;765;g3e955750272_3_721"/>
          <p:cNvSpPr/>
          <p:nvPr/>
        </p:nvSpPr>
        <p:spPr>
          <a:xfrm>
            <a:off x="1143915" y="4286250"/>
            <a:ext cx="2704726" cy="2290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200"/>
              <a:buFont typeface="Arial"/>
              <a:buNone/>
            </a:pPr>
            <a:r>
              <a:rPr b="1" i="0" lang="en-US" sz="1200" u="none" cap="none" strike="noStrike">
                <a:solidFill>
                  <a:srgbClr val="8A8F99"/>
                </a:solidFill>
                <a:latin typeface="Arial"/>
                <a:ea typeface="Arial"/>
                <a:cs typeface="Arial"/>
                <a:sym typeface="Arial"/>
              </a:rPr>
              <a:t>원본 컬럼</a:t>
            </a:r>
            <a:endParaRPr b="0" i="0" sz="1200" u="none" cap="none" strike="noStrike">
              <a:solidFill>
                <a:schemeClr val="dk1"/>
              </a:solidFill>
              <a:latin typeface="Calibri"/>
              <a:ea typeface="Calibri"/>
              <a:cs typeface="Calibri"/>
              <a:sym typeface="Calibri"/>
            </a:endParaRPr>
          </a:p>
        </p:txBody>
      </p:sp>
      <p:sp>
        <p:nvSpPr>
          <p:cNvPr id="766" name="Google Shape;766;g3e955750272_3_721"/>
          <p:cNvSpPr/>
          <p:nvPr/>
        </p:nvSpPr>
        <p:spPr>
          <a:xfrm>
            <a:off x="3848642" y="4286250"/>
            <a:ext cx="2171312" cy="2290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200"/>
              <a:buFont typeface="Arial"/>
              <a:buNone/>
            </a:pPr>
            <a:r>
              <a:rPr b="1" i="0" lang="en-US" sz="1200" u="none" cap="none" strike="noStrike">
                <a:solidFill>
                  <a:srgbClr val="8A8F99"/>
                </a:solidFill>
                <a:latin typeface="Arial"/>
                <a:ea typeface="Arial"/>
                <a:cs typeface="Arial"/>
                <a:sym typeface="Arial"/>
              </a:rPr>
              <a:t>의미</a:t>
            </a:r>
            <a:endParaRPr b="0" i="0" sz="1200" u="none" cap="none" strike="noStrike">
              <a:solidFill>
                <a:schemeClr val="dk1"/>
              </a:solidFill>
              <a:latin typeface="Calibri"/>
              <a:ea typeface="Calibri"/>
              <a:cs typeface="Calibri"/>
              <a:sym typeface="Calibri"/>
            </a:endParaRPr>
          </a:p>
        </p:txBody>
      </p:sp>
      <p:sp>
        <p:nvSpPr>
          <p:cNvPr id="767" name="Google Shape;767;g3e955750272_3_721"/>
          <p:cNvSpPr/>
          <p:nvPr/>
        </p:nvSpPr>
        <p:spPr>
          <a:xfrm>
            <a:off x="1143915" y="4544111"/>
            <a:ext cx="4877409"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68" name="Google Shape;768;g3e955750272_3_721"/>
          <p:cNvSpPr/>
          <p:nvPr/>
        </p:nvSpPr>
        <p:spPr>
          <a:xfrm>
            <a:off x="1028700" y="4629150"/>
            <a:ext cx="5105096" cy="400507"/>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69" name="Google Shape;769;g3e955750272_3_721"/>
          <p:cNvSpPr/>
          <p:nvPr/>
        </p:nvSpPr>
        <p:spPr>
          <a:xfrm>
            <a:off x="1143915" y="4657953"/>
            <a:ext cx="2704726"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pblancNm</a:t>
            </a:r>
            <a:endParaRPr b="0" i="0" sz="1500" u="none" cap="none" strike="noStrike">
              <a:solidFill>
                <a:schemeClr val="dk1"/>
              </a:solidFill>
              <a:latin typeface="Calibri"/>
              <a:ea typeface="Calibri"/>
              <a:cs typeface="Calibri"/>
              <a:sym typeface="Calibri"/>
            </a:endParaRPr>
          </a:p>
        </p:txBody>
      </p:sp>
      <p:sp>
        <p:nvSpPr>
          <p:cNvPr id="770" name="Google Shape;770;g3e955750272_3_721"/>
          <p:cNvSpPr/>
          <p:nvPr/>
        </p:nvSpPr>
        <p:spPr>
          <a:xfrm>
            <a:off x="3848642" y="4657953"/>
            <a:ext cx="2171312"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공고명</a:t>
            </a:r>
            <a:endParaRPr b="0" i="0" sz="1500" u="none" cap="none" strike="noStrike">
              <a:solidFill>
                <a:schemeClr val="dk1"/>
              </a:solidFill>
              <a:latin typeface="Calibri"/>
              <a:ea typeface="Calibri"/>
              <a:cs typeface="Calibri"/>
              <a:sym typeface="Calibri"/>
            </a:endParaRPr>
          </a:p>
        </p:txBody>
      </p:sp>
      <p:sp>
        <p:nvSpPr>
          <p:cNvPr id="771" name="Google Shape;771;g3e955750272_3_721"/>
          <p:cNvSpPr/>
          <p:nvPr/>
        </p:nvSpPr>
        <p:spPr>
          <a:xfrm>
            <a:off x="1143915" y="5143500"/>
            <a:ext cx="2704726"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jrsdInsttNm</a:t>
            </a:r>
            <a:endParaRPr b="0" i="0" sz="1500" u="none" cap="none" strike="noStrike">
              <a:solidFill>
                <a:schemeClr val="dk1"/>
              </a:solidFill>
              <a:latin typeface="Calibri"/>
              <a:ea typeface="Calibri"/>
              <a:cs typeface="Calibri"/>
              <a:sym typeface="Calibri"/>
            </a:endParaRPr>
          </a:p>
        </p:txBody>
      </p:sp>
      <p:sp>
        <p:nvSpPr>
          <p:cNvPr id="772" name="Google Shape;772;g3e955750272_3_721"/>
          <p:cNvSpPr/>
          <p:nvPr/>
        </p:nvSpPr>
        <p:spPr>
          <a:xfrm>
            <a:off x="3848642" y="5143500"/>
            <a:ext cx="2171312"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주관기관</a:t>
            </a:r>
            <a:endParaRPr b="0" i="0" sz="1500" u="none" cap="none" strike="noStrike">
              <a:solidFill>
                <a:schemeClr val="dk1"/>
              </a:solidFill>
              <a:latin typeface="Calibri"/>
              <a:ea typeface="Calibri"/>
              <a:cs typeface="Calibri"/>
              <a:sym typeface="Calibri"/>
            </a:endParaRPr>
          </a:p>
        </p:txBody>
      </p:sp>
      <p:sp>
        <p:nvSpPr>
          <p:cNvPr id="773" name="Google Shape;773;g3e955750272_3_721"/>
          <p:cNvSpPr/>
          <p:nvPr/>
        </p:nvSpPr>
        <p:spPr>
          <a:xfrm>
            <a:off x="1143915" y="5629047"/>
            <a:ext cx="2704726"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trgetNm</a:t>
            </a:r>
            <a:endParaRPr b="0" i="0" sz="1500" u="none" cap="none" strike="noStrike">
              <a:solidFill>
                <a:schemeClr val="dk1"/>
              </a:solidFill>
              <a:latin typeface="Calibri"/>
              <a:ea typeface="Calibri"/>
              <a:cs typeface="Calibri"/>
              <a:sym typeface="Calibri"/>
            </a:endParaRPr>
          </a:p>
        </p:txBody>
      </p:sp>
      <p:sp>
        <p:nvSpPr>
          <p:cNvPr id="774" name="Google Shape;774;g3e955750272_3_721"/>
          <p:cNvSpPr/>
          <p:nvPr/>
        </p:nvSpPr>
        <p:spPr>
          <a:xfrm>
            <a:off x="3848642" y="5629047"/>
            <a:ext cx="2171312"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지원대상</a:t>
            </a:r>
            <a:endParaRPr b="0" i="0" sz="1500" u="none" cap="none" strike="noStrike">
              <a:solidFill>
                <a:schemeClr val="dk1"/>
              </a:solidFill>
              <a:latin typeface="Calibri"/>
              <a:ea typeface="Calibri"/>
              <a:cs typeface="Calibri"/>
              <a:sym typeface="Calibri"/>
            </a:endParaRPr>
          </a:p>
        </p:txBody>
      </p:sp>
      <p:sp>
        <p:nvSpPr>
          <p:cNvPr id="775" name="Google Shape;775;g3e955750272_3_721"/>
          <p:cNvSpPr/>
          <p:nvPr/>
        </p:nvSpPr>
        <p:spPr>
          <a:xfrm>
            <a:off x="1143915" y="6114592"/>
            <a:ext cx="2704726"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reqstBeginEndDe</a:t>
            </a:r>
            <a:endParaRPr b="0" i="0" sz="1500" u="none" cap="none" strike="noStrike">
              <a:solidFill>
                <a:schemeClr val="dk1"/>
              </a:solidFill>
              <a:latin typeface="Calibri"/>
              <a:ea typeface="Calibri"/>
              <a:cs typeface="Calibri"/>
              <a:sym typeface="Calibri"/>
            </a:endParaRPr>
          </a:p>
        </p:txBody>
      </p:sp>
      <p:sp>
        <p:nvSpPr>
          <p:cNvPr id="776" name="Google Shape;776;g3e955750272_3_721"/>
          <p:cNvSpPr/>
          <p:nvPr/>
        </p:nvSpPr>
        <p:spPr>
          <a:xfrm>
            <a:off x="3848642" y="6114592"/>
            <a:ext cx="2171312"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신청기간</a:t>
            </a:r>
            <a:endParaRPr b="0" i="0" sz="1500" u="none" cap="none" strike="noStrike">
              <a:solidFill>
                <a:schemeClr val="dk1"/>
              </a:solidFill>
              <a:latin typeface="Calibri"/>
              <a:ea typeface="Calibri"/>
              <a:cs typeface="Calibri"/>
              <a:sym typeface="Calibri"/>
            </a:endParaRPr>
          </a:p>
        </p:txBody>
      </p:sp>
      <p:sp>
        <p:nvSpPr>
          <p:cNvPr id="777" name="Google Shape;777;g3e955750272_3_721"/>
          <p:cNvSpPr/>
          <p:nvPr/>
        </p:nvSpPr>
        <p:spPr>
          <a:xfrm>
            <a:off x="1143915" y="6600140"/>
            <a:ext cx="2704726"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areaNm</a:t>
            </a:r>
            <a:endParaRPr b="0" i="0" sz="1500" u="none" cap="none" strike="noStrike">
              <a:solidFill>
                <a:schemeClr val="dk1"/>
              </a:solidFill>
              <a:latin typeface="Calibri"/>
              <a:ea typeface="Calibri"/>
              <a:cs typeface="Calibri"/>
              <a:sym typeface="Calibri"/>
            </a:endParaRPr>
          </a:p>
        </p:txBody>
      </p:sp>
      <p:sp>
        <p:nvSpPr>
          <p:cNvPr id="778" name="Google Shape;778;g3e955750272_3_721"/>
          <p:cNvSpPr/>
          <p:nvPr/>
        </p:nvSpPr>
        <p:spPr>
          <a:xfrm>
            <a:off x="3848642" y="6600140"/>
            <a:ext cx="2171312"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지역</a:t>
            </a:r>
            <a:endParaRPr b="0" i="0" sz="1500" u="none" cap="none" strike="noStrike">
              <a:solidFill>
                <a:schemeClr val="dk1"/>
              </a:solidFill>
              <a:latin typeface="Calibri"/>
              <a:ea typeface="Calibri"/>
              <a:cs typeface="Calibri"/>
              <a:sym typeface="Calibri"/>
            </a:endParaRPr>
          </a:p>
        </p:txBody>
      </p:sp>
      <p:sp>
        <p:nvSpPr>
          <p:cNvPr id="779" name="Google Shape;779;g3e955750272_3_721"/>
          <p:cNvSpPr/>
          <p:nvPr/>
        </p:nvSpPr>
        <p:spPr>
          <a:xfrm>
            <a:off x="6478066" y="3257550"/>
            <a:ext cx="5334153" cy="4143603"/>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80" name="Google Shape;780;g3e955750272_3_721"/>
          <p:cNvSpPr/>
          <p:nvPr/>
        </p:nvSpPr>
        <p:spPr>
          <a:xfrm>
            <a:off x="6478066" y="3257550"/>
            <a:ext cx="5334153" cy="85725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81" name="Google Shape;781;g3e955750272_3_721"/>
          <p:cNvSpPr/>
          <p:nvPr/>
        </p:nvSpPr>
        <p:spPr>
          <a:xfrm>
            <a:off x="6763359" y="3400197"/>
            <a:ext cx="36196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K-Startup</a:t>
            </a:r>
            <a:endParaRPr b="0" i="0" sz="2400" u="none" cap="none" strike="noStrike">
              <a:solidFill>
                <a:schemeClr val="dk1"/>
              </a:solidFill>
              <a:latin typeface="Calibri"/>
              <a:ea typeface="Calibri"/>
              <a:cs typeface="Calibri"/>
              <a:sym typeface="Calibri"/>
            </a:endParaRPr>
          </a:p>
        </p:txBody>
      </p:sp>
      <p:sp>
        <p:nvSpPr>
          <p:cNvPr id="782" name="Google Shape;782;g3e955750272_3_721"/>
          <p:cNvSpPr/>
          <p:nvPr/>
        </p:nvSpPr>
        <p:spPr>
          <a:xfrm>
            <a:off x="6763359" y="3743097"/>
            <a:ext cx="3619653"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500"/>
              <a:buFont typeface="Arial"/>
              <a:buNone/>
            </a:pPr>
            <a:r>
              <a:rPr b="0" i="0" lang="en-US" sz="1500" u="none" cap="none" strike="noStrike">
                <a:solidFill>
                  <a:srgbClr val="4A4F5A"/>
                </a:solidFill>
                <a:latin typeface="Arial"/>
                <a:ea typeface="Arial"/>
                <a:cs typeface="Arial"/>
                <a:sym typeface="Arial"/>
              </a:rPr>
              <a:t>K-Startup</a:t>
            </a:r>
            <a:endParaRPr b="0" i="0" sz="1500" u="none" cap="none" strike="noStrike">
              <a:solidFill>
                <a:schemeClr val="dk1"/>
              </a:solidFill>
              <a:latin typeface="Calibri"/>
              <a:ea typeface="Calibri"/>
              <a:cs typeface="Calibri"/>
              <a:sym typeface="Calibri"/>
            </a:endParaRPr>
          </a:p>
        </p:txBody>
      </p:sp>
      <p:sp>
        <p:nvSpPr>
          <p:cNvPr id="783" name="Google Shape;783;g3e955750272_3_721"/>
          <p:cNvSpPr/>
          <p:nvPr/>
        </p:nvSpPr>
        <p:spPr>
          <a:xfrm>
            <a:off x="10583265" y="3542843"/>
            <a:ext cx="999897" cy="314097"/>
          </a:xfrm>
          <a:prstGeom prst="roundRect">
            <a:avLst>
              <a:gd fmla="val 17467" name="adj"/>
            </a:avLst>
          </a:prstGeom>
          <a:solidFill>
            <a:srgbClr val="FFFFFF"/>
          </a:solidFill>
          <a:ln cap="flat" cmpd="sng" w="9525">
            <a:solidFill>
              <a:srgbClr val="5B21B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84" name="Google Shape;784;g3e955750272_3_721"/>
          <p:cNvSpPr/>
          <p:nvPr/>
        </p:nvSpPr>
        <p:spPr>
          <a:xfrm>
            <a:off x="10583265" y="3542843"/>
            <a:ext cx="999897"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30 컬럼</a:t>
            </a:r>
            <a:endParaRPr b="0" i="0" sz="1400" u="none" cap="none" strike="noStrike">
              <a:solidFill>
                <a:schemeClr val="dk1"/>
              </a:solidFill>
              <a:latin typeface="Calibri"/>
              <a:ea typeface="Calibri"/>
              <a:cs typeface="Calibri"/>
              <a:sym typeface="Calibri"/>
            </a:endParaRPr>
          </a:p>
        </p:txBody>
      </p:sp>
      <p:sp>
        <p:nvSpPr>
          <p:cNvPr id="785" name="Google Shape;785;g3e955750272_3_721"/>
          <p:cNvSpPr/>
          <p:nvPr/>
        </p:nvSpPr>
        <p:spPr>
          <a:xfrm>
            <a:off x="6707124" y="4286250"/>
            <a:ext cx="2704727" cy="2290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200"/>
              <a:buFont typeface="Arial"/>
              <a:buNone/>
            </a:pPr>
            <a:r>
              <a:rPr b="1" i="0" lang="en-US" sz="1200" u="none" cap="none" strike="noStrike">
                <a:solidFill>
                  <a:srgbClr val="8A8F99"/>
                </a:solidFill>
                <a:latin typeface="Arial"/>
                <a:ea typeface="Arial"/>
                <a:cs typeface="Arial"/>
                <a:sym typeface="Arial"/>
              </a:rPr>
              <a:t>원본 컬럼</a:t>
            </a:r>
            <a:endParaRPr b="0" i="0" sz="1200" u="none" cap="none" strike="noStrike">
              <a:solidFill>
                <a:schemeClr val="dk1"/>
              </a:solidFill>
              <a:latin typeface="Calibri"/>
              <a:ea typeface="Calibri"/>
              <a:cs typeface="Calibri"/>
              <a:sym typeface="Calibri"/>
            </a:endParaRPr>
          </a:p>
        </p:txBody>
      </p:sp>
      <p:sp>
        <p:nvSpPr>
          <p:cNvPr id="786" name="Google Shape;786;g3e955750272_3_721"/>
          <p:cNvSpPr/>
          <p:nvPr/>
        </p:nvSpPr>
        <p:spPr>
          <a:xfrm>
            <a:off x="9411851" y="4286250"/>
            <a:ext cx="2171311" cy="2290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200"/>
              <a:buFont typeface="Arial"/>
              <a:buNone/>
            </a:pPr>
            <a:r>
              <a:rPr b="1" i="0" lang="en-US" sz="1200" u="none" cap="none" strike="noStrike">
                <a:solidFill>
                  <a:srgbClr val="8A8F99"/>
                </a:solidFill>
                <a:latin typeface="Arial"/>
                <a:ea typeface="Arial"/>
                <a:cs typeface="Arial"/>
                <a:sym typeface="Arial"/>
              </a:rPr>
              <a:t>의미</a:t>
            </a:r>
            <a:endParaRPr b="0" i="0" sz="1200" u="none" cap="none" strike="noStrike">
              <a:solidFill>
                <a:schemeClr val="dk1"/>
              </a:solidFill>
              <a:latin typeface="Calibri"/>
              <a:ea typeface="Calibri"/>
              <a:cs typeface="Calibri"/>
              <a:sym typeface="Calibri"/>
            </a:endParaRPr>
          </a:p>
        </p:txBody>
      </p:sp>
      <p:sp>
        <p:nvSpPr>
          <p:cNvPr id="787" name="Google Shape;787;g3e955750272_3_721"/>
          <p:cNvSpPr/>
          <p:nvPr/>
        </p:nvSpPr>
        <p:spPr>
          <a:xfrm>
            <a:off x="6707124" y="4544111"/>
            <a:ext cx="4877409"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88" name="Google Shape;788;g3e955750272_3_721"/>
          <p:cNvSpPr/>
          <p:nvPr/>
        </p:nvSpPr>
        <p:spPr>
          <a:xfrm>
            <a:off x="6591909" y="4629150"/>
            <a:ext cx="5105096" cy="400507"/>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89" name="Google Shape;789;g3e955750272_3_721"/>
          <p:cNvSpPr/>
          <p:nvPr/>
        </p:nvSpPr>
        <p:spPr>
          <a:xfrm>
            <a:off x="6707124" y="4657953"/>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intg_pbanc_biz_nm</a:t>
            </a:r>
            <a:endParaRPr b="0" i="0" sz="1500" u="none" cap="none" strike="noStrike">
              <a:solidFill>
                <a:schemeClr val="dk1"/>
              </a:solidFill>
              <a:latin typeface="Calibri"/>
              <a:ea typeface="Calibri"/>
              <a:cs typeface="Calibri"/>
              <a:sym typeface="Calibri"/>
            </a:endParaRPr>
          </a:p>
        </p:txBody>
      </p:sp>
      <p:sp>
        <p:nvSpPr>
          <p:cNvPr id="790" name="Google Shape;790;g3e955750272_3_721"/>
          <p:cNvSpPr/>
          <p:nvPr/>
        </p:nvSpPr>
        <p:spPr>
          <a:xfrm>
            <a:off x="9411851" y="4657953"/>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공고명</a:t>
            </a:r>
            <a:endParaRPr b="0" i="0" sz="1500" u="none" cap="none" strike="noStrike">
              <a:solidFill>
                <a:schemeClr val="dk1"/>
              </a:solidFill>
              <a:latin typeface="Calibri"/>
              <a:ea typeface="Calibri"/>
              <a:cs typeface="Calibri"/>
              <a:sym typeface="Calibri"/>
            </a:endParaRPr>
          </a:p>
        </p:txBody>
      </p:sp>
      <p:sp>
        <p:nvSpPr>
          <p:cNvPr id="791" name="Google Shape;791;g3e955750272_3_721"/>
          <p:cNvSpPr/>
          <p:nvPr/>
        </p:nvSpPr>
        <p:spPr>
          <a:xfrm>
            <a:off x="6707124" y="5143500"/>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pbanc_ntrp_nm</a:t>
            </a:r>
            <a:endParaRPr b="0" i="0" sz="1500" u="none" cap="none" strike="noStrike">
              <a:solidFill>
                <a:schemeClr val="dk1"/>
              </a:solidFill>
              <a:latin typeface="Calibri"/>
              <a:ea typeface="Calibri"/>
              <a:cs typeface="Calibri"/>
              <a:sym typeface="Calibri"/>
            </a:endParaRPr>
          </a:p>
        </p:txBody>
      </p:sp>
      <p:sp>
        <p:nvSpPr>
          <p:cNvPr id="792" name="Google Shape;792;g3e955750272_3_721"/>
          <p:cNvSpPr/>
          <p:nvPr/>
        </p:nvSpPr>
        <p:spPr>
          <a:xfrm>
            <a:off x="9411851" y="5143500"/>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기관명</a:t>
            </a:r>
            <a:endParaRPr b="0" i="0" sz="1500" u="none" cap="none" strike="noStrike">
              <a:solidFill>
                <a:schemeClr val="dk1"/>
              </a:solidFill>
              <a:latin typeface="Calibri"/>
              <a:ea typeface="Calibri"/>
              <a:cs typeface="Calibri"/>
              <a:sym typeface="Calibri"/>
            </a:endParaRPr>
          </a:p>
        </p:txBody>
      </p:sp>
      <p:sp>
        <p:nvSpPr>
          <p:cNvPr id="793" name="Google Shape;793;g3e955750272_3_721"/>
          <p:cNvSpPr/>
          <p:nvPr/>
        </p:nvSpPr>
        <p:spPr>
          <a:xfrm>
            <a:off x="6707124" y="5629047"/>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biz_trgter_age</a:t>
            </a:r>
            <a:endParaRPr b="0" i="0" sz="1500" u="none" cap="none" strike="noStrike">
              <a:solidFill>
                <a:schemeClr val="dk1"/>
              </a:solidFill>
              <a:latin typeface="Calibri"/>
              <a:ea typeface="Calibri"/>
              <a:cs typeface="Calibri"/>
              <a:sym typeface="Calibri"/>
            </a:endParaRPr>
          </a:p>
        </p:txBody>
      </p:sp>
      <p:sp>
        <p:nvSpPr>
          <p:cNvPr id="794" name="Google Shape;794;g3e955750272_3_721"/>
          <p:cNvSpPr/>
          <p:nvPr/>
        </p:nvSpPr>
        <p:spPr>
          <a:xfrm>
            <a:off x="9411851" y="5629047"/>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지원 연령</a:t>
            </a:r>
            <a:endParaRPr b="0" i="0" sz="1500" u="none" cap="none" strike="noStrike">
              <a:solidFill>
                <a:schemeClr val="dk1"/>
              </a:solidFill>
              <a:latin typeface="Calibri"/>
              <a:ea typeface="Calibri"/>
              <a:cs typeface="Calibri"/>
              <a:sym typeface="Calibri"/>
            </a:endParaRPr>
          </a:p>
        </p:txBody>
      </p:sp>
      <p:sp>
        <p:nvSpPr>
          <p:cNvPr id="795" name="Google Shape;795;g3e955750272_3_721"/>
          <p:cNvSpPr/>
          <p:nvPr/>
        </p:nvSpPr>
        <p:spPr>
          <a:xfrm>
            <a:off x="6707124" y="6114592"/>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pbanc_rcpt_bgng_dt</a:t>
            </a:r>
            <a:endParaRPr b="0" i="0" sz="1500" u="none" cap="none" strike="noStrike">
              <a:solidFill>
                <a:schemeClr val="dk1"/>
              </a:solidFill>
              <a:latin typeface="Calibri"/>
              <a:ea typeface="Calibri"/>
              <a:cs typeface="Calibri"/>
              <a:sym typeface="Calibri"/>
            </a:endParaRPr>
          </a:p>
        </p:txBody>
      </p:sp>
      <p:sp>
        <p:nvSpPr>
          <p:cNvPr id="796" name="Google Shape;796;g3e955750272_3_721"/>
          <p:cNvSpPr/>
          <p:nvPr/>
        </p:nvSpPr>
        <p:spPr>
          <a:xfrm>
            <a:off x="9411851" y="6114592"/>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접수 시작일</a:t>
            </a:r>
            <a:endParaRPr b="0" i="0" sz="1500" u="none" cap="none" strike="noStrike">
              <a:solidFill>
                <a:schemeClr val="dk1"/>
              </a:solidFill>
              <a:latin typeface="Calibri"/>
              <a:ea typeface="Calibri"/>
              <a:cs typeface="Calibri"/>
              <a:sym typeface="Calibri"/>
            </a:endParaRPr>
          </a:p>
        </p:txBody>
      </p:sp>
      <p:sp>
        <p:nvSpPr>
          <p:cNvPr id="797" name="Google Shape;797;g3e955750272_3_721"/>
          <p:cNvSpPr/>
          <p:nvPr/>
        </p:nvSpPr>
        <p:spPr>
          <a:xfrm>
            <a:off x="6707124" y="6600140"/>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supt_regin</a:t>
            </a:r>
            <a:endParaRPr b="0" i="0" sz="1500" u="none" cap="none" strike="noStrike">
              <a:solidFill>
                <a:schemeClr val="dk1"/>
              </a:solidFill>
              <a:latin typeface="Calibri"/>
              <a:ea typeface="Calibri"/>
              <a:cs typeface="Calibri"/>
              <a:sym typeface="Calibri"/>
            </a:endParaRPr>
          </a:p>
        </p:txBody>
      </p:sp>
      <p:sp>
        <p:nvSpPr>
          <p:cNvPr id="798" name="Google Shape;798;g3e955750272_3_721"/>
          <p:cNvSpPr/>
          <p:nvPr/>
        </p:nvSpPr>
        <p:spPr>
          <a:xfrm>
            <a:off x="9411851" y="6600140"/>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지원 지역</a:t>
            </a:r>
            <a:endParaRPr b="0" i="0" sz="1500" u="none" cap="none" strike="noStrike">
              <a:solidFill>
                <a:schemeClr val="dk1"/>
              </a:solidFill>
              <a:latin typeface="Calibri"/>
              <a:ea typeface="Calibri"/>
              <a:cs typeface="Calibri"/>
              <a:sym typeface="Calibri"/>
            </a:endParaRPr>
          </a:p>
        </p:txBody>
      </p:sp>
      <p:sp>
        <p:nvSpPr>
          <p:cNvPr id="799" name="Google Shape;799;g3e955750272_3_721"/>
          <p:cNvSpPr/>
          <p:nvPr/>
        </p:nvSpPr>
        <p:spPr>
          <a:xfrm>
            <a:off x="12041277" y="3257550"/>
            <a:ext cx="5334153" cy="4143603"/>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00" name="Google Shape;800;g3e955750272_3_721"/>
          <p:cNvSpPr/>
          <p:nvPr/>
        </p:nvSpPr>
        <p:spPr>
          <a:xfrm>
            <a:off x="12041277" y="3257550"/>
            <a:ext cx="5334153" cy="857250"/>
          </a:xfrm>
          <a:prstGeom prst="rect">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01" name="Google Shape;801;g3e955750272_3_721"/>
          <p:cNvSpPr/>
          <p:nvPr/>
        </p:nvSpPr>
        <p:spPr>
          <a:xfrm>
            <a:off x="12326570" y="3400197"/>
            <a:ext cx="36196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YouthCenter</a:t>
            </a:r>
            <a:endParaRPr b="0" i="0" sz="2400" u="none" cap="none" strike="noStrike">
              <a:solidFill>
                <a:schemeClr val="dk1"/>
              </a:solidFill>
              <a:latin typeface="Calibri"/>
              <a:ea typeface="Calibri"/>
              <a:cs typeface="Calibri"/>
              <a:sym typeface="Calibri"/>
            </a:endParaRPr>
          </a:p>
        </p:txBody>
      </p:sp>
      <p:sp>
        <p:nvSpPr>
          <p:cNvPr id="802" name="Google Shape;802;g3e955750272_3_721"/>
          <p:cNvSpPr/>
          <p:nvPr/>
        </p:nvSpPr>
        <p:spPr>
          <a:xfrm>
            <a:off x="12326570" y="3743097"/>
            <a:ext cx="3619653"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500"/>
              <a:buFont typeface="Arial"/>
              <a:buNone/>
            </a:pPr>
            <a:r>
              <a:rPr b="0" i="0" lang="en-US" sz="1500" u="none" cap="none" strike="noStrike">
                <a:solidFill>
                  <a:srgbClr val="4A4F5A"/>
                </a:solidFill>
                <a:latin typeface="Arial"/>
                <a:ea typeface="Arial"/>
                <a:cs typeface="Arial"/>
                <a:sym typeface="Arial"/>
              </a:rPr>
              <a:t>온통청년</a:t>
            </a:r>
            <a:endParaRPr b="0" i="0" sz="1500" u="none" cap="none" strike="noStrike">
              <a:solidFill>
                <a:schemeClr val="dk1"/>
              </a:solidFill>
              <a:latin typeface="Calibri"/>
              <a:ea typeface="Calibri"/>
              <a:cs typeface="Calibri"/>
              <a:sym typeface="Calibri"/>
            </a:endParaRPr>
          </a:p>
        </p:txBody>
      </p:sp>
      <p:sp>
        <p:nvSpPr>
          <p:cNvPr id="803" name="Google Shape;803;g3e955750272_3_721"/>
          <p:cNvSpPr/>
          <p:nvPr/>
        </p:nvSpPr>
        <p:spPr>
          <a:xfrm>
            <a:off x="16146476" y="3542843"/>
            <a:ext cx="999897" cy="314097"/>
          </a:xfrm>
          <a:prstGeom prst="roundRect">
            <a:avLst>
              <a:gd fmla="val 17467" name="adj"/>
            </a:avLst>
          </a:prstGeom>
          <a:solidFill>
            <a:srgbClr val="FFFFFF"/>
          </a:solidFill>
          <a:ln cap="flat" cmpd="sng" w="9525">
            <a:solidFill>
              <a:srgbClr val="9A3412"/>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04" name="Google Shape;804;g3e955750272_3_721"/>
          <p:cNvSpPr/>
          <p:nvPr/>
        </p:nvSpPr>
        <p:spPr>
          <a:xfrm>
            <a:off x="16146476" y="3542843"/>
            <a:ext cx="999897" cy="3140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60 컬럼</a:t>
            </a:r>
            <a:endParaRPr b="0" i="0" sz="1400" u="none" cap="none" strike="noStrike">
              <a:solidFill>
                <a:schemeClr val="dk1"/>
              </a:solidFill>
              <a:latin typeface="Calibri"/>
              <a:ea typeface="Calibri"/>
              <a:cs typeface="Calibri"/>
              <a:sym typeface="Calibri"/>
            </a:endParaRPr>
          </a:p>
        </p:txBody>
      </p:sp>
      <p:sp>
        <p:nvSpPr>
          <p:cNvPr id="805" name="Google Shape;805;g3e955750272_3_721"/>
          <p:cNvSpPr/>
          <p:nvPr/>
        </p:nvSpPr>
        <p:spPr>
          <a:xfrm>
            <a:off x="12270333" y="4286250"/>
            <a:ext cx="2704727" cy="2290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200"/>
              <a:buFont typeface="Arial"/>
              <a:buNone/>
            </a:pPr>
            <a:r>
              <a:rPr b="1" i="0" lang="en-US" sz="1200" u="none" cap="none" strike="noStrike">
                <a:solidFill>
                  <a:srgbClr val="8A8F99"/>
                </a:solidFill>
                <a:latin typeface="Arial"/>
                <a:ea typeface="Arial"/>
                <a:cs typeface="Arial"/>
                <a:sym typeface="Arial"/>
              </a:rPr>
              <a:t>원본 컬럼</a:t>
            </a:r>
            <a:endParaRPr b="0" i="0" sz="1200" u="none" cap="none" strike="noStrike">
              <a:solidFill>
                <a:schemeClr val="dk1"/>
              </a:solidFill>
              <a:latin typeface="Calibri"/>
              <a:ea typeface="Calibri"/>
              <a:cs typeface="Calibri"/>
              <a:sym typeface="Calibri"/>
            </a:endParaRPr>
          </a:p>
        </p:txBody>
      </p:sp>
      <p:sp>
        <p:nvSpPr>
          <p:cNvPr id="806" name="Google Shape;806;g3e955750272_3_721"/>
          <p:cNvSpPr/>
          <p:nvPr/>
        </p:nvSpPr>
        <p:spPr>
          <a:xfrm>
            <a:off x="14975060" y="4286250"/>
            <a:ext cx="2171311" cy="2290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200"/>
              <a:buFont typeface="Arial"/>
              <a:buNone/>
            </a:pPr>
            <a:r>
              <a:rPr b="1" i="0" lang="en-US" sz="1200" u="none" cap="none" strike="noStrike">
                <a:solidFill>
                  <a:srgbClr val="8A8F99"/>
                </a:solidFill>
                <a:latin typeface="Arial"/>
                <a:ea typeface="Arial"/>
                <a:cs typeface="Arial"/>
                <a:sym typeface="Arial"/>
              </a:rPr>
              <a:t>의미</a:t>
            </a:r>
            <a:endParaRPr b="0" i="0" sz="1200" u="none" cap="none" strike="noStrike">
              <a:solidFill>
                <a:schemeClr val="dk1"/>
              </a:solidFill>
              <a:latin typeface="Calibri"/>
              <a:ea typeface="Calibri"/>
              <a:cs typeface="Calibri"/>
              <a:sym typeface="Calibri"/>
            </a:endParaRPr>
          </a:p>
        </p:txBody>
      </p:sp>
      <p:sp>
        <p:nvSpPr>
          <p:cNvPr id="807" name="Google Shape;807;g3e955750272_3_721"/>
          <p:cNvSpPr/>
          <p:nvPr/>
        </p:nvSpPr>
        <p:spPr>
          <a:xfrm>
            <a:off x="12270333" y="4544111"/>
            <a:ext cx="4877409"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08" name="Google Shape;808;g3e955750272_3_721"/>
          <p:cNvSpPr/>
          <p:nvPr/>
        </p:nvSpPr>
        <p:spPr>
          <a:xfrm>
            <a:off x="12155120" y="4629150"/>
            <a:ext cx="5105096" cy="400507"/>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09" name="Google Shape;809;g3e955750272_3_721"/>
          <p:cNvSpPr/>
          <p:nvPr/>
        </p:nvSpPr>
        <p:spPr>
          <a:xfrm>
            <a:off x="12270333" y="4657953"/>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plcyNm</a:t>
            </a:r>
            <a:endParaRPr b="0" i="0" sz="1500" u="none" cap="none" strike="noStrike">
              <a:solidFill>
                <a:schemeClr val="dk1"/>
              </a:solidFill>
              <a:latin typeface="Calibri"/>
              <a:ea typeface="Calibri"/>
              <a:cs typeface="Calibri"/>
              <a:sym typeface="Calibri"/>
            </a:endParaRPr>
          </a:p>
        </p:txBody>
      </p:sp>
      <p:sp>
        <p:nvSpPr>
          <p:cNvPr id="810" name="Google Shape;810;g3e955750272_3_721"/>
          <p:cNvSpPr/>
          <p:nvPr/>
        </p:nvSpPr>
        <p:spPr>
          <a:xfrm>
            <a:off x="14975060" y="4657953"/>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정책명</a:t>
            </a:r>
            <a:endParaRPr b="0" i="0" sz="1500" u="none" cap="none" strike="noStrike">
              <a:solidFill>
                <a:schemeClr val="dk1"/>
              </a:solidFill>
              <a:latin typeface="Calibri"/>
              <a:ea typeface="Calibri"/>
              <a:cs typeface="Calibri"/>
              <a:sym typeface="Calibri"/>
            </a:endParaRPr>
          </a:p>
        </p:txBody>
      </p:sp>
      <p:sp>
        <p:nvSpPr>
          <p:cNvPr id="811" name="Google Shape;811;g3e955750272_3_721"/>
          <p:cNvSpPr/>
          <p:nvPr/>
        </p:nvSpPr>
        <p:spPr>
          <a:xfrm>
            <a:off x="12270333" y="5143500"/>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sprvsnInstCdNm</a:t>
            </a:r>
            <a:endParaRPr b="0" i="0" sz="1500" u="none" cap="none" strike="noStrike">
              <a:solidFill>
                <a:schemeClr val="dk1"/>
              </a:solidFill>
              <a:latin typeface="Calibri"/>
              <a:ea typeface="Calibri"/>
              <a:cs typeface="Calibri"/>
              <a:sym typeface="Calibri"/>
            </a:endParaRPr>
          </a:p>
        </p:txBody>
      </p:sp>
      <p:sp>
        <p:nvSpPr>
          <p:cNvPr id="812" name="Google Shape;812;g3e955750272_3_721"/>
          <p:cNvSpPr/>
          <p:nvPr/>
        </p:nvSpPr>
        <p:spPr>
          <a:xfrm>
            <a:off x="14975060" y="5143500"/>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주관 기관</a:t>
            </a:r>
            <a:endParaRPr b="0" i="0" sz="1500" u="none" cap="none" strike="noStrike">
              <a:solidFill>
                <a:schemeClr val="dk1"/>
              </a:solidFill>
              <a:latin typeface="Calibri"/>
              <a:ea typeface="Calibri"/>
              <a:cs typeface="Calibri"/>
              <a:sym typeface="Calibri"/>
            </a:endParaRPr>
          </a:p>
        </p:txBody>
      </p:sp>
      <p:sp>
        <p:nvSpPr>
          <p:cNvPr id="813" name="Google Shape;813;g3e955750272_3_721"/>
          <p:cNvSpPr/>
          <p:nvPr/>
        </p:nvSpPr>
        <p:spPr>
          <a:xfrm>
            <a:off x="12270333" y="5629047"/>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sprtTrgtMinAge</a:t>
            </a:r>
            <a:endParaRPr b="0" i="0" sz="1500" u="none" cap="none" strike="noStrike">
              <a:solidFill>
                <a:schemeClr val="dk1"/>
              </a:solidFill>
              <a:latin typeface="Calibri"/>
              <a:ea typeface="Calibri"/>
              <a:cs typeface="Calibri"/>
              <a:sym typeface="Calibri"/>
            </a:endParaRPr>
          </a:p>
        </p:txBody>
      </p:sp>
      <p:sp>
        <p:nvSpPr>
          <p:cNvPr id="814" name="Google Shape;814;g3e955750272_3_721"/>
          <p:cNvSpPr/>
          <p:nvPr/>
        </p:nvSpPr>
        <p:spPr>
          <a:xfrm>
            <a:off x="14975060" y="5629047"/>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지원 최소연령</a:t>
            </a:r>
            <a:endParaRPr b="0" i="0" sz="1500" u="none" cap="none" strike="noStrike">
              <a:solidFill>
                <a:schemeClr val="dk1"/>
              </a:solidFill>
              <a:latin typeface="Calibri"/>
              <a:ea typeface="Calibri"/>
              <a:cs typeface="Calibri"/>
              <a:sym typeface="Calibri"/>
            </a:endParaRPr>
          </a:p>
        </p:txBody>
      </p:sp>
      <p:sp>
        <p:nvSpPr>
          <p:cNvPr id="815" name="Google Shape;815;g3e955750272_3_721"/>
          <p:cNvSpPr/>
          <p:nvPr/>
        </p:nvSpPr>
        <p:spPr>
          <a:xfrm>
            <a:off x="12270333" y="6114592"/>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aplyYmd</a:t>
            </a:r>
            <a:endParaRPr b="0" i="0" sz="1500" u="none" cap="none" strike="noStrike">
              <a:solidFill>
                <a:schemeClr val="dk1"/>
              </a:solidFill>
              <a:latin typeface="Calibri"/>
              <a:ea typeface="Calibri"/>
              <a:cs typeface="Calibri"/>
              <a:sym typeface="Calibri"/>
            </a:endParaRPr>
          </a:p>
        </p:txBody>
      </p:sp>
      <p:sp>
        <p:nvSpPr>
          <p:cNvPr id="816" name="Google Shape;816;g3e955750272_3_721"/>
          <p:cNvSpPr/>
          <p:nvPr/>
        </p:nvSpPr>
        <p:spPr>
          <a:xfrm>
            <a:off x="14975060" y="6114592"/>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신청 기간</a:t>
            </a:r>
            <a:endParaRPr b="0" i="0" sz="1500" u="none" cap="none" strike="noStrike">
              <a:solidFill>
                <a:schemeClr val="dk1"/>
              </a:solidFill>
              <a:latin typeface="Calibri"/>
              <a:ea typeface="Calibri"/>
              <a:cs typeface="Calibri"/>
              <a:sym typeface="Calibri"/>
            </a:endParaRPr>
          </a:p>
        </p:txBody>
      </p:sp>
      <p:sp>
        <p:nvSpPr>
          <p:cNvPr id="817" name="Google Shape;817;g3e955750272_3_721"/>
          <p:cNvSpPr/>
          <p:nvPr/>
        </p:nvSpPr>
        <p:spPr>
          <a:xfrm>
            <a:off x="12270333" y="6600140"/>
            <a:ext cx="2704727"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0" i="0" lang="en-US" sz="1500" u="none" cap="none" strike="noStrike">
                <a:solidFill>
                  <a:srgbClr val="2A2A33"/>
                </a:solidFill>
                <a:latin typeface="Arial"/>
                <a:ea typeface="Arial"/>
                <a:cs typeface="Arial"/>
                <a:sym typeface="Arial"/>
              </a:rPr>
              <a:t>rgtrInstCdNm</a:t>
            </a:r>
            <a:endParaRPr b="0" i="0" sz="1500" u="none" cap="none" strike="noStrike">
              <a:solidFill>
                <a:schemeClr val="dk1"/>
              </a:solidFill>
              <a:latin typeface="Calibri"/>
              <a:ea typeface="Calibri"/>
              <a:cs typeface="Calibri"/>
              <a:sym typeface="Calibri"/>
            </a:endParaRPr>
          </a:p>
        </p:txBody>
      </p:sp>
      <p:sp>
        <p:nvSpPr>
          <p:cNvPr id="818" name="Google Shape;818;g3e955750272_3_721"/>
          <p:cNvSpPr/>
          <p:nvPr/>
        </p:nvSpPr>
        <p:spPr>
          <a:xfrm>
            <a:off x="14975060" y="6600140"/>
            <a:ext cx="2171311"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등록 기관</a:t>
            </a:r>
            <a:endParaRPr b="0" i="0" sz="1500" u="none" cap="none" strike="noStrike">
              <a:solidFill>
                <a:schemeClr val="dk1"/>
              </a:solidFill>
              <a:latin typeface="Calibri"/>
              <a:ea typeface="Calibri"/>
              <a:cs typeface="Calibri"/>
              <a:sym typeface="Calibri"/>
            </a:endParaRPr>
          </a:p>
        </p:txBody>
      </p:sp>
      <p:sp>
        <p:nvSpPr>
          <p:cNvPr id="819" name="Google Shape;819;g3e955750272_3_721"/>
          <p:cNvSpPr/>
          <p:nvPr/>
        </p:nvSpPr>
        <p:spPr>
          <a:xfrm>
            <a:off x="914857" y="7630211"/>
            <a:ext cx="16459200" cy="1228953"/>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20" name="Google Shape;820;g3e955750272_3_721"/>
          <p:cNvSpPr/>
          <p:nvPr/>
        </p:nvSpPr>
        <p:spPr>
          <a:xfrm>
            <a:off x="1257757" y="7830465"/>
            <a:ext cx="15773400" cy="2578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500"/>
              <a:buFont typeface="Arial"/>
              <a:buNone/>
            </a:pPr>
            <a:r>
              <a:rPr b="1" i="0" lang="en-US" sz="1500" u="none" cap="none" strike="noStrike">
                <a:solidFill>
                  <a:srgbClr val="3F3FB8"/>
                </a:solidFill>
                <a:latin typeface="Arial"/>
                <a:ea typeface="Arial"/>
                <a:cs typeface="Arial"/>
                <a:sym typeface="Arial"/>
              </a:rPr>
              <a:t>같은 의미, 다른 이름</a:t>
            </a:r>
            <a:endParaRPr b="0" i="0" sz="1500" u="none" cap="none" strike="noStrike">
              <a:solidFill>
                <a:schemeClr val="dk1"/>
              </a:solidFill>
              <a:latin typeface="Calibri"/>
              <a:ea typeface="Calibri"/>
              <a:cs typeface="Calibri"/>
              <a:sym typeface="Calibri"/>
            </a:endParaRPr>
          </a:p>
        </p:txBody>
      </p:sp>
      <p:sp>
        <p:nvSpPr>
          <p:cNvPr id="821" name="Google Shape;821;g3e955750272_3_721"/>
          <p:cNvSpPr/>
          <p:nvPr/>
        </p:nvSpPr>
        <p:spPr>
          <a:xfrm>
            <a:off x="1257757" y="8173365"/>
            <a:ext cx="15773400" cy="5143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title  </a:t>
            </a:r>
            <a:r>
              <a:rPr b="0" i="0" lang="en-US" sz="2000" u="none" cap="none" strike="noStrike">
                <a:solidFill>
                  <a:srgbClr val="8A8F99"/>
                </a:solidFill>
                <a:latin typeface="Arial"/>
                <a:ea typeface="Arial"/>
                <a:cs typeface="Arial"/>
                <a:sym typeface="Arial"/>
              </a:rPr>
              <a:t>→  </a:t>
            </a:r>
            <a:r>
              <a:rPr b="1" i="0" lang="en-US" sz="2000" u="none" cap="none" strike="noStrike">
                <a:solidFill>
                  <a:srgbClr val="166534"/>
                </a:solidFill>
                <a:latin typeface="Arial"/>
                <a:ea typeface="Arial"/>
                <a:cs typeface="Arial"/>
                <a:sym typeface="Arial"/>
              </a:rPr>
              <a:t>pblancNm</a:t>
            </a:r>
            <a:r>
              <a:rPr b="0" i="0" lang="en-US" sz="2000" u="none" cap="none" strike="noStrike">
                <a:solidFill>
                  <a:srgbClr val="8A8F99"/>
                </a:solidFill>
                <a:latin typeface="Arial"/>
                <a:ea typeface="Arial"/>
                <a:cs typeface="Arial"/>
                <a:sym typeface="Arial"/>
              </a:rPr>
              <a:t>   ·   </a:t>
            </a:r>
            <a:r>
              <a:rPr b="1" i="0" lang="en-US" sz="2000" u="none" cap="none" strike="noStrike">
                <a:solidFill>
                  <a:srgbClr val="5B21B6"/>
                </a:solidFill>
                <a:latin typeface="Arial"/>
                <a:ea typeface="Arial"/>
                <a:cs typeface="Arial"/>
                <a:sym typeface="Arial"/>
              </a:rPr>
              <a:t>intg_pbanc_biz_nm</a:t>
            </a:r>
            <a:r>
              <a:rPr b="0" i="0" lang="en-US" sz="2000" u="none" cap="none" strike="noStrike">
                <a:solidFill>
                  <a:srgbClr val="8A8F99"/>
                </a:solidFill>
                <a:latin typeface="Arial"/>
                <a:ea typeface="Arial"/>
                <a:cs typeface="Arial"/>
                <a:sym typeface="Arial"/>
              </a:rPr>
              <a:t>   ·   </a:t>
            </a:r>
            <a:r>
              <a:rPr b="1" i="0" lang="en-US" sz="2000" u="none" cap="none" strike="noStrike">
                <a:solidFill>
                  <a:srgbClr val="9A3412"/>
                </a:solidFill>
                <a:latin typeface="Arial"/>
                <a:ea typeface="Arial"/>
                <a:cs typeface="Arial"/>
                <a:sym typeface="Arial"/>
              </a:rPr>
              <a:t>plcyNm</a:t>
            </a:r>
            <a:r>
              <a:rPr b="0" i="0" lang="en-US" sz="2000" u="none" cap="none" strike="noStrike">
                <a:solidFill>
                  <a:srgbClr val="4A4F5A"/>
                </a:solidFill>
                <a:latin typeface="Arial"/>
                <a:ea typeface="Arial"/>
                <a:cs typeface="Arial"/>
                <a:sym typeface="Arial"/>
              </a:rPr>
              <a:t>   ·  날짜 / 지역 / 분야 표현도 API마다 상이</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6" name="Shape 826"/>
        <p:cNvGrpSpPr/>
        <p:nvPr/>
      </p:nvGrpSpPr>
      <p:grpSpPr>
        <a:xfrm>
          <a:off x="0" y="0"/>
          <a:ext cx="0" cy="0"/>
          <a:chOff x="0" y="0"/>
          <a:chExt cx="0" cy="0"/>
        </a:xfrm>
      </p:grpSpPr>
      <p:sp>
        <p:nvSpPr>
          <p:cNvPr id="827" name="Google Shape;827;g3e955750272_3_795"/>
          <p:cNvSpPr/>
          <p:nvPr/>
        </p:nvSpPr>
        <p:spPr>
          <a:xfrm>
            <a:off x="914858" y="772211"/>
            <a:ext cx="113850" cy="113850"/>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28" name="Google Shape;828;g3e955750272_3_795"/>
          <p:cNvSpPr/>
          <p:nvPr/>
        </p:nvSpPr>
        <p:spPr>
          <a:xfrm>
            <a:off x="1143915" y="685800"/>
            <a:ext cx="16230150" cy="28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CH.05  ·  전처리</a:t>
            </a:r>
            <a:endParaRPr b="0" i="0" sz="1400" u="none" cap="none" strike="noStrike">
              <a:solidFill>
                <a:schemeClr val="dk1"/>
              </a:solidFill>
              <a:latin typeface="Calibri"/>
              <a:ea typeface="Calibri"/>
              <a:cs typeface="Calibri"/>
              <a:sym typeface="Calibri"/>
            </a:endParaRPr>
          </a:p>
        </p:txBody>
      </p:sp>
      <p:sp>
        <p:nvSpPr>
          <p:cNvPr id="829" name="Google Shape;829;g3e955750272_3_795"/>
          <p:cNvSpPr/>
          <p:nvPr/>
        </p:nvSpPr>
        <p:spPr>
          <a:xfrm>
            <a:off x="914857" y="1200150"/>
            <a:ext cx="16459200" cy="79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전처리 — 29개 공통 컬럼으로 정리</a:t>
            </a:r>
            <a:endParaRPr b="0" i="0" sz="4200" u="none" cap="none" strike="noStrike">
              <a:solidFill>
                <a:schemeClr val="dk1"/>
              </a:solidFill>
              <a:latin typeface="Calibri"/>
              <a:ea typeface="Calibri"/>
              <a:cs typeface="Calibri"/>
              <a:sym typeface="Calibri"/>
            </a:endParaRPr>
          </a:p>
        </p:txBody>
      </p:sp>
      <p:sp>
        <p:nvSpPr>
          <p:cNvPr id="830" name="Google Shape;830;g3e955750272_3_795"/>
          <p:cNvSpPr/>
          <p:nvPr/>
        </p:nvSpPr>
        <p:spPr>
          <a:xfrm>
            <a:off x="914857" y="2115007"/>
            <a:ext cx="16459200" cy="40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112개 원본 컬럼을 검색·추천에 쓸 수 있는 공통 구조로 맞췄습니다.</a:t>
            </a:r>
            <a:endParaRPr b="0" i="0" sz="2000" u="none" cap="none" strike="noStrike">
              <a:solidFill>
                <a:schemeClr val="dk1"/>
              </a:solidFill>
              <a:latin typeface="Calibri"/>
              <a:ea typeface="Calibri"/>
              <a:cs typeface="Calibri"/>
              <a:sym typeface="Calibri"/>
            </a:endParaRPr>
          </a:p>
        </p:txBody>
      </p:sp>
      <p:sp>
        <p:nvSpPr>
          <p:cNvPr id="831" name="Google Shape;831;g3e955750272_3_795"/>
          <p:cNvSpPr/>
          <p:nvPr/>
        </p:nvSpPr>
        <p:spPr>
          <a:xfrm>
            <a:off x="914857" y="2685593"/>
            <a:ext cx="16459200" cy="135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32" name="Google Shape;832;g3e955750272_3_795"/>
          <p:cNvSpPr/>
          <p:nvPr/>
        </p:nvSpPr>
        <p:spPr>
          <a:xfrm>
            <a:off x="914857" y="9543592"/>
            <a:ext cx="1142955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전처리 · 공통 컬럼</a:t>
            </a:r>
            <a:endParaRPr b="0" i="0" sz="1400" u="none" cap="none" strike="noStrike">
              <a:solidFill>
                <a:schemeClr val="dk1"/>
              </a:solidFill>
              <a:latin typeface="Calibri"/>
              <a:ea typeface="Calibri"/>
              <a:cs typeface="Calibri"/>
              <a:sym typeface="Calibri"/>
            </a:endParaRPr>
          </a:p>
        </p:txBody>
      </p:sp>
      <p:sp>
        <p:nvSpPr>
          <p:cNvPr id="833" name="Google Shape;833;g3e955750272_3_795"/>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18 / 24</a:t>
            </a:r>
            <a:endParaRPr b="0" i="0" sz="1400" u="none" cap="none" strike="noStrike">
              <a:solidFill>
                <a:schemeClr val="dk1"/>
              </a:solidFill>
              <a:latin typeface="Calibri"/>
              <a:ea typeface="Calibri"/>
              <a:cs typeface="Calibri"/>
              <a:sym typeface="Calibri"/>
            </a:endParaRPr>
          </a:p>
        </p:txBody>
      </p:sp>
      <p:grpSp>
        <p:nvGrpSpPr>
          <p:cNvPr id="834" name="Google Shape;834;g3e955750272_3_795"/>
          <p:cNvGrpSpPr/>
          <p:nvPr/>
        </p:nvGrpSpPr>
        <p:grpSpPr>
          <a:xfrm>
            <a:off x="914841" y="3257529"/>
            <a:ext cx="16459244" cy="1142550"/>
            <a:chOff x="609905" y="2171700"/>
            <a:chExt cx="4266595" cy="761700"/>
          </a:xfrm>
        </p:grpSpPr>
        <p:sp>
          <p:nvSpPr>
            <p:cNvPr id="835" name="Google Shape;835;g3e955750272_3_795"/>
            <p:cNvSpPr/>
            <p:nvPr/>
          </p:nvSpPr>
          <p:spPr>
            <a:xfrm>
              <a:off x="609905" y="2171700"/>
              <a:ext cx="4190700" cy="7617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36" name="Google Shape;836;g3e955750272_3_795"/>
            <p:cNvSpPr/>
            <p:nvPr/>
          </p:nvSpPr>
          <p:spPr>
            <a:xfrm>
              <a:off x="800100" y="2305202"/>
              <a:ext cx="761700" cy="15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F99"/>
                </a:buClr>
                <a:buSzPts val="1400"/>
                <a:buFont typeface="Arial"/>
                <a:buNone/>
              </a:pPr>
              <a:r>
                <a:rPr b="1" i="0" lang="en-US" sz="1400" u="none" cap="none" strike="noStrike">
                  <a:solidFill>
                    <a:srgbClr val="8A8F99"/>
                  </a:solidFill>
                  <a:latin typeface="Arial"/>
                  <a:ea typeface="Arial"/>
                  <a:cs typeface="Arial"/>
                  <a:sym typeface="Arial"/>
                </a:rPr>
                <a:t>BEFORE</a:t>
              </a:r>
              <a:endParaRPr b="0" i="0" sz="1400" u="none" cap="none" strike="noStrike">
                <a:solidFill>
                  <a:schemeClr val="dk1"/>
                </a:solidFill>
                <a:latin typeface="Calibri"/>
                <a:ea typeface="Calibri"/>
                <a:cs typeface="Calibri"/>
                <a:sym typeface="Calibri"/>
              </a:endParaRPr>
            </a:p>
          </p:txBody>
        </p:sp>
        <p:sp>
          <p:nvSpPr>
            <p:cNvPr id="837" name="Google Shape;837;g3e955750272_3_795"/>
            <p:cNvSpPr/>
            <p:nvPr/>
          </p:nvSpPr>
          <p:spPr>
            <a:xfrm>
              <a:off x="1169860" y="2328982"/>
              <a:ext cx="1143000" cy="41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4800"/>
                <a:buFont typeface="Arial"/>
                <a:buNone/>
              </a:pPr>
              <a:r>
                <a:rPr b="1" i="0" lang="en-US" sz="4800" u="none" cap="none" strike="noStrike">
                  <a:solidFill>
                    <a:srgbClr val="6B7280"/>
                  </a:solidFill>
                  <a:latin typeface="Arial"/>
                  <a:ea typeface="Arial"/>
                  <a:cs typeface="Arial"/>
                  <a:sym typeface="Arial"/>
                </a:rPr>
                <a:t>112</a:t>
              </a:r>
              <a:endParaRPr b="0" i="0" sz="4800" u="none" cap="none" strike="noStrike">
                <a:solidFill>
                  <a:schemeClr val="dk1"/>
                </a:solidFill>
                <a:latin typeface="Calibri"/>
                <a:ea typeface="Calibri"/>
                <a:cs typeface="Calibri"/>
                <a:sym typeface="Calibri"/>
              </a:endParaRPr>
            </a:p>
          </p:txBody>
        </p:sp>
        <p:sp>
          <p:nvSpPr>
            <p:cNvPr id="838" name="Google Shape;838;g3e955750272_3_795"/>
            <p:cNvSpPr/>
            <p:nvPr/>
          </p:nvSpPr>
          <p:spPr>
            <a:xfrm>
              <a:off x="1429207" y="2533802"/>
              <a:ext cx="1143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0" i="0" lang="en-US" sz="1700" u="none" cap="none" strike="noStrike">
                  <a:solidFill>
                    <a:srgbClr val="6B7280"/>
                  </a:solidFill>
                  <a:latin typeface="Arial"/>
                  <a:ea typeface="Arial"/>
                  <a:cs typeface="Arial"/>
                  <a:sym typeface="Arial"/>
                </a:rPr>
                <a:t>개 원본 컬럼</a:t>
              </a:r>
              <a:endParaRPr b="0" i="0" sz="1700" u="none" cap="none" strike="noStrike">
                <a:solidFill>
                  <a:schemeClr val="dk1"/>
                </a:solidFill>
                <a:latin typeface="Calibri"/>
                <a:ea typeface="Calibri"/>
                <a:cs typeface="Calibri"/>
                <a:sym typeface="Calibri"/>
              </a:endParaRPr>
            </a:p>
          </p:txBody>
        </p:sp>
        <p:sp>
          <p:nvSpPr>
            <p:cNvPr id="839" name="Google Shape;839;g3e955750272_3_795"/>
            <p:cNvSpPr/>
            <p:nvPr/>
          </p:nvSpPr>
          <p:spPr>
            <a:xfrm>
              <a:off x="2514600" y="2438705"/>
              <a:ext cx="381300" cy="2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3300"/>
                <a:buFont typeface="Arial"/>
                <a:buNone/>
              </a:pPr>
              <a:r>
                <a:rPr b="1" i="0" lang="en-US" sz="3300" u="none" cap="none" strike="noStrike">
                  <a:solidFill>
                    <a:srgbClr val="5B5BD6"/>
                  </a:solidFill>
                  <a:latin typeface="Arial"/>
                  <a:ea typeface="Arial"/>
                  <a:cs typeface="Arial"/>
                  <a:sym typeface="Arial"/>
                </a:rPr>
                <a:t>→</a:t>
              </a:r>
              <a:endParaRPr b="0" i="0" sz="3300" u="none" cap="none" strike="noStrike">
                <a:solidFill>
                  <a:schemeClr val="dk1"/>
                </a:solidFill>
                <a:latin typeface="Calibri"/>
                <a:ea typeface="Calibri"/>
                <a:cs typeface="Calibri"/>
                <a:sym typeface="Calibri"/>
              </a:endParaRPr>
            </a:p>
          </p:txBody>
        </p:sp>
        <p:sp>
          <p:nvSpPr>
            <p:cNvPr id="840" name="Google Shape;840;g3e955750272_3_795"/>
            <p:cNvSpPr/>
            <p:nvPr/>
          </p:nvSpPr>
          <p:spPr>
            <a:xfrm>
              <a:off x="3029407" y="2305202"/>
              <a:ext cx="761700" cy="15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AFTER</a:t>
              </a:r>
              <a:endParaRPr b="0" i="0" sz="1400" u="none" cap="none" strike="noStrike">
                <a:solidFill>
                  <a:schemeClr val="dk1"/>
                </a:solidFill>
                <a:latin typeface="Calibri"/>
                <a:ea typeface="Calibri"/>
                <a:cs typeface="Calibri"/>
                <a:sym typeface="Calibri"/>
              </a:endParaRPr>
            </a:p>
          </p:txBody>
        </p:sp>
        <p:sp>
          <p:nvSpPr>
            <p:cNvPr id="841" name="Google Shape;841;g3e955750272_3_795"/>
            <p:cNvSpPr/>
            <p:nvPr/>
          </p:nvSpPr>
          <p:spPr>
            <a:xfrm>
              <a:off x="3350233" y="2328982"/>
              <a:ext cx="761700" cy="41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4800"/>
                <a:buFont typeface="Arial"/>
                <a:buNone/>
              </a:pPr>
              <a:r>
                <a:rPr b="1" i="0" lang="en-US" sz="4800" u="none" cap="none" strike="noStrike">
                  <a:solidFill>
                    <a:srgbClr val="5B5BD6"/>
                  </a:solidFill>
                  <a:latin typeface="Arial"/>
                  <a:ea typeface="Arial"/>
                  <a:cs typeface="Arial"/>
                  <a:sym typeface="Arial"/>
                </a:rPr>
                <a:t>29</a:t>
              </a:r>
              <a:endParaRPr b="0" i="0" sz="4800" u="none" cap="none" strike="noStrike">
                <a:solidFill>
                  <a:schemeClr val="dk1"/>
                </a:solidFill>
                <a:latin typeface="Calibri"/>
                <a:ea typeface="Calibri"/>
                <a:cs typeface="Calibri"/>
                <a:sym typeface="Calibri"/>
              </a:endParaRPr>
            </a:p>
          </p:txBody>
        </p:sp>
        <p:sp>
          <p:nvSpPr>
            <p:cNvPr id="842" name="Google Shape;842;g3e955750272_3_795"/>
            <p:cNvSpPr/>
            <p:nvPr/>
          </p:nvSpPr>
          <p:spPr>
            <a:xfrm>
              <a:off x="3543300" y="2533802"/>
              <a:ext cx="133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1" i="0" lang="en-US" sz="1700" u="none" cap="none" strike="noStrike">
                  <a:solidFill>
                    <a:srgbClr val="1A1A22"/>
                  </a:solidFill>
                  <a:latin typeface="Arial"/>
                  <a:ea typeface="Arial"/>
                  <a:cs typeface="Arial"/>
                  <a:sym typeface="Arial"/>
                </a:rPr>
                <a:t>개 공통 컬럼</a:t>
              </a:r>
              <a:endParaRPr b="0" i="0" sz="1700" u="none" cap="none" strike="noStrike">
                <a:solidFill>
                  <a:schemeClr val="dk1"/>
                </a:solidFill>
                <a:latin typeface="Calibri"/>
                <a:ea typeface="Calibri"/>
                <a:cs typeface="Calibri"/>
                <a:sym typeface="Calibri"/>
              </a:endParaRPr>
            </a:p>
          </p:txBody>
        </p:sp>
      </p:grpSp>
      <p:sp>
        <p:nvSpPr>
          <p:cNvPr id="843" name="Google Shape;843;g3e955750272_3_795"/>
          <p:cNvSpPr/>
          <p:nvPr/>
        </p:nvSpPr>
        <p:spPr>
          <a:xfrm>
            <a:off x="914857" y="4686758"/>
            <a:ext cx="16459200" cy="422865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44" name="Google Shape;844;g3e955750272_3_795"/>
          <p:cNvSpPr/>
          <p:nvPr/>
        </p:nvSpPr>
        <p:spPr>
          <a:xfrm>
            <a:off x="3075000" y="4915815"/>
            <a:ext cx="1800000" cy="2578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BizInfo</a:t>
            </a:r>
            <a:endParaRPr b="0" i="0" sz="1400" u="none" cap="none" strike="noStrike">
              <a:solidFill>
                <a:schemeClr val="dk1"/>
              </a:solidFill>
              <a:latin typeface="Calibri"/>
              <a:ea typeface="Calibri"/>
              <a:cs typeface="Calibri"/>
              <a:sym typeface="Calibri"/>
            </a:endParaRPr>
          </a:p>
        </p:txBody>
      </p:sp>
      <p:sp>
        <p:nvSpPr>
          <p:cNvPr id="845" name="Google Shape;845;g3e955750272_3_795"/>
          <p:cNvSpPr/>
          <p:nvPr/>
        </p:nvSpPr>
        <p:spPr>
          <a:xfrm>
            <a:off x="5040000" y="4915815"/>
            <a:ext cx="2475000" cy="2578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K-Startup</a:t>
            </a:r>
            <a:endParaRPr b="0" i="0" sz="1400" u="none" cap="none" strike="noStrike">
              <a:solidFill>
                <a:schemeClr val="dk1"/>
              </a:solidFill>
              <a:latin typeface="Calibri"/>
              <a:ea typeface="Calibri"/>
              <a:cs typeface="Calibri"/>
              <a:sym typeface="Calibri"/>
            </a:endParaRPr>
          </a:p>
        </p:txBody>
      </p:sp>
      <p:sp>
        <p:nvSpPr>
          <p:cNvPr id="846" name="Google Shape;846;g3e955750272_3_795"/>
          <p:cNvSpPr/>
          <p:nvPr/>
        </p:nvSpPr>
        <p:spPr>
          <a:xfrm>
            <a:off x="7680000" y="4915815"/>
            <a:ext cx="2250000" cy="2578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YouthCenter</a:t>
            </a:r>
            <a:endParaRPr b="0" i="0" sz="1400" u="none" cap="none" strike="noStrike">
              <a:solidFill>
                <a:schemeClr val="dk1"/>
              </a:solidFill>
              <a:latin typeface="Calibri"/>
              <a:ea typeface="Calibri"/>
              <a:cs typeface="Calibri"/>
              <a:sym typeface="Calibri"/>
            </a:endParaRPr>
          </a:p>
        </p:txBody>
      </p:sp>
      <p:sp>
        <p:nvSpPr>
          <p:cNvPr id="847" name="Google Shape;847;g3e955750272_3_795"/>
          <p:cNvSpPr/>
          <p:nvPr/>
        </p:nvSpPr>
        <p:spPr>
          <a:xfrm>
            <a:off x="10875000" y="4915815"/>
            <a:ext cx="3000150" cy="2578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5BD6"/>
              </a:buClr>
              <a:buSzPts val="1400"/>
              <a:buFont typeface="Arial"/>
              <a:buNone/>
            </a:pPr>
            <a:r>
              <a:rPr b="1" i="0" lang="en-US" sz="1400" u="none" cap="none" strike="noStrike">
                <a:solidFill>
                  <a:srgbClr val="5B5BD6"/>
                </a:solidFill>
                <a:latin typeface="Arial"/>
                <a:ea typeface="Arial"/>
                <a:cs typeface="Arial"/>
                <a:sym typeface="Arial"/>
              </a:rPr>
              <a:t>공통 컬럼</a:t>
            </a:r>
            <a:endParaRPr b="0" i="0" sz="1400" u="none" cap="none" strike="noStrike">
              <a:solidFill>
                <a:schemeClr val="dk1"/>
              </a:solidFill>
              <a:latin typeface="Calibri"/>
              <a:ea typeface="Calibri"/>
              <a:cs typeface="Calibri"/>
              <a:sym typeface="Calibri"/>
            </a:endParaRPr>
          </a:p>
        </p:txBody>
      </p:sp>
      <p:sp>
        <p:nvSpPr>
          <p:cNvPr id="848" name="Google Shape;848;g3e955750272_3_795"/>
          <p:cNvSpPr/>
          <p:nvPr/>
        </p:nvSpPr>
        <p:spPr>
          <a:xfrm>
            <a:off x="14040000" y="4915815"/>
            <a:ext cx="3000150" cy="2578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타입</a:t>
            </a:r>
            <a:endParaRPr b="0" i="0" sz="1400" u="none" cap="none" strike="noStrike">
              <a:solidFill>
                <a:schemeClr val="dk1"/>
              </a:solidFill>
              <a:latin typeface="Calibri"/>
              <a:ea typeface="Calibri"/>
              <a:cs typeface="Calibri"/>
              <a:sym typeface="Calibri"/>
            </a:endParaRPr>
          </a:p>
        </p:txBody>
      </p:sp>
      <p:sp>
        <p:nvSpPr>
          <p:cNvPr id="849" name="Google Shape;849;g3e955750272_3_795"/>
          <p:cNvSpPr/>
          <p:nvPr/>
        </p:nvSpPr>
        <p:spPr>
          <a:xfrm>
            <a:off x="1143915" y="5258715"/>
            <a:ext cx="16002450" cy="135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50" name="Google Shape;850;g3e955750272_3_795"/>
          <p:cNvSpPr/>
          <p:nvPr/>
        </p:nvSpPr>
        <p:spPr>
          <a:xfrm>
            <a:off x="1143915" y="5372558"/>
            <a:ext cx="16002450" cy="54315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51" name="Google Shape;851;g3e955750272_3_795"/>
          <p:cNvSpPr/>
          <p:nvPr/>
        </p:nvSpPr>
        <p:spPr>
          <a:xfrm>
            <a:off x="3075000" y="5372558"/>
            <a:ext cx="180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500"/>
              <a:buFont typeface="Arial"/>
              <a:buNone/>
            </a:pPr>
            <a:r>
              <a:rPr b="1" i="0" lang="en-US" sz="1500" u="none" cap="none" strike="noStrike">
                <a:solidFill>
                  <a:srgbClr val="166534"/>
                </a:solidFill>
                <a:latin typeface="Arial"/>
                <a:ea typeface="Arial"/>
                <a:cs typeface="Arial"/>
                <a:sym typeface="Arial"/>
              </a:rPr>
              <a:t>pblancNm</a:t>
            </a:r>
            <a:endParaRPr b="0" i="0" sz="1500" u="none" cap="none" strike="noStrike">
              <a:solidFill>
                <a:schemeClr val="dk1"/>
              </a:solidFill>
              <a:latin typeface="Calibri"/>
              <a:ea typeface="Calibri"/>
              <a:cs typeface="Calibri"/>
              <a:sym typeface="Calibri"/>
            </a:endParaRPr>
          </a:p>
        </p:txBody>
      </p:sp>
      <p:sp>
        <p:nvSpPr>
          <p:cNvPr id="852" name="Google Shape;852;g3e955750272_3_795"/>
          <p:cNvSpPr/>
          <p:nvPr/>
        </p:nvSpPr>
        <p:spPr>
          <a:xfrm>
            <a:off x="5040000" y="5372558"/>
            <a:ext cx="2475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500"/>
              <a:buFont typeface="Arial"/>
              <a:buNone/>
            </a:pPr>
            <a:r>
              <a:rPr b="1" i="0" lang="en-US" sz="1500" u="none" cap="none" strike="noStrike">
                <a:solidFill>
                  <a:srgbClr val="5B21B6"/>
                </a:solidFill>
                <a:latin typeface="Arial"/>
                <a:ea typeface="Arial"/>
                <a:cs typeface="Arial"/>
                <a:sym typeface="Arial"/>
              </a:rPr>
              <a:t>intg_pbanc_biz_nm</a:t>
            </a:r>
            <a:endParaRPr b="0" i="0" sz="1500" u="none" cap="none" strike="noStrike">
              <a:solidFill>
                <a:schemeClr val="dk1"/>
              </a:solidFill>
              <a:latin typeface="Calibri"/>
              <a:ea typeface="Calibri"/>
              <a:cs typeface="Calibri"/>
              <a:sym typeface="Calibri"/>
            </a:endParaRPr>
          </a:p>
        </p:txBody>
      </p:sp>
      <p:sp>
        <p:nvSpPr>
          <p:cNvPr id="853" name="Google Shape;853;g3e955750272_3_795"/>
          <p:cNvSpPr/>
          <p:nvPr/>
        </p:nvSpPr>
        <p:spPr>
          <a:xfrm>
            <a:off x="7680000" y="5372558"/>
            <a:ext cx="225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plcyNm</a:t>
            </a:r>
            <a:endParaRPr b="0" i="0" sz="1500" u="none" cap="none" strike="noStrike">
              <a:solidFill>
                <a:schemeClr val="dk1"/>
              </a:solidFill>
              <a:latin typeface="Calibri"/>
              <a:ea typeface="Calibri"/>
              <a:cs typeface="Calibri"/>
              <a:sym typeface="Calibri"/>
            </a:endParaRPr>
          </a:p>
        </p:txBody>
      </p:sp>
      <p:sp>
        <p:nvSpPr>
          <p:cNvPr id="854" name="Google Shape;854;g3e955750272_3_795"/>
          <p:cNvSpPr/>
          <p:nvPr/>
        </p:nvSpPr>
        <p:spPr>
          <a:xfrm>
            <a:off x="10080000" y="5372558"/>
            <a:ext cx="571950" cy="543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100"/>
              <a:buFont typeface="Arial"/>
              <a:buNone/>
            </a:pPr>
            <a:r>
              <a:rPr b="1" i="0" lang="en-US" sz="2100" u="none" cap="none" strike="noStrike">
                <a:solidFill>
                  <a:srgbClr val="5B5BD6"/>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855" name="Google Shape;855;g3e955750272_3_795"/>
          <p:cNvSpPr/>
          <p:nvPr/>
        </p:nvSpPr>
        <p:spPr>
          <a:xfrm>
            <a:off x="9916668" y="5458968"/>
            <a:ext cx="3429000" cy="3717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56" name="Google Shape;856;g3e955750272_3_795"/>
          <p:cNvSpPr/>
          <p:nvPr/>
        </p:nvSpPr>
        <p:spPr>
          <a:xfrm>
            <a:off x="10875000" y="5372558"/>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title</a:t>
            </a:r>
            <a:endParaRPr b="0" i="0" sz="1800" u="none" cap="none" strike="noStrike">
              <a:solidFill>
                <a:schemeClr val="dk1"/>
              </a:solidFill>
              <a:latin typeface="Calibri"/>
              <a:ea typeface="Calibri"/>
              <a:cs typeface="Calibri"/>
              <a:sym typeface="Calibri"/>
            </a:endParaRPr>
          </a:p>
        </p:txBody>
      </p:sp>
      <p:sp>
        <p:nvSpPr>
          <p:cNvPr id="857" name="Google Shape;857;g3e955750272_3_795"/>
          <p:cNvSpPr/>
          <p:nvPr/>
        </p:nvSpPr>
        <p:spPr>
          <a:xfrm>
            <a:off x="14040000" y="5372558"/>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string</a:t>
            </a:r>
            <a:endParaRPr b="0" i="0" sz="1500" u="none" cap="none" strike="noStrike">
              <a:solidFill>
                <a:schemeClr val="dk1"/>
              </a:solidFill>
              <a:latin typeface="Calibri"/>
              <a:ea typeface="Calibri"/>
              <a:cs typeface="Calibri"/>
              <a:sym typeface="Calibri"/>
            </a:endParaRPr>
          </a:p>
        </p:txBody>
      </p:sp>
      <p:sp>
        <p:nvSpPr>
          <p:cNvPr id="858" name="Google Shape;858;g3e955750272_3_795"/>
          <p:cNvSpPr/>
          <p:nvPr/>
        </p:nvSpPr>
        <p:spPr>
          <a:xfrm>
            <a:off x="3075000" y="5915711"/>
            <a:ext cx="180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500"/>
              <a:buFont typeface="Arial"/>
              <a:buNone/>
            </a:pPr>
            <a:r>
              <a:rPr b="1" i="0" lang="en-US" sz="1500" u="none" cap="none" strike="noStrike">
                <a:solidFill>
                  <a:srgbClr val="166534"/>
                </a:solidFill>
                <a:latin typeface="Arial"/>
                <a:ea typeface="Arial"/>
                <a:cs typeface="Arial"/>
                <a:sym typeface="Arial"/>
              </a:rPr>
              <a:t>jrsdInsttNm</a:t>
            </a:r>
            <a:endParaRPr b="0" i="0" sz="1500" u="none" cap="none" strike="noStrike">
              <a:solidFill>
                <a:schemeClr val="dk1"/>
              </a:solidFill>
              <a:latin typeface="Calibri"/>
              <a:ea typeface="Calibri"/>
              <a:cs typeface="Calibri"/>
              <a:sym typeface="Calibri"/>
            </a:endParaRPr>
          </a:p>
        </p:txBody>
      </p:sp>
      <p:sp>
        <p:nvSpPr>
          <p:cNvPr id="859" name="Google Shape;859;g3e955750272_3_795"/>
          <p:cNvSpPr/>
          <p:nvPr/>
        </p:nvSpPr>
        <p:spPr>
          <a:xfrm>
            <a:off x="5040000" y="5915711"/>
            <a:ext cx="2475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500"/>
              <a:buFont typeface="Arial"/>
              <a:buNone/>
            </a:pPr>
            <a:r>
              <a:rPr b="1" i="0" lang="en-US" sz="1500" u="none" cap="none" strike="noStrike">
                <a:solidFill>
                  <a:srgbClr val="5B21B6"/>
                </a:solidFill>
                <a:latin typeface="Arial"/>
                <a:ea typeface="Arial"/>
                <a:cs typeface="Arial"/>
                <a:sym typeface="Arial"/>
              </a:rPr>
              <a:t>pbanc_ntrp_nm</a:t>
            </a:r>
            <a:endParaRPr b="0" i="0" sz="1500" u="none" cap="none" strike="noStrike">
              <a:solidFill>
                <a:schemeClr val="dk1"/>
              </a:solidFill>
              <a:latin typeface="Calibri"/>
              <a:ea typeface="Calibri"/>
              <a:cs typeface="Calibri"/>
              <a:sym typeface="Calibri"/>
            </a:endParaRPr>
          </a:p>
        </p:txBody>
      </p:sp>
      <p:sp>
        <p:nvSpPr>
          <p:cNvPr id="860" name="Google Shape;860;g3e955750272_3_795"/>
          <p:cNvSpPr/>
          <p:nvPr/>
        </p:nvSpPr>
        <p:spPr>
          <a:xfrm>
            <a:off x="7680000" y="5915711"/>
            <a:ext cx="225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sprvsnInstCdNm</a:t>
            </a:r>
            <a:endParaRPr b="0" i="0" sz="1500" u="none" cap="none" strike="noStrike">
              <a:solidFill>
                <a:schemeClr val="dk1"/>
              </a:solidFill>
              <a:latin typeface="Calibri"/>
              <a:ea typeface="Calibri"/>
              <a:cs typeface="Calibri"/>
              <a:sym typeface="Calibri"/>
            </a:endParaRPr>
          </a:p>
        </p:txBody>
      </p:sp>
      <p:sp>
        <p:nvSpPr>
          <p:cNvPr id="861" name="Google Shape;861;g3e955750272_3_795"/>
          <p:cNvSpPr/>
          <p:nvPr/>
        </p:nvSpPr>
        <p:spPr>
          <a:xfrm>
            <a:off x="10080000" y="5915711"/>
            <a:ext cx="571950" cy="543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100"/>
              <a:buFont typeface="Arial"/>
              <a:buNone/>
            </a:pPr>
            <a:r>
              <a:rPr b="1" i="0" lang="en-US" sz="2100" u="none" cap="none" strike="noStrike">
                <a:solidFill>
                  <a:srgbClr val="5B5BD6"/>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862" name="Google Shape;862;g3e955750272_3_795"/>
          <p:cNvSpPr/>
          <p:nvPr/>
        </p:nvSpPr>
        <p:spPr>
          <a:xfrm>
            <a:off x="9916668" y="6002121"/>
            <a:ext cx="3429000" cy="3717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63" name="Google Shape;863;g3e955750272_3_795"/>
          <p:cNvSpPr/>
          <p:nvPr/>
        </p:nvSpPr>
        <p:spPr>
          <a:xfrm>
            <a:off x="10875000" y="5915711"/>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provider</a:t>
            </a:r>
            <a:endParaRPr b="0" i="0" sz="1800" u="none" cap="none" strike="noStrike">
              <a:solidFill>
                <a:schemeClr val="dk1"/>
              </a:solidFill>
              <a:latin typeface="Calibri"/>
              <a:ea typeface="Calibri"/>
              <a:cs typeface="Calibri"/>
              <a:sym typeface="Calibri"/>
            </a:endParaRPr>
          </a:p>
        </p:txBody>
      </p:sp>
      <p:sp>
        <p:nvSpPr>
          <p:cNvPr id="864" name="Google Shape;864;g3e955750272_3_795"/>
          <p:cNvSpPr/>
          <p:nvPr/>
        </p:nvSpPr>
        <p:spPr>
          <a:xfrm>
            <a:off x="14040000" y="5915711"/>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string</a:t>
            </a:r>
            <a:endParaRPr b="0" i="0" sz="1500" u="none" cap="none" strike="noStrike">
              <a:solidFill>
                <a:schemeClr val="dk1"/>
              </a:solidFill>
              <a:latin typeface="Calibri"/>
              <a:ea typeface="Calibri"/>
              <a:cs typeface="Calibri"/>
              <a:sym typeface="Calibri"/>
            </a:endParaRPr>
          </a:p>
        </p:txBody>
      </p:sp>
      <p:sp>
        <p:nvSpPr>
          <p:cNvPr id="865" name="Google Shape;865;g3e955750272_3_795"/>
          <p:cNvSpPr/>
          <p:nvPr/>
        </p:nvSpPr>
        <p:spPr>
          <a:xfrm>
            <a:off x="1143915" y="6458865"/>
            <a:ext cx="16002450" cy="54315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66" name="Google Shape;866;g3e955750272_3_795"/>
          <p:cNvSpPr/>
          <p:nvPr/>
        </p:nvSpPr>
        <p:spPr>
          <a:xfrm>
            <a:off x="3075000" y="6458865"/>
            <a:ext cx="180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500"/>
              <a:buFont typeface="Arial"/>
              <a:buNone/>
            </a:pPr>
            <a:r>
              <a:rPr b="1" i="0" lang="en-US" sz="1500" u="none" cap="none" strike="noStrike">
                <a:solidFill>
                  <a:srgbClr val="166534"/>
                </a:solidFill>
                <a:latin typeface="Arial"/>
                <a:ea typeface="Arial"/>
                <a:cs typeface="Arial"/>
                <a:sym typeface="Arial"/>
              </a:rPr>
              <a:t>areaNm</a:t>
            </a:r>
            <a:endParaRPr b="0" i="0" sz="1500" u="none" cap="none" strike="noStrike">
              <a:solidFill>
                <a:schemeClr val="dk1"/>
              </a:solidFill>
              <a:latin typeface="Calibri"/>
              <a:ea typeface="Calibri"/>
              <a:cs typeface="Calibri"/>
              <a:sym typeface="Calibri"/>
            </a:endParaRPr>
          </a:p>
        </p:txBody>
      </p:sp>
      <p:sp>
        <p:nvSpPr>
          <p:cNvPr id="867" name="Google Shape;867;g3e955750272_3_795"/>
          <p:cNvSpPr/>
          <p:nvPr/>
        </p:nvSpPr>
        <p:spPr>
          <a:xfrm>
            <a:off x="5040000" y="6458865"/>
            <a:ext cx="2475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500"/>
              <a:buFont typeface="Arial"/>
              <a:buNone/>
            </a:pPr>
            <a:r>
              <a:rPr b="1" i="0" lang="en-US" sz="1500" u="none" cap="none" strike="noStrike">
                <a:solidFill>
                  <a:srgbClr val="5B21B6"/>
                </a:solidFill>
                <a:latin typeface="Arial"/>
                <a:ea typeface="Arial"/>
                <a:cs typeface="Arial"/>
                <a:sym typeface="Arial"/>
              </a:rPr>
              <a:t>supt_regin</a:t>
            </a:r>
            <a:endParaRPr b="0" i="0" sz="1500" u="none" cap="none" strike="noStrike">
              <a:solidFill>
                <a:schemeClr val="dk1"/>
              </a:solidFill>
              <a:latin typeface="Calibri"/>
              <a:ea typeface="Calibri"/>
              <a:cs typeface="Calibri"/>
              <a:sym typeface="Calibri"/>
            </a:endParaRPr>
          </a:p>
        </p:txBody>
      </p:sp>
      <p:sp>
        <p:nvSpPr>
          <p:cNvPr id="868" name="Google Shape;868;g3e955750272_3_795"/>
          <p:cNvSpPr/>
          <p:nvPr/>
        </p:nvSpPr>
        <p:spPr>
          <a:xfrm>
            <a:off x="7680000" y="6458865"/>
            <a:ext cx="225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rgtrInstCdNm</a:t>
            </a:r>
            <a:endParaRPr b="0" i="0" sz="1500" u="none" cap="none" strike="noStrike">
              <a:solidFill>
                <a:schemeClr val="dk1"/>
              </a:solidFill>
              <a:latin typeface="Calibri"/>
              <a:ea typeface="Calibri"/>
              <a:cs typeface="Calibri"/>
              <a:sym typeface="Calibri"/>
            </a:endParaRPr>
          </a:p>
        </p:txBody>
      </p:sp>
      <p:sp>
        <p:nvSpPr>
          <p:cNvPr id="869" name="Google Shape;869;g3e955750272_3_795"/>
          <p:cNvSpPr/>
          <p:nvPr/>
        </p:nvSpPr>
        <p:spPr>
          <a:xfrm>
            <a:off x="10080000" y="6458865"/>
            <a:ext cx="571950" cy="543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100"/>
              <a:buFont typeface="Arial"/>
              <a:buNone/>
            </a:pPr>
            <a:r>
              <a:rPr b="1" i="0" lang="en-US" sz="2100" u="none" cap="none" strike="noStrike">
                <a:solidFill>
                  <a:srgbClr val="5B5BD6"/>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870" name="Google Shape;870;g3e955750272_3_795"/>
          <p:cNvSpPr/>
          <p:nvPr/>
        </p:nvSpPr>
        <p:spPr>
          <a:xfrm>
            <a:off x="9916668" y="6545276"/>
            <a:ext cx="3429000" cy="3717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71" name="Google Shape;871;g3e955750272_3_795"/>
          <p:cNvSpPr/>
          <p:nvPr/>
        </p:nvSpPr>
        <p:spPr>
          <a:xfrm>
            <a:off x="10875000" y="6458865"/>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region</a:t>
            </a:r>
            <a:endParaRPr b="0" i="0" sz="1800" u="none" cap="none" strike="noStrike">
              <a:solidFill>
                <a:schemeClr val="dk1"/>
              </a:solidFill>
              <a:latin typeface="Calibri"/>
              <a:ea typeface="Calibri"/>
              <a:cs typeface="Calibri"/>
              <a:sym typeface="Calibri"/>
            </a:endParaRPr>
          </a:p>
        </p:txBody>
      </p:sp>
      <p:sp>
        <p:nvSpPr>
          <p:cNvPr id="872" name="Google Shape;872;g3e955750272_3_795"/>
          <p:cNvSpPr/>
          <p:nvPr/>
        </p:nvSpPr>
        <p:spPr>
          <a:xfrm>
            <a:off x="14040000" y="6458865"/>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string</a:t>
            </a:r>
            <a:endParaRPr b="0" i="0" sz="1500" u="none" cap="none" strike="noStrike">
              <a:solidFill>
                <a:schemeClr val="dk1"/>
              </a:solidFill>
              <a:latin typeface="Calibri"/>
              <a:ea typeface="Calibri"/>
              <a:cs typeface="Calibri"/>
              <a:sym typeface="Calibri"/>
            </a:endParaRPr>
          </a:p>
        </p:txBody>
      </p:sp>
      <p:sp>
        <p:nvSpPr>
          <p:cNvPr id="873" name="Google Shape;873;g3e955750272_3_795"/>
          <p:cNvSpPr/>
          <p:nvPr/>
        </p:nvSpPr>
        <p:spPr>
          <a:xfrm>
            <a:off x="3075000" y="7002018"/>
            <a:ext cx="180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0B4BC"/>
              </a:buClr>
              <a:buSzPts val="1500"/>
              <a:buFont typeface="Arial"/>
              <a:buNone/>
            </a:pPr>
            <a:r>
              <a:rPr b="1" i="0" lang="en-US" sz="1500" u="none" cap="none" strike="noStrike">
                <a:solidFill>
                  <a:srgbClr val="B0B4BC"/>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874" name="Google Shape;874;g3e955750272_3_795"/>
          <p:cNvSpPr/>
          <p:nvPr/>
        </p:nvSpPr>
        <p:spPr>
          <a:xfrm>
            <a:off x="5040000" y="7002018"/>
            <a:ext cx="2475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500"/>
              <a:buFont typeface="Arial"/>
              <a:buNone/>
            </a:pPr>
            <a:r>
              <a:rPr b="1" i="0" lang="en-US" sz="1500" u="none" cap="none" strike="noStrike">
                <a:solidFill>
                  <a:srgbClr val="5B21B6"/>
                </a:solidFill>
                <a:latin typeface="Arial"/>
                <a:ea typeface="Arial"/>
                <a:cs typeface="Arial"/>
                <a:sym typeface="Arial"/>
              </a:rPr>
              <a:t>biz_trgter_age</a:t>
            </a:r>
            <a:endParaRPr b="0" i="0" sz="1500" u="none" cap="none" strike="noStrike">
              <a:solidFill>
                <a:schemeClr val="dk1"/>
              </a:solidFill>
              <a:latin typeface="Calibri"/>
              <a:ea typeface="Calibri"/>
              <a:cs typeface="Calibri"/>
              <a:sym typeface="Calibri"/>
            </a:endParaRPr>
          </a:p>
        </p:txBody>
      </p:sp>
      <p:sp>
        <p:nvSpPr>
          <p:cNvPr id="875" name="Google Shape;875;g3e955750272_3_795"/>
          <p:cNvSpPr/>
          <p:nvPr/>
        </p:nvSpPr>
        <p:spPr>
          <a:xfrm>
            <a:off x="7680000" y="7002018"/>
            <a:ext cx="225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sprtTrgtMinAge</a:t>
            </a:r>
            <a:endParaRPr b="0" i="0" sz="1500" u="none" cap="none" strike="noStrike">
              <a:solidFill>
                <a:schemeClr val="dk1"/>
              </a:solidFill>
              <a:latin typeface="Calibri"/>
              <a:ea typeface="Calibri"/>
              <a:cs typeface="Calibri"/>
              <a:sym typeface="Calibri"/>
            </a:endParaRPr>
          </a:p>
        </p:txBody>
      </p:sp>
      <p:sp>
        <p:nvSpPr>
          <p:cNvPr id="876" name="Google Shape;876;g3e955750272_3_795"/>
          <p:cNvSpPr/>
          <p:nvPr/>
        </p:nvSpPr>
        <p:spPr>
          <a:xfrm>
            <a:off x="10080000" y="7002018"/>
            <a:ext cx="571950" cy="543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100"/>
              <a:buFont typeface="Arial"/>
              <a:buNone/>
            </a:pPr>
            <a:r>
              <a:rPr b="1" i="0" lang="en-US" sz="2100" u="none" cap="none" strike="noStrike">
                <a:solidFill>
                  <a:srgbClr val="5B5BD6"/>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877" name="Google Shape;877;g3e955750272_3_795"/>
          <p:cNvSpPr/>
          <p:nvPr/>
        </p:nvSpPr>
        <p:spPr>
          <a:xfrm>
            <a:off x="9916668" y="7088429"/>
            <a:ext cx="3429000" cy="3717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78" name="Google Shape;878;g3e955750272_3_795"/>
          <p:cNvSpPr/>
          <p:nvPr/>
        </p:nvSpPr>
        <p:spPr>
          <a:xfrm>
            <a:off x="10875000" y="7002018"/>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target_age</a:t>
            </a:r>
            <a:endParaRPr b="0" i="0" sz="1800" u="none" cap="none" strike="noStrike">
              <a:solidFill>
                <a:schemeClr val="dk1"/>
              </a:solidFill>
              <a:latin typeface="Calibri"/>
              <a:ea typeface="Calibri"/>
              <a:cs typeface="Calibri"/>
              <a:sym typeface="Calibri"/>
            </a:endParaRPr>
          </a:p>
        </p:txBody>
      </p:sp>
      <p:sp>
        <p:nvSpPr>
          <p:cNvPr id="879" name="Google Shape;879;g3e955750272_3_795"/>
          <p:cNvSpPr/>
          <p:nvPr/>
        </p:nvSpPr>
        <p:spPr>
          <a:xfrm>
            <a:off x="14040000" y="7002018"/>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int / range</a:t>
            </a:r>
            <a:endParaRPr b="0" i="0" sz="1500" u="none" cap="none" strike="noStrike">
              <a:solidFill>
                <a:schemeClr val="dk1"/>
              </a:solidFill>
              <a:latin typeface="Calibri"/>
              <a:ea typeface="Calibri"/>
              <a:cs typeface="Calibri"/>
              <a:sym typeface="Calibri"/>
            </a:endParaRPr>
          </a:p>
        </p:txBody>
      </p:sp>
      <p:sp>
        <p:nvSpPr>
          <p:cNvPr id="880" name="Google Shape;880;g3e955750272_3_795"/>
          <p:cNvSpPr/>
          <p:nvPr/>
        </p:nvSpPr>
        <p:spPr>
          <a:xfrm>
            <a:off x="1143915" y="7545171"/>
            <a:ext cx="16002450" cy="543150"/>
          </a:xfrm>
          <a:prstGeom prst="rect">
            <a:avLst/>
          </a:prstGeom>
          <a:solidFill>
            <a:srgbClr val="FAFBFC"/>
          </a:solidFill>
          <a:ln cap="flat" cmpd="sng" w="12700">
            <a:solidFill>
              <a:srgbClr val="FAFBF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81" name="Google Shape;881;g3e955750272_3_795"/>
          <p:cNvSpPr/>
          <p:nvPr/>
        </p:nvSpPr>
        <p:spPr>
          <a:xfrm>
            <a:off x="3075000" y="7545171"/>
            <a:ext cx="180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500"/>
              <a:buFont typeface="Arial"/>
              <a:buNone/>
            </a:pPr>
            <a:r>
              <a:rPr b="1" i="0" lang="en-US" sz="1500" u="none" cap="none" strike="noStrike">
                <a:solidFill>
                  <a:srgbClr val="166534"/>
                </a:solidFill>
                <a:latin typeface="Arial"/>
                <a:ea typeface="Arial"/>
                <a:cs typeface="Arial"/>
                <a:sym typeface="Arial"/>
              </a:rPr>
              <a:t>reqstBeginEndDe</a:t>
            </a:r>
            <a:endParaRPr b="0" i="0" sz="1500" u="none" cap="none" strike="noStrike">
              <a:solidFill>
                <a:schemeClr val="dk1"/>
              </a:solidFill>
              <a:latin typeface="Calibri"/>
              <a:ea typeface="Calibri"/>
              <a:cs typeface="Calibri"/>
              <a:sym typeface="Calibri"/>
            </a:endParaRPr>
          </a:p>
        </p:txBody>
      </p:sp>
      <p:sp>
        <p:nvSpPr>
          <p:cNvPr id="882" name="Google Shape;882;g3e955750272_3_795"/>
          <p:cNvSpPr/>
          <p:nvPr/>
        </p:nvSpPr>
        <p:spPr>
          <a:xfrm>
            <a:off x="5040000" y="7545171"/>
            <a:ext cx="2475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500"/>
              <a:buFont typeface="Arial"/>
              <a:buNone/>
            </a:pPr>
            <a:r>
              <a:rPr b="1" i="0" lang="en-US" sz="1500" u="none" cap="none" strike="noStrike">
                <a:solidFill>
                  <a:srgbClr val="5B21B6"/>
                </a:solidFill>
                <a:latin typeface="Arial"/>
                <a:ea typeface="Arial"/>
                <a:cs typeface="Arial"/>
                <a:sym typeface="Arial"/>
              </a:rPr>
              <a:t>pbanc_rcpt_bgng_dt</a:t>
            </a:r>
            <a:endParaRPr b="0" i="0" sz="1500" u="none" cap="none" strike="noStrike">
              <a:solidFill>
                <a:schemeClr val="dk1"/>
              </a:solidFill>
              <a:latin typeface="Calibri"/>
              <a:ea typeface="Calibri"/>
              <a:cs typeface="Calibri"/>
              <a:sym typeface="Calibri"/>
            </a:endParaRPr>
          </a:p>
        </p:txBody>
      </p:sp>
      <p:sp>
        <p:nvSpPr>
          <p:cNvPr id="883" name="Google Shape;883;g3e955750272_3_795"/>
          <p:cNvSpPr/>
          <p:nvPr/>
        </p:nvSpPr>
        <p:spPr>
          <a:xfrm>
            <a:off x="7680000" y="7545171"/>
            <a:ext cx="225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aplyYmd</a:t>
            </a:r>
            <a:endParaRPr b="0" i="0" sz="1500" u="none" cap="none" strike="noStrike">
              <a:solidFill>
                <a:schemeClr val="dk1"/>
              </a:solidFill>
              <a:latin typeface="Calibri"/>
              <a:ea typeface="Calibri"/>
              <a:cs typeface="Calibri"/>
              <a:sym typeface="Calibri"/>
            </a:endParaRPr>
          </a:p>
        </p:txBody>
      </p:sp>
      <p:sp>
        <p:nvSpPr>
          <p:cNvPr id="884" name="Google Shape;884;g3e955750272_3_795"/>
          <p:cNvSpPr/>
          <p:nvPr/>
        </p:nvSpPr>
        <p:spPr>
          <a:xfrm>
            <a:off x="10080000" y="7545171"/>
            <a:ext cx="571950" cy="543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100"/>
              <a:buFont typeface="Arial"/>
              <a:buNone/>
            </a:pPr>
            <a:r>
              <a:rPr b="1" i="0" lang="en-US" sz="2100" u="none" cap="none" strike="noStrike">
                <a:solidFill>
                  <a:srgbClr val="5B5BD6"/>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885" name="Google Shape;885;g3e955750272_3_795"/>
          <p:cNvSpPr/>
          <p:nvPr/>
        </p:nvSpPr>
        <p:spPr>
          <a:xfrm>
            <a:off x="9916668" y="7631583"/>
            <a:ext cx="3429000" cy="3717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86" name="Google Shape;886;g3e955750272_3_795"/>
          <p:cNvSpPr/>
          <p:nvPr/>
        </p:nvSpPr>
        <p:spPr>
          <a:xfrm>
            <a:off x="10875000" y="7545171"/>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apply_end_dt</a:t>
            </a:r>
            <a:endParaRPr b="0" i="0" sz="1800" u="none" cap="none" strike="noStrike">
              <a:solidFill>
                <a:schemeClr val="dk1"/>
              </a:solidFill>
              <a:latin typeface="Calibri"/>
              <a:ea typeface="Calibri"/>
              <a:cs typeface="Calibri"/>
              <a:sym typeface="Calibri"/>
            </a:endParaRPr>
          </a:p>
        </p:txBody>
      </p:sp>
      <p:sp>
        <p:nvSpPr>
          <p:cNvPr id="887" name="Google Shape;887;g3e955750272_3_795"/>
          <p:cNvSpPr/>
          <p:nvPr/>
        </p:nvSpPr>
        <p:spPr>
          <a:xfrm>
            <a:off x="14040000" y="7545171"/>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date</a:t>
            </a:r>
            <a:endParaRPr b="0" i="0" sz="1500" u="none" cap="none" strike="noStrike">
              <a:solidFill>
                <a:schemeClr val="dk1"/>
              </a:solidFill>
              <a:latin typeface="Calibri"/>
              <a:ea typeface="Calibri"/>
              <a:cs typeface="Calibri"/>
              <a:sym typeface="Calibri"/>
            </a:endParaRPr>
          </a:p>
        </p:txBody>
      </p:sp>
      <p:sp>
        <p:nvSpPr>
          <p:cNvPr id="888" name="Google Shape;888;g3e955750272_3_795"/>
          <p:cNvSpPr/>
          <p:nvPr/>
        </p:nvSpPr>
        <p:spPr>
          <a:xfrm>
            <a:off x="3075000" y="8088326"/>
            <a:ext cx="180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500"/>
              <a:buFont typeface="Arial"/>
              <a:buNone/>
            </a:pPr>
            <a:r>
              <a:rPr b="1" i="0" lang="en-US" sz="1500" u="none" cap="none" strike="noStrike">
                <a:solidFill>
                  <a:srgbClr val="166534"/>
                </a:solidFill>
                <a:latin typeface="Arial"/>
                <a:ea typeface="Arial"/>
                <a:cs typeface="Arial"/>
                <a:sym typeface="Arial"/>
              </a:rPr>
              <a:t>(분야 분류)</a:t>
            </a:r>
            <a:endParaRPr b="0" i="0" sz="1500" u="none" cap="none" strike="noStrike">
              <a:solidFill>
                <a:schemeClr val="dk1"/>
              </a:solidFill>
              <a:latin typeface="Calibri"/>
              <a:ea typeface="Calibri"/>
              <a:cs typeface="Calibri"/>
              <a:sym typeface="Calibri"/>
            </a:endParaRPr>
          </a:p>
        </p:txBody>
      </p:sp>
      <p:sp>
        <p:nvSpPr>
          <p:cNvPr id="889" name="Google Shape;889;g3e955750272_3_795"/>
          <p:cNvSpPr/>
          <p:nvPr/>
        </p:nvSpPr>
        <p:spPr>
          <a:xfrm>
            <a:off x="5040000" y="8088326"/>
            <a:ext cx="2475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500"/>
              <a:buFont typeface="Arial"/>
              <a:buNone/>
            </a:pPr>
            <a:r>
              <a:rPr b="1" i="0" lang="en-US" sz="1500" u="none" cap="none" strike="noStrike">
                <a:solidFill>
                  <a:srgbClr val="5B21B6"/>
                </a:solidFill>
                <a:latin typeface="Arial"/>
                <a:ea typeface="Arial"/>
                <a:cs typeface="Arial"/>
                <a:sym typeface="Arial"/>
              </a:rPr>
              <a:t>(분야 분류)</a:t>
            </a:r>
            <a:endParaRPr b="0" i="0" sz="1500" u="none" cap="none" strike="noStrike">
              <a:solidFill>
                <a:schemeClr val="dk1"/>
              </a:solidFill>
              <a:latin typeface="Calibri"/>
              <a:ea typeface="Calibri"/>
              <a:cs typeface="Calibri"/>
              <a:sym typeface="Calibri"/>
            </a:endParaRPr>
          </a:p>
        </p:txBody>
      </p:sp>
      <p:sp>
        <p:nvSpPr>
          <p:cNvPr id="890" name="Google Shape;890;g3e955750272_3_795"/>
          <p:cNvSpPr/>
          <p:nvPr/>
        </p:nvSpPr>
        <p:spPr>
          <a:xfrm>
            <a:off x="7680000" y="8088326"/>
            <a:ext cx="225000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(분야 분류)</a:t>
            </a:r>
            <a:endParaRPr b="0" i="0" sz="1500" u="none" cap="none" strike="noStrike">
              <a:solidFill>
                <a:schemeClr val="dk1"/>
              </a:solidFill>
              <a:latin typeface="Calibri"/>
              <a:ea typeface="Calibri"/>
              <a:cs typeface="Calibri"/>
              <a:sym typeface="Calibri"/>
            </a:endParaRPr>
          </a:p>
        </p:txBody>
      </p:sp>
      <p:sp>
        <p:nvSpPr>
          <p:cNvPr id="891" name="Google Shape;891;g3e955750272_3_795"/>
          <p:cNvSpPr/>
          <p:nvPr/>
        </p:nvSpPr>
        <p:spPr>
          <a:xfrm>
            <a:off x="10080000" y="8088326"/>
            <a:ext cx="571950" cy="543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5BD6"/>
              </a:buClr>
              <a:buSzPts val="2100"/>
              <a:buFont typeface="Arial"/>
              <a:buNone/>
            </a:pPr>
            <a:r>
              <a:rPr b="1" i="0" lang="en-US" sz="2100" u="none" cap="none" strike="noStrike">
                <a:solidFill>
                  <a:srgbClr val="5B5BD6"/>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p:txBody>
      </p:sp>
      <p:sp>
        <p:nvSpPr>
          <p:cNvPr id="892" name="Google Shape;892;g3e955750272_3_795"/>
          <p:cNvSpPr/>
          <p:nvPr/>
        </p:nvSpPr>
        <p:spPr>
          <a:xfrm>
            <a:off x="9916668" y="8174736"/>
            <a:ext cx="3429000" cy="371700"/>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893" name="Google Shape;893;g3e955750272_3_795"/>
          <p:cNvSpPr/>
          <p:nvPr/>
        </p:nvSpPr>
        <p:spPr>
          <a:xfrm>
            <a:off x="10875000" y="8088326"/>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800"/>
              <a:buFont typeface="Arial"/>
              <a:buNone/>
            </a:pPr>
            <a:r>
              <a:rPr b="1" i="0" lang="en-US" sz="1800" u="none" cap="none" strike="noStrike">
                <a:solidFill>
                  <a:srgbClr val="3F3FB8"/>
                </a:solidFill>
                <a:latin typeface="Arial"/>
                <a:ea typeface="Arial"/>
                <a:cs typeface="Arial"/>
                <a:sym typeface="Arial"/>
              </a:rPr>
              <a:t>s_category</a:t>
            </a:r>
            <a:endParaRPr b="0" i="0" sz="1800" u="none" cap="none" strike="noStrike">
              <a:solidFill>
                <a:schemeClr val="dk1"/>
              </a:solidFill>
              <a:latin typeface="Calibri"/>
              <a:ea typeface="Calibri"/>
              <a:cs typeface="Calibri"/>
              <a:sym typeface="Calibri"/>
            </a:endParaRPr>
          </a:p>
        </p:txBody>
      </p:sp>
      <p:sp>
        <p:nvSpPr>
          <p:cNvPr id="894" name="Google Shape;894;g3e955750272_3_795"/>
          <p:cNvSpPr/>
          <p:nvPr/>
        </p:nvSpPr>
        <p:spPr>
          <a:xfrm>
            <a:off x="14040000" y="8088326"/>
            <a:ext cx="30001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500"/>
              <a:buFont typeface="Arial"/>
              <a:buNone/>
            </a:pPr>
            <a:r>
              <a:rPr b="0" i="0" lang="en-US" sz="1500" u="none" cap="none" strike="noStrike">
                <a:solidFill>
                  <a:srgbClr val="6B7280"/>
                </a:solidFill>
                <a:latin typeface="Arial"/>
                <a:ea typeface="Arial"/>
                <a:cs typeface="Arial"/>
                <a:sym typeface="Arial"/>
              </a:rPr>
              <a:t>enum</a:t>
            </a:r>
            <a:endParaRPr b="0" i="0" sz="1500" u="none" cap="none" strike="noStrike">
              <a:solidFill>
                <a:schemeClr val="dk1"/>
              </a:solidFill>
              <a:latin typeface="Calibri"/>
              <a:ea typeface="Calibri"/>
              <a:cs typeface="Calibri"/>
              <a:sym typeface="Calibri"/>
            </a:endParaRPr>
          </a:p>
        </p:txBody>
      </p:sp>
      <p:sp>
        <p:nvSpPr>
          <p:cNvPr id="895" name="Google Shape;895;g3e955750272_3_795"/>
          <p:cNvSpPr/>
          <p:nvPr/>
        </p:nvSpPr>
        <p:spPr>
          <a:xfrm>
            <a:off x="1200150" y="4915815"/>
            <a:ext cx="1724850" cy="2578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400"/>
              <a:buFont typeface="Arial"/>
              <a:buNone/>
            </a:pPr>
            <a:r>
              <a:rPr b="1" i="0" lang="en-US" sz="1400" u="none" cap="none" strike="noStrike">
                <a:solidFill>
                  <a:srgbClr val="2A2A33"/>
                </a:solidFill>
                <a:latin typeface="Arial"/>
                <a:ea typeface="Arial"/>
                <a:cs typeface="Arial"/>
                <a:sym typeface="Arial"/>
              </a:rPr>
              <a:t>의미</a:t>
            </a:r>
            <a:endParaRPr b="0" i="0" sz="1400" u="none" cap="none" strike="noStrike">
              <a:solidFill>
                <a:schemeClr val="dk1"/>
              </a:solidFill>
              <a:latin typeface="Arial"/>
              <a:ea typeface="Arial"/>
              <a:cs typeface="Arial"/>
              <a:sym typeface="Arial"/>
            </a:endParaRPr>
          </a:p>
        </p:txBody>
      </p:sp>
      <p:sp>
        <p:nvSpPr>
          <p:cNvPr id="896" name="Google Shape;896;g3e955750272_3_795"/>
          <p:cNvSpPr/>
          <p:nvPr/>
        </p:nvSpPr>
        <p:spPr>
          <a:xfrm>
            <a:off x="1200150" y="5372558"/>
            <a:ext cx="17248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1" i="0" lang="en-US" sz="1500" u="none" cap="none" strike="noStrike">
                <a:solidFill>
                  <a:srgbClr val="2A2A33"/>
                </a:solidFill>
                <a:latin typeface="Arial"/>
                <a:ea typeface="Arial"/>
                <a:cs typeface="Arial"/>
                <a:sym typeface="Arial"/>
              </a:rPr>
              <a:t>공고명</a:t>
            </a:r>
            <a:endParaRPr b="0" i="0" sz="1500" u="none" cap="none" strike="noStrike">
              <a:solidFill>
                <a:schemeClr val="dk1"/>
              </a:solidFill>
              <a:latin typeface="Arial"/>
              <a:ea typeface="Arial"/>
              <a:cs typeface="Arial"/>
              <a:sym typeface="Arial"/>
            </a:endParaRPr>
          </a:p>
        </p:txBody>
      </p:sp>
      <p:sp>
        <p:nvSpPr>
          <p:cNvPr id="897" name="Google Shape;897;g3e955750272_3_795"/>
          <p:cNvSpPr/>
          <p:nvPr/>
        </p:nvSpPr>
        <p:spPr>
          <a:xfrm>
            <a:off x="1200150" y="5915711"/>
            <a:ext cx="17248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1" i="0" lang="en-US" sz="1500" u="none" cap="none" strike="noStrike">
                <a:solidFill>
                  <a:srgbClr val="2A2A33"/>
                </a:solidFill>
                <a:latin typeface="Arial"/>
                <a:ea typeface="Arial"/>
                <a:cs typeface="Arial"/>
                <a:sym typeface="Arial"/>
              </a:rPr>
              <a:t>주관기관</a:t>
            </a:r>
            <a:endParaRPr b="0" i="0" sz="1500" u="none" cap="none" strike="noStrike">
              <a:solidFill>
                <a:schemeClr val="dk1"/>
              </a:solidFill>
              <a:latin typeface="Arial"/>
              <a:ea typeface="Arial"/>
              <a:cs typeface="Arial"/>
              <a:sym typeface="Arial"/>
            </a:endParaRPr>
          </a:p>
        </p:txBody>
      </p:sp>
      <p:sp>
        <p:nvSpPr>
          <p:cNvPr id="898" name="Google Shape;898;g3e955750272_3_795"/>
          <p:cNvSpPr/>
          <p:nvPr/>
        </p:nvSpPr>
        <p:spPr>
          <a:xfrm>
            <a:off x="1200150" y="6458865"/>
            <a:ext cx="17248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1" i="0" lang="en-US" sz="1500" u="none" cap="none" strike="noStrike">
                <a:solidFill>
                  <a:srgbClr val="2A2A33"/>
                </a:solidFill>
                <a:latin typeface="Arial"/>
                <a:ea typeface="Arial"/>
                <a:cs typeface="Arial"/>
                <a:sym typeface="Arial"/>
              </a:rPr>
              <a:t>지역</a:t>
            </a:r>
            <a:endParaRPr b="0" i="0" sz="1500" u="none" cap="none" strike="noStrike">
              <a:solidFill>
                <a:schemeClr val="dk1"/>
              </a:solidFill>
              <a:latin typeface="Arial"/>
              <a:ea typeface="Arial"/>
              <a:cs typeface="Arial"/>
              <a:sym typeface="Arial"/>
            </a:endParaRPr>
          </a:p>
        </p:txBody>
      </p:sp>
      <p:sp>
        <p:nvSpPr>
          <p:cNvPr id="899" name="Google Shape;899;g3e955750272_3_795"/>
          <p:cNvSpPr/>
          <p:nvPr/>
        </p:nvSpPr>
        <p:spPr>
          <a:xfrm>
            <a:off x="1200150" y="7002018"/>
            <a:ext cx="17248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1" i="0" lang="en-US" sz="1500" u="none" cap="none" strike="noStrike">
                <a:solidFill>
                  <a:srgbClr val="2A2A33"/>
                </a:solidFill>
                <a:latin typeface="Arial"/>
                <a:ea typeface="Arial"/>
                <a:cs typeface="Arial"/>
                <a:sym typeface="Arial"/>
              </a:rPr>
              <a:t>지원 연령</a:t>
            </a:r>
            <a:endParaRPr b="0" i="0" sz="1500" u="none" cap="none" strike="noStrike">
              <a:solidFill>
                <a:schemeClr val="dk1"/>
              </a:solidFill>
              <a:latin typeface="Arial"/>
              <a:ea typeface="Arial"/>
              <a:cs typeface="Arial"/>
              <a:sym typeface="Arial"/>
            </a:endParaRPr>
          </a:p>
        </p:txBody>
      </p:sp>
      <p:sp>
        <p:nvSpPr>
          <p:cNvPr id="900" name="Google Shape;900;g3e955750272_3_795"/>
          <p:cNvSpPr/>
          <p:nvPr/>
        </p:nvSpPr>
        <p:spPr>
          <a:xfrm>
            <a:off x="1200150" y="7545171"/>
            <a:ext cx="17248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1" i="0" lang="en-US" sz="1500" u="none" cap="none" strike="noStrike">
                <a:solidFill>
                  <a:srgbClr val="2A2A33"/>
                </a:solidFill>
                <a:latin typeface="Arial"/>
                <a:ea typeface="Arial"/>
                <a:cs typeface="Arial"/>
                <a:sym typeface="Arial"/>
              </a:rPr>
              <a:t>신청/접수 마감일</a:t>
            </a:r>
            <a:endParaRPr b="0" i="0" sz="1500" u="none" cap="none" strike="noStrike">
              <a:solidFill>
                <a:schemeClr val="dk1"/>
              </a:solidFill>
              <a:latin typeface="Arial"/>
              <a:ea typeface="Arial"/>
              <a:cs typeface="Arial"/>
              <a:sym typeface="Arial"/>
            </a:endParaRPr>
          </a:p>
        </p:txBody>
      </p:sp>
      <p:sp>
        <p:nvSpPr>
          <p:cNvPr id="901" name="Google Shape;901;g3e955750272_3_795"/>
          <p:cNvSpPr/>
          <p:nvPr/>
        </p:nvSpPr>
        <p:spPr>
          <a:xfrm>
            <a:off x="1200150" y="8088326"/>
            <a:ext cx="1724850" cy="543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500"/>
              <a:buFont typeface="Arial"/>
              <a:buNone/>
            </a:pPr>
            <a:r>
              <a:rPr b="1" i="0" lang="en-US" sz="1500" u="none" cap="none" strike="noStrike">
                <a:solidFill>
                  <a:srgbClr val="2A2A33"/>
                </a:solidFill>
                <a:latin typeface="Arial"/>
                <a:ea typeface="Arial"/>
                <a:cs typeface="Arial"/>
                <a:sym typeface="Arial"/>
              </a:rPr>
              <a:t>분야 분류</a:t>
            </a:r>
            <a:endParaRPr b="0" i="0" sz="1500" u="none" cap="none" strike="noStrike">
              <a:solidFill>
                <a:schemeClr val="dk1"/>
              </a:solidFill>
              <a:latin typeface="Arial"/>
              <a:ea typeface="Arial"/>
              <a:cs typeface="Arial"/>
              <a:sym typeface="Arial"/>
            </a:endParaRPr>
          </a:p>
        </p:txBody>
      </p:sp>
      <p:sp>
        <p:nvSpPr>
          <p:cNvPr id="902" name="Google Shape;902;g3e955750272_3_795"/>
          <p:cNvSpPr/>
          <p:nvPr/>
        </p:nvSpPr>
        <p:spPr>
          <a:xfrm>
            <a:off x="914857" y="9144458"/>
            <a:ext cx="16459200" cy="28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핵심 공통 컬럼 외 source · source_id · content · embedding 등을 포함해 총 29개 공통 컬럼  ·  raw 약 600건 → 중복·형식 정리 후 main CSV 565건 적재</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6" name="Shape 906"/>
        <p:cNvGrpSpPr/>
        <p:nvPr/>
      </p:nvGrpSpPr>
      <p:grpSpPr>
        <a:xfrm>
          <a:off x="0" y="0"/>
          <a:ext cx="0" cy="0"/>
          <a:chOff x="0" y="0"/>
          <a:chExt cx="0" cy="0"/>
        </a:xfrm>
      </p:grpSpPr>
      <p:grpSp>
        <p:nvGrpSpPr>
          <p:cNvPr id="907" name="Google Shape;907;g3e955750272_3_875"/>
          <p:cNvGrpSpPr/>
          <p:nvPr/>
        </p:nvGrpSpPr>
        <p:grpSpPr>
          <a:xfrm>
            <a:off x="914857" y="685800"/>
            <a:ext cx="16459208" cy="1829707"/>
            <a:chOff x="609905" y="457200"/>
            <a:chExt cx="10972805" cy="1219805"/>
          </a:xfrm>
        </p:grpSpPr>
        <p:sp>
          <p:nvSpPr>
            <p:cNvPr id="908" name="Google Shape;908;g3e955750272_3_875"/>
            <p:cNvSpPr/>
            <p:nvPr/>
          </p:nvSpPr>
          <p:spPr>
            <a:xfrm>
              <a:off x="609905" y="514807"/>
              <a:ext cx="75900" cy="75900"/>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09" name="Google Shape;909;g3e955750272_3_875"/>
            <p:cNvSpPr/>
            <p:nvPr/>
          </p:nvSpPr>
          <p:spPr>
            <a:xfrm>
              <a:off x="762610" y="457200"/>
              <a:ext cx="10820100" cy="19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CH.05  ·  전처리</a:t>
              </a:r>
              <a:endParaRPr b="0" i="0" sz="1400" u="none" cap="none" strike="noStrike">
                <a:solidFill>
                  <a:schemeClr val="dk1"/>
                </a:solidFill>
                <a:latin typeface="Calibri"/>
                <a:ea typeface="Calibri"/>
                <a:cs typeface="Calibri"/>
                <a:sym typeface="Calibri"/>
              </a:endParaRPr>
            </a:p>
          </p:txBody>
        </p:sp>
        <p:sp>
          <p:nvSpPr>
            <p:cNvPr id="910" name="Google Shape;910;g3e955750272_3_875"/>
            <p:cNvSpPr/>
            <p:nvPr/>
          </p:nvSpPr>
          <p:spPr>
            <a:xfrm>
              <a:off x="609905" y="800100"/>
              <a:ext cx="10972800" cy="53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표현 통일 — 같은 기준으로 검색하기</a:t>
              </a:r>
              <a:endParaRPr b="0" i="0" sz="4200" u="none" cap="none" strike="noStrike">
                <a:solidFill>
                  <a:schemeClr val="dk1"/>
                </a:solidFill>
                <a:latin typeface="Calibri"/>
                <a:ea typeface="Calibri"/>
                <a:cs typeface="Calibri"/>
                <a:sym typeface="Calibri"/>
              </a:endParaRPr>
            </a:p>
          </p:txBody>
        </p:sp>
        <p:sp>
          <p:nvSpPr>
            <p:cNvPr id="911" name="Google Shape;911;g3e955750272_3_875"/>
            <p:cNvSpPr/>
            <p:nvPr/>
          </p:nvSpPr>
          <p:spPr>
            <a:xfrm>
              <a:off x="609905" y="1410005"/>
              <a:ext cx="10972800" cy="2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API마다 다르게 들어온 지역·분야·대상·지원 범위 표현을 4종 rule표로 맞췄습니다.</a:t>
              </a:r>
              <a:endParaRPr b="0" i="0" sz="2000" u="none" cap="none" strike="noStrike">
                <a:solidFill>
                  <a:schemeClr val="dk1"/>
                </a:solidFill>
                <a:latin typeface="Calibri"/>
                <a:ea typeface="Calibri"/>
                <a:cs typeface="Calibri"/>
                <a:sym typeface="Calibri"/>
              </a:endParaRPr>
            </a:p>
          </p:txBody>
        </p:sp>
      </p:grpSp>
      <p:sp>
        <p:nvSpPr>
          <p:cNvPr id="912" name="Google Shape;912;g3e955750272_3_875"/>
          <p:cNvSpPr/>
          <p:nvPr/>
        </p:nvSpPr>
        <p:spPr>
          <a:xfrm>
            <a:off x="914857" y="2685593"/>
            <a:ext cx="16459200" cy="135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13" name="Google Shape;913;g3e955750272_3_875"/>
          <p:cNvSpPr/>
          <p:nvPr/>
        </p:nvSpPr>
        <p:spPr>
          <a:xfrm>
            <a:off x="914857" y="9543592"/>
            <a:ext cx="1142955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전처리 · 표현 통일</a:t>
            </a:r>
            <a:endParaRPr b="0" i="0" sz="1400" u="none" cap="none" strike="noStrike">
              <a:solidFill>
                <a:schemeClr val="dk1"/>
              </a:solidFill>
              <a:latin typeface="Calibri"/>
              <a:ea typeface="Calibri"/>
              <a:cs typeface="Calibri"/>
              <a:sym typeface="Calibri"/>
            </a:endParaRPr>
          </a:p>
        </p:txBody>
      </p:sp>
      <p:sp>
        <p:nvSpPr>
          <p:cNvPr id="914" name="Google Shape;914;g3e955750272_3_875"/>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19 / 24</a:t>
            </a:r>
            <a:endParaRPr b="0" i="0" sz="1400" u="none" cap="none" strike="noStrike">
              <a:solidFill>
                <a:schemeClr val="dk1"/>
              </a:solidFill>
              <a:latin typeface="Calibri"/>
              <a:ea typeface="Calibri"/>
              <a:cs typeface="Calibri"/>
              <a:sym typeface="Calibri"/>
            </a:endParaRPr>
          </a:p>
        </p:txBody>
      </p:sp>
      <p:grpSp>
        <p:nvGrpSpPr>
          <p:cNvPr id="915" name="Google Shape;915;g3e955750272_3_875"/>
          <p:cNvGrpSpPr/>
          <p:nvPr/>
        </p:nvGrpSpPr>
        <p:grpSpPr>
          <a:xfrm>
            <a:off x="914933" y="8340525"/>
            <a:ext cx="16459200" cy="720000"/>
            <a:chOff x="609905" y="5150000"/>
            <a:chExt cx="10972800" cy="480000"/>
          </a:xfrm>
        </p:grpSpPr>
        <p:sp>
          <p:nvSpPr>
            <p:cNvPr id="916" name="Google Shape;916;g3e955750272_3_875"/>
            <p:cNvSpPr/>
            <p:nvPr/>
          </p:nvSpPr>
          <p:spPr>
            <a:xfrm>
              <a:off x="609905" y="5150000"/>
              <a:ext cx="10972800" cy="480000"/>
            </a:xfrm>
            <a:prstGeom prst="rect">
              <a:avLst/>
            </a:prstGeom>
            <a:solidFill>
              <a:srgbClr val="EDE9F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17" name="Google Shape;917;g3e955750272_3_875"/>
            <p:cNvSpPr/>
            <p:nvPr/>
          </p:nvSpPr>
          <p:spPr>
            <a:xfrm>
              <a:off x="838505" y="5150000"/>
              <a:ext cx="105156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2A2A33"/>
                  </a:solidFill>
                  <a:latin typeface="Arial"/>
                  <a:ea typeface="Arial"/>
                  <a:cs typeface="Arial"/>
                  <a:sym typeface="Arial"/>
                </a:rPr>
                <a:t>이 공통 기준을 바탕으로 </a:t>
              </a:r>
              <a:r>
                <a:rPr b="1" i="0" lang="en-US" sz="2100" u="none" cap="none" strike="noStrike">
                  <a:solidFill>
                    <a:srgbClr val="3F3FB8"/>
                  </a:solidFill>
                  <a:latin typeface="Arial"/>
                  <a:ea typeface="Arial"/>
                  <a:cs typeface="Arial"/>
                  <a:sym typeface="Arial"/>
                </a:rPr>
                <a:t>검색 · 조건검색 · 추천 · 챗봇</a:t>
              </a:r>
              <a:r>
                <a:rPr b="0" i="0" lang="en-US" sz="2100" u="none" cap="none" strike="noStrike">
                  <a:solidFill>
                    <a:srgbClr val="2A2A33"/>
                  </a:solidFill>
                  <a:latin typeface="Arial"/>
                  <a:ea typeface="Arial"/>
                  <a:cs typeface="Arial"/>
                  <a:sym typeface="Arial"/>
                </a:rPr>
                <a:t>이 같은 데이터 기준에서 동작합니다.</a:t>
              </a:r>
              <a:endParaRPr b="0" i="0" sz="2100" u="none" cap="none" strike="noStrike">
                <a:solidFill>
                  <a:schemeClr val="dk1"/>
                </a:solidFill>
                <a:latin typeface="Arial"/>
                <a:ea typeface="Arial"/>
                <a:cs typeface="Arial"/>
                <a:sym typeface="Arial"/>
              </a:endParaRPr>
            </a:p>
          </p:txBody>
        </p:sp>
      </p:grpSp>
      <p:sp>
        <p:nvSpPr>
          <p:cNvPr id="918" name="Google Shape;918;g3e955750272_3_875"/>
          <p:cNvSpPr/>
          <p:nvPr/>
        </p:nvSpPr>
        <p:spPr>
          <a:xfrm>
            <a:off x="914850" y="2986959"/>
            <a:ext cx="7950150" cy="24019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p:txBody>
      </p:sp>
      <p:sp>
        <p:nvSpPr>
          <p:cNvPr id="919" name="Google Shape;919;g3e955750272_3_875"/>
          <p:cNvSpPr/>
          <p:nvPr/>
        </p:nvSpPr>
        <p:spPr>
          <a:xfrm>
            <a:off x="1034850" y="3052461"/>
            <a:ext cx="7709850" cy="698906"/>
          </a:xfrm>
          <a:prstGeom prst="rect">
            <a:avLst/>
          </a:prstGeom>
          <a:solidFill>
            <a:srgbClr val="E0F2FE"/>
          </a:solidFill>
          <a:ln>
            <a:noFill/>
          </a:ln>
        </p:spPr>
        <p:txBody>
          <a:bodyPr anchorCtr="0" anchor="ctr" bIns="0" lIns="270000" spcFirstLastPara="1" rIns="27000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D4ED8"/>
                </a:solidFill>
                <a:latin typeface="Arial"/>
                <a:ea typeface="Arial"/>
                <a:cs typeface="Arial"/>
                <a:sym typeface="Arial"/>
              </a:rPr>
              <a:t>지역</a:t>
            </a:r>
            <a:endParaRPr b="0" i="0" sz="2100" u="none" cap="none" strike="noStrike">
              <a:solidFill>
                <a:schemeClr val="dk1"/>
              </a:solidFill>
              <a:latin typeface="Arial"/>
              <a:ea typeface="Arial"/>
              <a:cs typeface="Arial"/>
              <a:sym typeface="Arial"/>
            </a:endParaRPr>
          </a:p>
        </p:txBody>
      </p:sp>
      <p:sp>
        <p:nvSpPr>
          <p:cNvPr id="920" name="Google Shape;920;g3e955750272_3_875"/>
          <p:cNvSpPr/>
          <p:nvPr/>
        </p:nvSpPr>
        <p:spPr>
          <a:xfrm>
            <a:off x="9269992" y="2986959"/>
            <a:ext cx="7950150" cy="24019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p:txBody>
      </p:sp>
      <p:sp>
        <p:nvSpPr>
          <p:cNvPr id="921" name="Google Shape;921;g3e955750272_3_875"/>
          <p:cNvSpPr/>
          <p:nvPr/>
        </p:nvSpPr>
        <p:spPr>
          <a:xfrm>
            <a:off x="9389992" y="3052461"/>
            <a:ext cx="7709850" cy="698906"/>
          </a:xfrm>
          <a:prstGeom prst="rect">
            <a:avLst/>
          </a:prstGeom>
          <a:solidFill>
            <a:srgbClr val="FFEDE3"/>
          </a:solidFill>
          <a:ln>
            <a:noFill/>
          </a:ln>
        </p:spPr>
        <p:txBody>
          <a:bodyPr anchorCtr="0" anchor="ctr" bIns="0" lIns="270000" spcFirstLastPara="1" rIns="27000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9A3412"/>
                </a:solidFill>
                <a:latin typeface="Arial"/>
                <a:ea typeface="Arial"/>
                <a:cs typeface="Arial"/>
                <a:sym typeface="Arial"/>
              </a:rPr>
              <a:t>분야</a:t>
            </a:r>
            <a:endParaRPr b="0" i="0" sz="2100" u="none" cap="none" strike="noStrike">
              <a:solidFill>
                <a:schemeClr val="dk1"/>
              </a:solidFill>
              <a:latin typeface="Arial"/>
              <a:ea typeface="Arial"/>
              <a:cs typeface="Arial"/>
              <a:sym typeface="Arial"/>
            </a:endParaRPr>
          </a:p>
        </p:txBody>
      </p:sp>
      <p:sp>
        <p:nvSpPr>
          <p:cNvPr id="922" name="Google Shape;922;g3e955750272_3_875"/>
          <p:cNvSpPr/>
          <p:nvPr/>
        </p:nvSpPr>
        <p:spPr>
          <a:xfrm>
            <a:off x="914850" y="5650707"/>
            <a:ext cx="7950150" cy="24019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p:txBody>
      </p:sp>
      <p:sp>
        <p:nvSpPr>
          <p:cNvPr id="923" name="Google Shape;923;g3e955750272_3_875"/>
          <p:cNvSpPr/>
          <p:nvPr/>
        </p:nvSpPr>
        <p:spPr>
          <a:xfrm>
            <a:off x="1034850" y="5716209"/>
            <a:ext cx="7709850" cy="698906"/>
          </a:xfrm>
          <a:prstGeom prst="rect">
            <a:avLst/>
          </a:prstGeom>
          <a:solidFill>
            <a:srgbClr val="E3F5E8"/>
          </a:solidFill>
          <a:ln>
            <a:noFill/>
          </a:ln>
        </p:spPr>
        <p:txBody>
          <a:bodyPr anchorCtr="0" anchor="ctr" bIns="0" lIns="270000" spcFirstLastPara="1" rIns="27000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66534"/>
                </a:solidFill>
                <a:latin typeface="Arial"/>
                <a:ea typeface="Arial"/>
                <a:cs typeface="Arial"/>
                <a:sym typeface="Arial"/>
              </a:rPr>
              <a:t>지원 범위 (분류 보정</a:t>
            </a:r>
            <a:r>
              <a:rPr b="1" lang="en-US" sz="2100">
                <a:solidFill>
                  <a:srgbClr val="166534"/>
                </a:solidFill>
              </a:rPr>
              <a:t>)</a:t>
            </a:r>
            <a:endParaRPr b="0" i="0" sz="2100" u="none" cap="none" strike="noStrike">
              <a:solidFill>
                <a:schemeClr val="dk1"/>
              </a:solidFill>
              <a:latin typeface="Arial"/>
              <a:ea typeface="Arial"/>
              <a:cs typeface="Arial"/>
              <a:sym typeface="Arial"/>
            </a:endParaRPr>
          </a:p>
        </p:txBody>
      </p:sp>
      <p:sp>
        <p:nvSpPr>
          <p:cNvPr id="924" name="Google Shape;924;g3e955750272_3_875"/>
          <p:cNvSpPr/>
          <p:nvPr/>
        </p:nvSpPr>
        <p:spPr>
          <a:xfrm>
            <a:off x="9269992" y="5650707"/>
            <a:ext cx="7950150" cy="240195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p:txBody>
      </p:sp>
      <p:sp>
        <p:nvSpPr>
          <p:cNvPr id="925" name="Google Shape;925;g3e955750272_3_875"/>
          <p:cNvSpPr/>
          <p:nvPr/>
        </p:nvSpPr>
        <p:spPr>
          <a:xfrm>
            <a:off x="9389992" y="5716209"/>
            <a:ext cx="7709850" cy="698906"/>
          </a:xfrm>
          <a:prstGeom prst="rect">
            <a:avLst/>
          </a:prstGeom>
          <a:solidFill>
            <a:srgbClr val="EDE9FE"/>
          </a:solidFill>
          <a:ln>
            <a:noFill/>
          </a:ln>
        </p:spPr>
        <p:txBody>
          <a:bodyPr anchorCtr="0" anchor="ctr" bIns="0" lIns="270000" spcFirstLastPara="1" rIns="27000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5B21B6"/>
                </a:solidFill>
                <a:latin typeface="Arial"/>
                <a:ea typeface="Arial"/>
                <a:cs typeface="Arial"/>
                <a:sym typeface="Arial"/>
              </a:rPr>
              <a:t>대상</a:t>
            </a:r>
            <a:endParaRPr b="0" i="0" sz="2100" u="none" cap="none" strike="noStrike">
              <a:solidFill>
                <a:schemeClr val="dk1"/>
              </a:solidFill>
              <a:latin typeface="Arial"/>
              <a:ea typeface="Arial"/>
              <a:cs typeface="Arial"/>
              <a:sym typeface="Arial"/>
            </a:endParaRPr>
          </a:p>
        </p:txBody>
      </p:sp>
      <p:sp>
        <p:nvSpPr>
          <p:cNvPr id="926" name="Google Shape;926;g3e955750272_3_875"/>
          <p:cNvSpPr/>
          <p:nvPr/>
        </p:nvSpPr>
        <p:spPr>
          <a:xfrm>
            <a:off x="3859498" y="3177874"/>
            <a:ext cx="4768200" cy="54104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region_rule.csv</a:t>
            </a:r>
            <a:endParaRPr b="0" i="0" sz="1400" u="none" cap="none" strike="noStrike">
              <a:solidFill>
                <a:schemeClr val="dk1"/>
              </a:solidFill>
              <a:latin typeface="Calibri"/>
              <a:ea typeface="Calibri"/>
              <a:cs typeface="Calibri"/>
              <a:sym typeface="Calibri"/>
            </a:endParaRPr>
          </a:p>
        </p:txBody>
      </p:sp>
      <p:sp>
        <p:nvSpPr>
          <p:cNvPr id="927" name="Google Shape;927;g3e955750272_3_875"/>
          <p:cNvSpPr/>
          <p:nvPr/>
        </p:nvSpPr>
        <p:spPr>
          <a:xfrm>
            <a:off x="12228936" y="3177917"/>
            <a:ext cx="4768200" cy="54104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cat_rule.csv</a:t>
            </a:r>
            <a:endParaRPr b="0" i="0" sz="1400" u="none" cap="none" strike="noStrike">
              <a:solidFill>
                <a:schemeClr val="dk1"/>
              </a:solidFill>
              <a:latin typeface="Calibri"/>
              <a:ea typeface="Calibri"/>
              <a:cs typeface="Calibri"/>
              <a:sym typeface="Calibri"/>
            </a:endParaRPr>
          </a:p>
        </p:txBody>
      </p:sp>
      <p:sp>
        <p:nvSpPr>
          <p:cNvPr id="928" name="Google Shape;928;g3e955750272_3_875"/>
          <p:cNvSpPr/>
          <p:nvPr/>
        </p:nvSpPr>
        <p:spPr>
          <a:xfrm>
            <a:off x="3859507" y="5838827"/>
            <a:ext cx="4768200" cy="54104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scope_rule.csv</a:t>
            </a:r>
            <a:endParaRPr b="0" i="0" sz="1400" u="none" cap="none" strike="noStrike">
              <a:solidFill>
                <a:schemeClr val="dk1"/>
              </a:solidFill>
              <a:latin typeface="Calibri"/>
              <a:ea typeface="Calibri"/>
              <a:cs typeface="Calibri"/>
              <a:sym typeface="Calibri"/>
            </a:endParaRPr>
          </a:p>
        </p:txBody>
      </p:sp>
      <p:sp>
        <p:nvSpPr>
          <p:cNvPr id="929" name="Google Shape;929;g3e955750272_3_875"/>
          <p:cNvSpPr/>
          <p:nvPr/>
        </p:nvSpPr>
        <p:spPr>
          <a:xfrm>
            <a:off x="12228945" y="5773281"/>
            <a:ext cx="4768200" cy="54104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target_tags_rule.csv</a:t>
            </a:r>
            <a:endParaRPr b="0" i="0" sz="1400" u="none" cap="none" strike="noStrike">
              <a:solidFill>
                <a:schemeClr val="dk1"/>
              </a:solidFill>
              <a:latin typeface="Calibri"/>
              <a:ea typeface="Calibri"/>
              <a:cs typeface="Calibri"/>
              <a:sym typeface="Calibri"/>
            </a:endParaRPr>
          </a:p>
        </p:txBody>
      </p:sp>
      <p:grpSp>
        <p:nvGrpSpPr>
          <p:cNvPr id="930" name="Google Shape;930;g3e955750272_3_875"/>
          <p:cNvGrpSpPr/>
          <p:nvPr/>
        </p:nvGrpSpPr>
        <p:grpSpPr>
          <a:xfrm>
            <a:off x="1143907" y="3887316"/>
            <a:ext cx="7420942" cy="1338759"/>
            <a:chOff x="762605" y="2689994"/>
            <a:chExt cx="4947295" cy="892506"/>
          </a:xfrm>
        </p:grpSpPr>
        <p:sp>
          <p:nvSpPr>
            <p:cNvPr id="931" name="Google Shape;931;g3e955750272_3_875"/>
            <p:cNvSpPr/>
            <p:nvPr/>
          </p:nvSpPr>
          <p:spPr>
            <a:xfrm>
              <a:off x="809900" y="2689994"/>
              <a:ext cx="2300100" cy="232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BEFORE</a:t>
              </a:r>
              <a:endParaRPr b="0" i="0" sz="1400" u="none" cap="none" strike="noStrike">
                <a:solidFill>
                  <a:srgbClr val="000000"/>
                </a:solidFill>
                <a:latin typeface="Arial"/>
                <a:ea typeface="Arial"/>
                <a:cs typeface="Arial"/>
                <a:sym typeface="Arial"/>
              </a:endParaRPr>
            </a:p>
          </p:txBody>
        </p:sp>
        <p:sp>
          <p:nvSpPr>
            <p:cNvPr id="932" name="Google Shape;932;g3e955750272_3_875"/>
            <p:cNvSpPr/>
            <p:nvPr/>
          </p:nvSpPr>
          <p:spPr>
            <a:xfrm>
              <a:off x="3759900" y="2689994"/>
              <a:ext cx="1950000" cy="232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AFTER</a:t>
              </a:r>
              <a:endParaRPr b="0" i="0" sz="1400" u="none" cap="none" strike="noStrike">
                <a:solidFill>
                  <a:srgbClr val="000000"/>
                </a:solidFill>
                <a:latin typeface="Arial"/>
                <a:ea typeface="Arial"/>
                <a:cs typeface="Arial"/>
                <a:sym typeface="Arial"/>
              </a:endParaRPr>
            </a:p>
          </p:txBody>
        </p:sp>
        <p:grpSp>
          <p:nvGrpSpPr>
            <p:cNvPr id="933" name="Google Shape;933;g3e955750272_3_875"/>
            <p:cNvGrpSpPr/>
            <p:nvPr/>
          </p:nvGrpSpPr>
          <p:grpSpPr>
            <a:xfrm>
              <a:off x="762605" y="2942400"/>
              <a:ext cx="4547400" cy="640100"/>
              <a:chOff x="789905" y="3100000"/>
              <a:chExt cx="4547400" cy="640100"/>
            </a:xfrm>
          </p:grpSpPr>
          <p:sp>
            <p:nvSpPr>
              <p:cNvPr id="934" name="Google Shape;934;g3e955750272_3_875"/>
              <p:cNvSpPr/>
              <p:nvPr/>
            </p:nvSpPr>
            <p:spPr>
              <a:xfrm>
                <a:off x="789905" y="3100000"/>
                <a:ext cx="2970000" cy="20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4B5563"/>
                    </a:solidFill>
                    <a:latin typeface="Arial"/>
                    <a:ea typeface="Arial"/>
                    <a:cs typeface="Arial"/>
                    <a:sym typeface="Arial"/>
                  </a:rPr>
                  <a:t>서울 / [서울] / 서울특별시</a:t>
                </a:r>
                <a:endParaRPr b="0" i="0" sz="1700" u="none" cap="none" strike="noStrike">
                  <a:solidFill>
                    <a:srgbClr val="000000"/>
                  </a:solidFill>
                  <a:latin typeface="Arial"/>
                  <a:ea typeface="Arial"/>
                  <a:cs typeface="Arial"/>
                  <a:sym typeface="Arial"/>
                </a:endParaRPr>
              </a:p>
            </p:txBody>
          </p:sp>
          <p:sp>
            <p:nvSpPr>
              <p:cNvPr id="935" name="Google Shape;935;g3e955750272_3_875"/>
              <p:cNvSpPr/>
              <p:nvPr/>
            </p:nvSpPr>
            <p:spPr>
              <a:xfrm>
                <a:off x="3137305" y="310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36" name="Google Shape;936;g3e955750272_3_875"/>
              <p:cNvSpPr/>
              <p:nvPr/>
            </p:nvSpPr>
            <p:spPr>
              <a:xfrm>
                <a:off x="3787205" y="3100000"/>
                <a:ext cx="1550100" cy="20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서울특별시</a:t>
                </a:r>
                <a:endParaRPr b="0" i="0" sz="1800" u="none" cap="none" strike="noStrike">
                  <a:solidFill>
                    <a:srgbClr val="000000"/>
                  </a:solidFill>
                  <a:latin typeface="Arial"/>
                  <a:ea typeface="Arial"/>
                  <a:cs typeface="Arial"/>
                  <a:sym typeface="Arial"/>
                </a:endParaRPr>
              </a:p>
            </p:txBody>
          </p:sp>
          <p:sp>
            <p:nvSpPr>
              <p:cNvPr id="937" name="Google Shape;937;g3e955750272_3_875"/>
              <p:cNvSpPr/>
              <p:nvPr/>
            </p:nvSpPr>
            <p:spPr>
              <a:xfrm>
                <a:off x="789905" y="3320000"/>
                <a:ext cx="2970000" cy="20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4B5563"/>
                    </a:solidFill>
                    <a:latin typeface="Arial"/>
                    <a:ea typeface="Arial"/>
                    <a:cs typeface="Arial"/>
                    <a:sym typeface="Arial"/>
                  </a:rPr>
                  <a:t>경기 / [경기] / 경기도</a:t>
                </a:r>
                <a:endParaRPr b="0" i="0" sz="1700" u="none" cap="none" strike="noStrike">
                  <a:solidFill>
                    <a:srgbClr val="000000"/>
                  </a:solidFill>
                  <a:latin typeface="Arial"/>
                  <a:ea typeface="Arial"/>
                  <a:cs typeface="Arial"/>
                  <a:sym typeface="Arial"/>
                </a:endParaRPr>
              </a:p>
            </p:txBody>
          </p:sp>
          <p:sp>
            <p:nvSpPr>
              <p:cNvPr id="938" name="Google Shape;938;g3e955750272_3_875"/>
              <p:cNvSpPr/>
              <p:nvPr/>
            </p:nvSpPr>
            <p:spPr>
              <a:xfrm>
                <a:off x="3137305" y="332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39" name="Google Shape;939;g3e955750272_3_875"/>
              <p:cNvSpPr/>
              <p:nvPr/>
            </p:nvSpPr>
            <p:spPr>
              <a:xfrm>
                <a:off x="3787205" y="3320000"/>
                <a:ext cx="1550100" cy="20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경기도</a:t>
                </a:r>
                <a:endParaRPr b="0" i="0" sz="1800" u="none" cap="none" strike="noStrike">
                  <a:solidFill>
                    <a:srgbClr val="000000"/>
                  </a:solidFill>
                  <a:latin typeface="Arial"/>
                  <a:ea typeface="Arial"/>
                  <a:cs typeface="Arial"/>
                  <a:sym typeface="Arial"/>
                </a:endParaRPr>
              </a:p>
            </p:txBody>
          </p:sp>
          <p:sp>
            <p:nvSpPr>
              <p:cNvPr id="940" name="Google Shape;940;g3e955750272_3_875"/>
              <p:cNvSpPr/>
              <p:nvPr/>
            </p:nvSpPr>
            <p:spPr>
              <a:xfrm>
                <a:off x="789905" y="3540000"/>
                <a:ext cx="2970000" cy="20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4B5563"/>
                    </a:solidFill>
                    <a:latin typeface="Arial"/>
                    <a:ea typeface="Arial"/>
                    <a:cs typeface="Arial"/>
                    <a:sym typeface="Arial"/>
                  </a:rPr>
                  <a:t>중소벤처기업부 / 고용노동부</a:t>
                </a:r>
                <a:endParaRPr b="0" i="0" sz="1700" u="none" cap="none" strike="noStrike">
                  <a:solidFill>
                    <a:srgbClr val="000000"/>
                  </a:solidFill>
                  <a:latin typeface="Arial"/>
                  <a:ea typeface="Arial"/>
                  <a:cs typeface="Arial"/>
                  <a:sym typeface="Arial"/>
                </a:endParaRPr>
              </a:p>
            </p:txBody>
          </p:sp>
          <p:sp>
            <p:nvSpPr>
              <p:cNvPr id="941" name="Google Shape;941;g3e955750272_3_875"/>
              <p:cNvSpPr/>
              <p:nvPr/>
            </p:nvSpPr>
            <p:spPr>
              <a:xfrm>
                <a:off x="3137305" y="354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42" name="Google Shape;942;g3e955750272_3_875"/>
              <p:cNvSpPr/>
              <p:nvPr/>
            </p:nvSpPr>
            <p:spPr>
              <a:xfrm>
                <a:off x="3787205" y="3540000"/>
                <a:ext cx="1550100" cy="20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전국</a:t>
                </a:r>
                <a:endParaRPr b="0" i="0" sz="1800" u="none" cap="none" strike="noStrike">
                  <a:solidFill>
                    <a:srgbClr val="000000"/>
                  </a:solidFill>
                  <a:latin typeface="Arial"/>
                  <a:ea typeface="Arial"/>
                  <a:cs typeface="Arial"/>
                  <a:sym typeface="Arial"/>
                </a:endParaRPr>
              </a:p>
            </p:txBody>
          </p:sp>
        </p:grpSp>
      </p:grpSp>
      <p:grpSp>
        <p:nvGrpSpPr>
          <p:cNvPr id="943" name="Google Shape;943;g3e955750272_3_875"/>
          <p:cNvGrpSpPr/>
          <p:nvPr/>
        </p:nvGrpSpPr>
        <p:grpSpPr>
          <a:xfrm>
            <a:off x="9576195" y="3887316"/>
            <a:ext cx="7420942" cy="1338759"/>
            <a:chOff x="762605" y="2689994"/>
            <a:chExt cx="4947295" cy="892506"/>
          </a:xfrm>
        </p:grpSpPr>
        <p:sp>
          <p:nvSpPr>
            <p:cNvPr id="944" name="Google Shape;944;g3e955750272_3_875"/>
            <p:cNvSpPr/>
            <p:nvPr/>
          </p:nvSpPr>
          <p:spPr>
            <a:xfrm>
              <a:off x="809900" y="2689994"/>
              <a:ext cx="2300100" cy="23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BEFORE</a:t>
              </a:r>
              <a:endParaRPr b="0" i="0" sz="1400" u="none" cap="none" strike="noStrike">
                <a:solidFill>
                  <a:srgbClr val="000000"/>
                </a:solidFill>
                <a:latin typeface="Arial"/>
                <a:ea typeface="Arial"/>
                <a:cs typeface="Arial"/>
                <a:sym typeface="Arial"/>
              </a:endParaRPr>
            </a:p>
          </p:txBody>
        </p:sp>
        <p:sp>
          <p:nvSpPr>
            <p:cNvPr id="945" name="Google Shape;945;g3e955750272_3_875"/>
            <p:cNvSpPr/>
            <p:nvPr/>
          </p:nvSpPr>
          <p:spPr>
            <a:xfrm>
              <a:off x="3759900" y="2689994"/>
              <a:ext cx="1950000" cy="23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AFTER</a:t>
              </a:r>
              <a:endParaRPr b="0" i="0" sz="1400" u="none" cap="none" strike="noStrike">
                <a:solidFill>
                  <a:srgbClr val="000000"/>
                </a:solidFill>
                <a:latin typeface="Arial"/>
                <a:ea typeface="Arial"/>
                <a:cs typeface="Arial"/>
                <a:sym typeface="Arial"/>
              </a:endParaRPr>
            </a:p>
          </p:txBody>
        </p:sp>
        <p:grpSp>
          <p:nvGrpSpPr>
            <p:cNvPr id="946" name="Google Shape;946;g3e955750272_3_875"/>
            <p:cNvGrpSpPr/>
            <p:nvPr/>
          </p:nvGrpSpPr>
          <p:grpSpPr>
            <a:xfrm>
              <a:off x="762605" y="2942400"/>
              <a:ext cx="4547400" cy="640100"/>
              <a:chOff x="789905" y="3100000"/>
              <a:chExt cx="4547400" cy="640100"/>
            </a:xfrm>
          </p:grpSpPr>
          <p:sp>
            <p:nvSpPr>
              <p:cNvPr id="947" name="Google Shape;947;g3e955750272_3_875"/>
              <p:cNvSpPr/>
              <p:nvPr/>
            </p:nvSpPr>
            <p:spPr>
              <a:xfrm>
                <a:off x="789905" y="310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창업</a:t>
                </a:r>
                <a:r>
                  <a:rPr lang="en-US" sz="1700">
                    <a:solidFill>
                      <a:srgbClr val="4B5563"/>
                    </a:solidFill>
                  </a:rPr>
                  <a:t> / 창업교육</a:t>
                </a:r>
                <a:endParaRPr sz="1700">
                  <a:solidFill>
                    <a:srgbClr val="4B5563"/>
                  </a:solidFill>
                </a:endParaRPr>
              </a:p>
            </p:txBody>
          </p:sp>
          <p:sp>
            <p:nvSpPr>
              <p:cNvPr id="948" name="Google Shape;948;g3e955750272_3_875"/>
              <p:cNvSpPr/>
              <p:nvPr/>
            </p:nvSpPr>
            <p:spPr>
              <a:xfrm>
                <a:off x="3137305" y="310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49" name="Google Shape;949;g3e955750272_3_875"/>
              <p:cNvSpPr/>
              <p:nvPr/>
            </p:nvSpPr>
            <p:spPr>
              <a:xfrm>
                <a:off x="3787205" y="310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9A3412"/>
                    </a:solidFill>
                  </a:rPr>
                  <a:t>창업</a:t>
                </a:r>
                <a:endParaRPr b="0" i="0" sz="1800" u="none" cap="none" strike="noStrike">
                  <a:solidFill>
                    <a:srgbClr val="000000"/>
                  </a:solidFill>
                  <a:latin typeface="Arial"/>
                  <a:ea typeface="Arial"/>
                  <a:cs typeface="Arial"/>
                  <a:sym typeface="Arial"/>
                </a:endParaRPr>
              </a:p>
            </p:txBody>
          </p:sp>
          <p:sp>
            <p:nvSpPr>
              <p:cNvPr id="950" name="Google Shape;950;g3e955750272_3_875"/>
              <p:cNvSpPr/>
              <p:nvPr/>
            </p:nvSpPr>
            <p:spPr>
              <a:xfrm>
                <a:off x="789905" y="332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멘토링·컨설팅·교육 / 교육·직업훈련</a:t>
                </a:r>
                <a:endParaRPr sz="1700">
                  <a:solidFill>
                    <a:srgbClr val="4B5563"/>
                  </a:solidFill>
                </a:endParaRPr>
              </a:p>
            </p:txBody>
          </p:sp>
          <p:sp>
            <p:nvSpPr>
              <p:cNvPr id="951" name="Google Shape;951;g3e955750272_3_875"/>
              <p:cNvSpPr/>
              <p:nvPr/>
            </p:nvSpPr>
            <p:spPr>
              <a:xfrm>
                <a:off x="3137305" y="332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52" name="Google Shape;952;g3e955750272_3_875"/>
              <p:cNvSpPr/>
              <p:nvPr/>
            </p:nvSpPr>
            <p:spPr>
              <a:xfrm>
                <a:off x="3787205" y="332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9A3412"/>
                    </a:solidFill>
                  </a:rPr>
                  <a:t>교육/멘토링</a:t>
                </a:r>
                <a:endParaRPr b="1" sz="1800">
                  <a:solidFill>
                    <a:srgbClr val="1D4ED8"/>
                  </a:solidFill>
                </a:endParaRPr>
              </a:p>
            </p:txBody>
          </p:sp>
          <p:sp>
            <p:nvSpPr>
              <p:cNvPr id="953" name="Google Shape;953;g3e955750272_3_875"/>
              <p:cNvSpPr/>
              <p:nvPr/>
            </p:nvSpPr>
            <p:spPr>
              <a:xfrm>
                <a:off x="789905" y="354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금융 / 정책자금</a:t>
                </a:r>
                <a:endParaRPr sz="1700">
                  <a:solidFill>
                    <a:srgbClr val="4B5563"/>
                  </a:solidFill>
                </a:endParaRPr>
              </a:p>
            </p:txBody>
          </p:sp>
          <p:sp>
            <p:nvSpPr>
              <p:cNvPr id="954" name="Google Shape;954;g3e955750272_3_875"/>
              <p:cNvSpPr/>
              <p:nvPr/>
            </p:nvSpPr>
            <p:spPr>
              <a:xfrm>
                <a:off x="3137305" y="354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55" name="Google Shape;955;g3e955750272_3_875"/>
              <p:cNvSpPr/>
              <p:nvPr/>
            </p:nvSpPr>
            <p:spPr>
              <a:xfrm>
                <a:off x="3787205" y="354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9A3412"/>
                    </a:solidFill>
                  </a:rPr>
                  <a:t>자금</a:t>
                </a:r>
                <a:endParaRPr b="1" sz="1800">
                  <a:solidFill>
                    <a:srgbClr val="1D4ED8"/>
                  </a:solidFill>
                </a:endParaRPr>
              </a:p>
            </p:txBody>
          </p:sp>
        </p:grpSp>
      </p:grpSp>
      <p:grpSp>
        <p:nvGrpSpPr>
          <p:cNvPr id="956" name="Google Shape;956;g3e955750272_3_875"/>
          <p:cNvGrpSpPr/>
          <p:nvPr/>
        </p:nvGrpSpPr>
        <p:grpSpPr>
          <a:xfrm>
            <a:off x="1179457" y="6518691"/>
            <a:ext cx="7420942" cy="1338759"/>
            <a:chOff x="762605" y="2689994"/>
            <a:chExt cx="4947295" cy="892506"/>
          </a:xfrm>
        </p:grpSpPr>
        <p:sp>
          <p:nvSpPr>
            <p:cNvPr id="957" name="Google Shape;957;g3e955750272_3_875"/>
            <p:cNvSpPr/>
            <p:nvPr/>
          </p:nvSpPr>
          <p:spPr>
            <a:xfrm>
              <a:off x="809900" y="2689994"/>
              <a:ext cx="2300100" cy="23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BEFORE</a:t>
              </a:r>
              <a:endParaRPr b="0" i="0" sz="1400" u="none" cap="none" strike="noStrike">
                <a:solidFill>
                  <a:srgbClr val="000000"/>
                </a:solidFill>
                <a:latin typeface="Arial"/>
                <a:ea typeface="Arial"/>
                <a:cs typeface="Arial"/>
                <a:sym typeface="Arial"/>
              </a:endParaRPr>
            </a:p>
          </p:txBody>
        </p:sp>
        <p:sp>
          <p:nvSpPr>
            <p:cNvPr id="958" name="Google Shape;958;g3e955750272_3_875"/>
            <p:cNvSpPr/>
            <p:nvPr/>
          </p:nvSpPr>
          <p:spPr>
            <a:xfrm>
              <a:off x="3759900" y="2689994"/>
              <a:ext cx="1950000" cy="23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AFTER</a:t>
              </a:r>
              <a:endParaRPr b="0" i="0" sz="1400" u="none" cap="none" strike="noStrike">
                <a:solidFill>
                  <a:srgbClr val="000000"/>
                </a:solidFill>
                <a:latin typeface="Arial"/>
                <a:ea typeface="Arial"/>
                <a:cs typeface="Arial"/>
                <a:sym typeface="Arial"/>
              </a:endParaRPr>
            </a:p>
          </p:txBody>
        </p:sp>
        <p:grpSp>
          <p:nvGrpSpPr>
            <p:cNvPr id="959" name="Google Shape;959;g3e955750272_3_875"/>
            <p:cNvGrpSpPr/>
            <p:nvPr/>
          </p:nvGrpSpPr>
          <p:grpSpPr>
            <a:xfrm>
              <a:off x="762605" y="2942400"/>
              <a:ext cx="4547400" cy="640100"/>
              <a:chOff x="789905" y="3100000"/>
              <a:chExt cx="4547400" cy="640100"/>
            </a:xfrm>
          </p:grpSpPr>
          <p:sp>
            <p:nvSpPr>
              <p:cNvPr id="960" name="Google Shape;960;g3e955750272_3_875"/>
              <p:cNvSpPr/>
              <p:nvPr/>
            </p:nvSpPr>
            <p:spPr>
              <a:xfrm>
                <a:off x="789905" y="310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s_category = 참여·기반</a:t>
                </a:r>
                <a:endParaRPr sz="1700">
                  <a:solidFill>
                    <a:srgbClr val="4B5563"/>
                  </a:solidFill>
                </a:endParaRPr>
              </a:p>
            </p:txBody>
          </p:sp>
          <p:sp>
            <p:nvSpPr>
              <p:cNvPr id="961" name="Google Shape;961;g3e955750272_3_875"/>
              <p:cNvSpPr/>
              <p:nvPr/>
            </p:nvSpPr>
            <p:spPr>
              <a:xfrm>
                <a:off x="3137305" y="310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62" name="Google Shape;962;g3e955750272_3_875"/>
              <p:cNvSpPr/>
              <p:nvPr/>
            </p:nvSpPr>
            <p:spPr>
              <a:xfrm>
                <a:off x="3787205" y="310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166534"/>
                    </a:solidFill>
                  </a:rPr>
                  <a:t>other</a:t>
                </a:r>
                <a:endParaRPr b="0" i="0" sz="1800" u="none" cap="none" strike="noStrike">
                  <a:solidFill>
                    <a:srgbClr val="000000"/>
                  </a:solidFill>
                  <a:latin typeface="Arial"/>
                  <a:ea typeface="Arial"/>
                  <a:cs typeface="Arial"/>
                  <a:sym typeface="Arial"/>
                </a:endParaRPr>
              </a:p>
            </p:txBody>
          </p:sp>
          <p:sp>
            <p:nvSpPr>
              <p:cNvPr id="963" name="Google Shape;963;g3e955750272_3_875"/>
              <p:cNvSpPr/>
              <p:nvPr/>
            </p:nvSpPr>
            <p:spPr>
              <a:xfrm>
                <a:off x="789905" y="332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청년참여위원회 / 청년의회 / 정책협의체</a:t>
                </a:r>
                <a:endParaRPr sz="1700">
                  <a:solidFill>
                    <a:srgbClr val="4B5563"/>
                  </a:solidFill>
                </a:endParaRPr>
              </a:p>
            </p:txBody>
          </p:sp>
          <p:sp>
            <p:nvSpPr>
              <p:cNvPr id="964" name="Google Shape;964;g3e955750272_3_875"/>
              <p:cNvSpPr/>
              <p:nvPr/>
            </p:nvSpPr>
            <p:spPr>
              <a:xfrm>
                <a:off x="3137305" y="332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65" name="Google Shape;965;g3e955750272_3_875"/>
              <p:cNvSpPr/>
              <p:nvPr/>
            </p:nvSpPr>
            <p:spPr>
              <a:xfrm>
                <a:off x="3787205" y="332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166534"/>
                    </a:solidFill>
                  </a:rPr>
                  <a:t>other</a:t>
                </a:r>
                <a:endParaRPr b="0" i="0" sz="1800" u="none" cap="none" strike="noStrike">
                  <a:solidFill>
                    <a:srgbClr val="000000"/>
                  </a:solidFill>
                  <a:latin typeface="Arial"/>
                  <a:ea typeface="Arial"/>
                  <a:cs typeface="Arial"/>
                  <a:sym typeface="Arial"/>
                </a:endParaRPr>
              </a:p>
            </p:txBody>
          </p:sp>
          <p:sp>
            <p:nvSpPr>
              <p:cNvPr id="966" name="Google Shape;966;g3e955750272_3_875"/>
              <p:cNvSpPr/>
              <p:nvPr/>
            </p:nvSpPr>
            <p:spPr>
              <a:xfrm>
                <a:off x="789905" y="354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그 외 (룰 매칭 없음)</a:t>
                </a:r>
                <a:endParaRPr sz="1700">
                  <a:solidFill>
                    <a:srgbClr val="4B5563"/>
                  </a:solidFill>
                </a:endParaRPr>
              </a:p>
            </p:txBody>
          </p:sp>
          <p:sp>
            <p:nvSpPr>
              <p:cNvPr id="967" name="Google Shape;967;g3e955750272_3_875"/>
              <p:cNvSpPr/>
              <p:nvPr/>
            </p:nvSpPr>
            <p:spPr>
              <a:xfrm>
                <a:off x="3137305" y="354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68" name="Google Shape;968;g3e955750272_3_875"/>
              <p:cNvSpPr/>
              <p:nvPr/>
            </p:nvSpPr>
            <p:spPr>
              <a:xfrm>
                <a:off x="3787205" y="354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166534"/>
                    </a:solidFill>
                  </a:rPr>
                  <a:t>main</a:t>
                </a:r>
                <a:endParaRPr b="0" i="0" sz="1800" u="none" cap="none" strike="noStrike">
                  <a:solidFill>
                    <a:srgbClr val="000000"/>
                  </a:solidFill>
                  <a:latin typeface="Arial"/>
                  <a:ea typeface="Arial"/>
                  <a:cs typeface="Arial"/>
                  <a:sym typeface="Arial"/>
                </a:endParaRPr>
              </a:p>
            </p:txBody>
          </p:sp>
        </p:grpSp>
      </p:grpSp>
      <p:grpSp>
        <p:nvGrpSpPr>
          <p:cNvPr id="969" name="Google Shape;969;g3e955750272_3_875"/>
          <p:cNvGrpSpPr/>
          <p:nvPr/>
        </p:nvGrpSpPr>
        <p:grpSpPr>
          <a:xfrm>
            <a:off x="9576195" y="6518691"/>
            <a:ext cx="7420942" cy="1338759"/>
            <a:chOff x="762605" y="2689994"/>
            <a:chExt cx="4947295" cy="892506"/>
          </a:xfrm>
        </p:grpSpPr>
        <p:sp>
          <p:nvSpPr>
            <p:cNvPr id="970" name="Google Shape;970;g3e955750272_3_875"/>
            <p:cNvSpPr/>
            <p:nvPr/>
          </p:nvSpPr>
          <p:spPr>
            <a:xfrm>
              <a:off x="809900" y="2689994"/>
              <a:ext cx="2300100" cy="23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BEFORE</a:t>
              </a:r>
              <a:endParaRPr b="0" i="0" sz="1400" u="none" cap="none" strike="noStrike">
                <a:solidFill>
                  <a:srgbClr val="000000"/>
                </a:solidFill>
                <a:latin typeface="Arial"/>
                <a:ea typeface="Arial"/>
                <a:cs typeface="Arial"/>
                <a:sym typeface="Arial"/>
              </a:endParaRPr>
            </a:p>
          </p:txBody>
        </p:sp>
        <p:sp>
          <p:nvSpPr>
            <p:cNvPr id="971" name="Google Shape;971;g3e955750272_3_875"/>
            <p:cNvSpPr/>
            <p:nvPr/>
          </p:nvSpPr>
          <p:spPr>
            <a:xfrm>
              <a:off x="3759900" y="2689994"/>
              <a:ext cx="1950000" cy="23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A8F99"/>
                  </a:solidFill>
                  <a:latin typeface="Arial"/>
                  <a:ea typeface="Arial"/>
                  <a:cs typeface="Arial"/>
                  <a:sym typeface="Arial"/>
                </a:rPr>
                <a:t>AFTER</a:t>
              </a:r>
              <a:endParaRPr b="0" i="0" sz="1400" u="none" cap="none" strike="noStrike">
                <a:solidFill>
                  <a:srgbClr val="000000"/>
                </a:solidFill>
                <a:latin typeface="Arial"/>
                <a:ea typeface="Arial"/>
                <a:cs typeface="Arial"/>
                <a:sym typeface="Arial"/>
              </a:endParaRPr>
            </a:p>
          </p:txBody>
        </p:sp>
        <p:grpSp>
          <p:nvGrpSpPr>
            <p:cNvPr id="972" name="Google Shape;972;g3e955750272_3_875"/>
            <p:cNvGrpSpPr/>
            <p:nvPr/>
          </p:nvGrpSpPr>
          <p:grpSpPr>
            <a:xfrm>
              <a:off x="762605" y="2942400"/>
              <a:ext cx="4547400" cy="640100"/>
              <a:chOff x="789905" y="3100000"/>
              <a:chExt cx="4547400" cy="640100"/>
            </a:xfrm>
          </p:grpSpPr>
          <p:sp>
            <p:nvSpPr>
              <p:cNvPr id="973" name="Google Shape;973;g3e955750272_3_875"/>
              <p:cNvSpPr/>
              <p:nvPr/>
            </p:nvSpPr>
            <p:spPr>
              <a:xfrm>
                <a:off x="789905" y="310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청년 / 만 19~34세</a:t>
                </a:r>
                <a:endParaRPr sz="1700">
                  <a:solidFill>
                    <a:srgbClr val="4B5563"/>
                  </a:solidFill>
                </a:endParaRPr>
              </a:p>
            </p:txBody>
          </p:sp>
          <p:sp>
            <p:nvSpPr>
              <p:cNvPr id="974" name="Google Shape;974;g3e955750272_3_875"/>
              <p:cNvSpPr/>
              <p:nvPr/>
            </p:nvSpPr>
            <p:spPr>
              <a:xfrm>
                <a:off x="3137305" y="310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75" name="Google Shape;975;g3e955750272_3_875"/>
              <p:cNvSpPr/>
              <p:nvPr/>
            </p:nvSpPr>
            <p:spPr>
              <a:xfrm>
                <a:off x="3787205" y="310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5B21B6"/>
                    </a:solidFill>
                  </a:rPr>
                  <a:t>청년</a:t>
                </a:r>
                <a:endParaRPr b="1" sz="1800">
                  <a:solidFill>
                    <a:srgbClr val="1D4ED8"/>
                  </a:solidFill>
                </a:endParaRPr>
              </a:p>
            </p:txBody>
          </p:sp>
          <p:sp>
            <p:nvSpPr>
              <p:cNvPr id="976" name="Google Shape;976;g3e955750272_3_875"/>
              <p:cNvSpPr/>
              <p:nvPr/>
            </p:nvSpPr>
            <p:spPr>
              <a:xfrm>
                <a:off x="789905" y="332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예비창업자 / 창업예정자 </a:t>
                </a:r>
                <a:endParaRPr sz="1700">
                  <a:solidFill>
                    <a:srgbClr val="4B5563"/>
                  </a:solidFill>
                </a:endParaRPr>
              </a:p>
            </p:txBody>
          </p:sp>
          <p:sp>
            <p:nvSpPr>
              <p:cNvPr id="977" name="Google Shape;977;g3e955750272_3_875"/>
              <p:cNvSpPr/>
              <p:nvPr/>
            </p:nvSpPr>
            <p:spPr>
              <a:xfrm>
                <a:off x="3137305" y="332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78" name="Google Shape;978;g3e955750272_3_875"/>
              <p:cNvSpPr/>
              <p:nvPr/>
            </p:nvSpPr>
            <p:spPr>
              <a:xfrm>
                <a:off x="3787205" y="332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5B21B6"/>
                    </a:solidFill>
                  </a:rPr>
                  <a:t>예비창업자</a:t>
                </a:r>
                <a:endParaRPr b="1" sz="1800">
                  <a:solidFill>
                    <a:srgbClr val="1D4ED8"/>
                  </a:solidFill>
                </a:endParaRPr>
              </a:p>
            </p:txBody>
          </p:sp>
          <p:sp>
            <p:nvSpPr>
              <p:cNvPr id="979" name="Google Shape;979;g3e955750272_3_875"/>
              <p:cNvSpPr/>
              <p:nvPr/>
            </p:nvSpPr>
            <p:spPr>
              <a:xfrm>
                <a:off x="789905" y="3540000"/>
                <a:ext cx="29700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700"/>
                  <a:buFont typeface="Arial"/>
                  <a:buNone/>
                </a:pPr>
                <a:r>
                  <a:rPr lang="en-US" sz="1700">
                    <a:solidFill>
                      <a:srgbClr val="4B5563"/>
                    </a:solidFill>
                  </a:rPr>
                  <a:t>1인 창조기업 / 창업벤처</a:t>
                </a:r>
                <a:endParaRPr sz="1700">
                  <a:solidFill>
                    <a:srgbClr val="4B5563"/>
                  </a:solidFill>
                </a:endParaRPr>
              </a:p>
            </p:txBody>
          </p:sp>
          <p:sp>
            <p:nvSpPr>
              <p:cNvPr id="980" name="Google Shape;980;g3e955750272_3_875"/>
              <p:cNvSpPr/>
              <p:nvPr/>
            </p:nvSpPr>
            <p:spPr>
              <a:xfrm>
                <a:off x="3137305" y="3540000"/>
                <a:ext cx="300000" cy="2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D4ED8"/>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981" name="Google Shape;981;g3e955750272_3_875"/>
              <p:cNvSpPr/>
              <p:nvPr/>
            </p:nvSpPr>
            <p:spPr>
              <a:xfrm>
                <a:off x="3787205" y="3540000"/>
                <a:ext cx="1550100" cy="2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b="1" lang="en-US" sz="1800">
                    <a:solidFill>
                      <a:srgbClr val="5B21B6"/>
                    </a:solidFill>
                  </a:rPr>
                  <a:t>초기창업기업</a:t>
                </a:r>
                <a:endParaRPr b="1" sz="1800">
                  <a:solidFill>
                    <a:srgbClr val="1D4ED8"/>
                  </a:solidFill>
                </a:endParaRPr>
              </a:p>
            </p:txBody>
          </p:sp>
        </p:grpSp>
      </p:grpSp>
      <p:sp>
        <p:nvSpPr>
          <p:cNvPr id="982" name="Google Shape;982;g3e955750272_3_875"/>
          <p:cNvSpPr txBox="1"/>
          <p:nvPr/>
        </p:nvSpPr>
        <p:spPr>
          <a:xfrm>
            <a:off x="4283184" y="5722950"/>
            <a:ext cx="45000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None/>
            </a:pPr>
            <a:r>
              <a:rPr lang="en-US" sz="1200">
                <a:solidFill>
                  <a:srgbClr val="666666"/>
                </a:solidFill>
              </a:rPr>
              <a:t>검색·추천 중심 공고와 보조성 항목을 구분 </a:t>
            </a:r>
            <a:endParaRPr sz="1200">
              <a:solidFill>
                <a:srgbClr val="66666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7" name="Shape 987"/>
        <p:cNvGrpSpPr/>
        <p:nvPr/>
      </p:nvGrpSpPr>
      <p:grpSpPr>
        <a:xfrm>
          <a:off x="0" y="0"/>
          <a:ext cx="0" cy="0"/>
          <a:chOff x="0" y="0"/>
          <a:chExt cx="0" cy="0"/>
        </a:xfrm>
      </p:grpSpPr>
      <p:sp>
        <p:nvSpPr>
          <p:cNvPr id="988" name="Google Shape;988;g3e955750272_3_954"/>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89" name="Google Shape;989;g3e955750272_3_954"/>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CH.06  ·  검색 / 추천</a:t>
            </a:r>
            <a:endParaRPr b="0" i="0" sz="1400" u="none" cap="none" strike="noStrike">
              <a:solidFill>
                <a:schemeClr val="dk1"/>
              </a:solidFill>
              <a:latin typeface="Calibri"/>
              <a:ea typeface="Calibri"/>
              <a:cs typeface="Calibri"/>
              <a:sym typeface="Calibri"/>
            </a:endParaRPr>
          </a:p>
        </p:txBody>
      </p:sp>
      <p:sp>
        <p:nvSpPr>
          <p:cNvPr id="990" name="Google Shape;990;g3e955750272_3_954"/>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검색 / 추천 로직</a:t>
            </a:r>
            <a:endParaRPr b="0" i="0" sz="4200" u="none" cap="none" strike="noStrike">
              <a:solidFill>
                <a:schemeClr val="dk1"/>
              </a:solidFill>
              <a:latin typeface="Calibri"/>
              <a:ea typeface="Calibri"/>
              <a:cs typeface="Calibri"/>
              <a:sym typeface="Calibri"/>
            </a:endParaRPr>
          </a:p>
        </p:txBody>
      </p:sp>
      <p:sp>
        <p:nvSpPr>
          <p:cNvPr id="991" name="Google Shape;991;g3e955750272_3_954"/>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검색·조건검색·추천·챗봇을 기능별로 다르게 구성했습니다.</a:t>
            </a:r>
            <a:endParaRPr b="0" i="0" sz="2000" u="none" cap="none" strike="noStrike">
              <a:solidFill>
                <a:schemeClr val="dk1"/>
              </a:solidFill>
              <a:latin typeface="Calibri"/>
              <a:ea typeface="Calibri"/>
              <a:cs typeface="Calibri"/>
              <a:sym typeface="Calibri"/>
            </a:endParaRPr>
          </a:p>
        </p:txBody>
      </p:sp>
      <p:sp>
        <p:nvSpPr>
          <p:cNvPr id="992" name="Google Shape;992;g3e955750272_3_954"/>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93" name="Google Shape;993;g3e955750272_3_954"/>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검색 / 추천</a:t>
            </a:r>
            <a:endParaRPr b="0" i="0" sz="1400" u="none" cap="none" strike="noStrike">
              <a:solidFill>
                <a:schemeClr val="dk1"/>
              </a:solidFill>
              <a:latin typeface="Calibri"/>
              <a:ea typeface="Calibri"/>
              <a:cs typeface="Calibri"/>
              <a:sym typeface="Calibri"/>
            </a:endParaRPr>
          </a:p>
        </p:txBody>
      </p:sp>
      <p:sp>
        <p:nvSpPr>
          <p:cNvPr id="994" name="Google Shape;994;g3e955750272_3_954"/>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19 / 23</a:t>
            </a:r>
            <a:endParaRPr b="0" i="0" sz="1400" u="none" cap="none" strike="noStrike">
              <a:solidFill>
                <a:schemeClr val="dk1"/>
              </a:solidFill>
              <a:latin typeface="Calibri"/>
              <a:ea typeface="Calibri"/>
              <a:cs typeface="Calibri"/>
              <a:sym typeface="Calibri"/>
            </a:endParaRPr>
          </a:p>
        </p:txBody>
      </p:sp>
      <p:sp>
        <p:nvSpPr>
          <p:cNvPr id="995" name="Google Shape;995;g3e955750272_3_954"/>
          <p:cNvSpPr/>
          <p:nvPr/>
        </p:nvSpPr>
        <p:spPr>
          <a:xfrm>
            <a:off x="914857" y="3257550"/>
            <a:ext cx="8058150" cy="257175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96" name="Google Shape;996;g3e955750272_3_954"/>
          <p:cNvSpPr/>
          <p:nvPr/>
        </p:nvSpPr>
        <p:spPr>
          <a:xfrm>
            <a:off x="914857" y="3257550"/>
            <a:ext cx="8058150" cy="571957"/>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97" name="Google Shape;997;g3e955750272_3_954"/>
          <p:cNvSpPr/>
          <p:nvPr/>
        </p:nvSpPr>
        <p:spPr>
          <a:xfrm>
            <a:off x="1257757" y="3257550"/>
            <a:ext cx="7372350"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2300"/>
              <a:buFont typeface="Arial"/>
              <a:buNone/>
            </a:pPr>
            <a:r>
              <a:rPr b="1" i="0" lang="en-US" sz="2300" u="none" cap="none" strike="noStrike">
                <a:solidFill>
                  <a:srgbClr val="3F3FB8"/>
                </a:solidFill>
                <a:latin typeface="Arial"/>
                <a:ea typeface="Arial"/>
                <a:cs typeface="Arial"/>
                <a:sym typeface="Arial"/>
              </a:rPr>
              <a:t>통합검색</a:t>
            </a:r>
            <a:endParaRPr b="0" i="0" sz="2300" u="none" cap="none" strike="noStrike">
              <a:solidFill>
                <a:schemeClr val="dk1"/>
              </a:solidFill>
              <a:latin typeface="Calibri"/>
              <a:ea typeface="Calibri"/>
              <a:cs typeface="Calibri"/>
              <a:sym typeface="Calibri"/>
            </a:endParaRPr>
          </a:p>
        </p:txBody>
      </p:sp>
      <p:sp>
        <p:nvSpPr>
          <p:cNvPr id="998" name="Google Shape;998;g3e955750272_3_954"/>
          <p:cNvSpPr/>
          <p:nvPr/>
        </p:nvSpPr>
        <p:spPr>
          <a:xfrm>
            <a:off x="1200150" y="4087368"/>
            <a:ext cx="257860" cy="257861"/>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999" name="Google Shape;999;g3e955750272_3_954"/>
          <p:cNvSpPr/>
          <p:nvPr/>
        </p:nvSpPr>
        <p:spPr>
          <a:xfrm>
            <a:off x="1200150" y="4087368"/>
            <a:ext cx="257860" cy="2578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1000" name="Google Shape;1000;g3e955750272_3_954"/>
          <p:cNvSpPr/>
          <p:nvPr/>
        </p:nvSpPr>
        <p:spPr>
          <a:xfrm>
            <a:off x="1571853" y="4029761"/>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검색어 → Gemini embedding</a:t>
            </a:r>
            <a:endParaRPr b="0" i="0" sz="1700" u="none" cap="none" strike="noStrike">
              <a:solidFill>
                <a:schemeClr val="dk1"/>
              </a:solidFill>
              <a:latin typeface="Calibri"/>
              <a:ea typeface="Calibri"/>
              <a:cs typeface="Calibri"/>
              <a:sym typeface="Calibri"/>
            </a:endParaRPr>
          </a:p>
        </p:txBody>
      </p:sp>
      <p:sp>
        <p:nvSpPr>
          <p:cNvPr id="1001" name="Google Shape;1001;g3e955750272_3_954"/>
          <p:cNvSpPr/>
          <p:nvPr/>
        </p:nvSpPr>
        <p:spPr>
          <a:xfrm>
            <a:off x="1200150" y="4630521"/>
            <a:ext cx="257860" cy="257861"/>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02" name="Google Shape;1002;g3e955750272_3_954"/>
          <p:cNvSpPr/>
          <p:nvPr/>
        </p:nvSpPr>
        <p:spPr>
          <a:xfrm>
            <a:off x="1200150" y="4630521"/>
            <a:ext cx="257860" cy="2578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1003" name="Google Shape;1003;g3e955750272_3_954"/>
          <p:cNvSpPr/>
          <p:nvPr/>
        </p:nvSpPr>
        <p:spPr>
          <a:xfrm>
            <a:off x="1571853" y="4572915"/>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공고 내용 embedding과 의미 유사도 비교</a:t>
            </a:r>
            <a:endParaRPr b="0" i="0" sz="1700" u="none" cap="none" strike="noStrike">
              <a:solidFill>
                <a:schemeClr val="dk1"/>
              </a:solidFill>
              <a:latin typeface="Calibri"/>
              <a:ea typeface="Calibri"/>
              <a:cs typeface="Calibri"/>
              <a:sym typeface="Calibri"/>
            </a:endParaRPr>
          </a:p>
        </p:txBody>
      </p:sp>
      <p:sp>
        <p:nvSpPr>
          <p:cNvPr id="1004" name="Google Shape;1004;g3e955750272_3_954"/>
          <p:cNvSpPr/>
          <p:nvPr/>
        </p:nvSpPr>
        <p:spPr>
          <a:xfrm>
            <a:off x="1200150" y="5173675"/>
            <a:ext cx="257860" cy="257861"/>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05" name="Google Shape;1005;g3e955750272_3_954"/>
          <p:cNvSpPr/>
          <p:nvPr/>
        </p:nvSpPr>
        <p:spPr>
          <a:xfrm>
            <a:off x="1200150" y="5173675"/>
            <a:ext cx="257860" cy="2578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1006" name="Google Shape;1006;g3e955750272_3_954"/>
          <p:cNvSpPr/>
          <p:nvPr/>
        </p:nvSpPr>
        <p:spPr>
          <a:xfrm>
            <a:off x="1571853" y="5116068"/>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검색어 안 지역·나이 단서는 보조 점수</a:t>
            </a:r>
            <a:endParaRPr b="0" i="0" sz="1700" u="none" cap="none" strike="noStrike">
              <a:solidFill>
                <a:schemeClr val="dk1"/>
              </a:solidFill>
              <a:latin typeface="Calibri"/>
              <a:ea typeface="Calibri"/>
              <a:cs typeface="Calibri"/>
              <a:sym typeface="Calibri"/>
            </a:endParaRPr>
          </a:p>
        </p:txBody>
      </p:sp>
      <p:sp>
        <p:nvSpPr>
          <p:cNvPr id="1007" name="Google Shape;1007;g3e955750272_3_954"/>
          <p:cNvSpPr/>
          <p:nvPr/>
        </p:nvSpPr>
        <p:spPr>
          <a:xfrm>
            <a:off x="9315908" y="3257550"/>
            <a:ext cx="8058150" cy="257175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08" name="Google Shape;1008;g3e955750272_3_954"/>
          <p:cNvSpPr/>
          <p:nvPr/>
        </p:nvSpPr>
        <p:spPr>
          <a:xfrm>
            <a:off x="9315908" y="3257550"/>
            <a:ext cx="8058150" cy="571957"/>
          </a:xfrm>
          <a:prstGeom prst="rect">
            <a:avLst/>
          </a:prstGeom>
          <a:solidFill>
            <a:srgbClr val="E0F2FE"/>
          </a:solidFill>
          <a:ln cap="flat" cmpd="sng" w="12700">
            <a:solidFill>
              <a:srgbClr val="E0F2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09" name="Google Shape;1009;g3e955750272_3_954"/>
          <p:cNvSpPr/>
          <p:nvPr/>
        </p:nvSpPr>
        <p:spPr>
          <a:xfrm>
            <a:off x="9658808" y="3257550"/>
            <a:ext cx="7372350" cy="57195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4ED8"/>
              </a:buClr>
              <a:buSzPts val="2300"/>
              <a:buFont typeface="Arial"/>
              <a:buNone/>
            </a:pPr>
            <a:r>
              <a:rPr b="1" i="0" lang="en-US" sz="2300" u="none" cap="none" strike="noStrike">
                <a:solidFill>
                  <a:srgbClr val="1D4ED8"/>
                </a:solidFill>
                <a:latin typeface="Arial"/>
                <a:ea typeface="Arial"/>
                <a:cs typeface="Arial"/>
                <a:sym typeface="Arial"/>
              </a:rPr>
              <a:t>조건검색</a:t>
            </a:r>
            <a:endParaRPr b="0" i="0" sz="2300" u="none" cap="none" strike="noStrike">
              <a:solidFill>
                <a:schemeClr val="dk1"/>
              </a:solidFill>
              <a:latin typeface="Calibri"/>
              <a:ea typeface="Calibri"/>
              <a:cs typeface="Calibri"/>
              <a:sym typeface="Calibri"/>
            </a:endParaRPr>
          </a:p>
        </p:txBody>
      </p:sp>
      <p:sp>
        <p:nvSpPr>
          <p:cNvPr id="1010" name="Google Shape;1010;g3e955750272_3_954"/>
          <p:cNvSpPr/>
          <p:nvPr/>
        </p:nvSpPr>
        <p:spPr>
          <a:xfrm>
            <a:off x="9601200" y="4087368"/>
            <a:ext cx="257860" cy="257861"/>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11" name="Google Shape;1011;g3e955750272_3_954"/>
          <p:cNvSpPr/>
          <p:nvPr/>
        </p:nvSpPr>
        <p:spPr>
          <a:xfrm>
            <a:off x="9601200" y="4087368"/>
            <a:ext cx="257860" cy="2578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1012" name="Google Shape;1012;g3e955750272_3_954"/>
          <p:cNvSpPr/>
          <p:nvPr/>
        </p:nvSpPr>
        <p:spPr>
          <a:xfrm>
            <a:off x="9972903" y="4029761"/>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지역 · 분야 · 모집상태: DB 단계 hard filter</a:t>
            </a:r>
            <a:endParaRPr b="0" i="0" sz="1700" u="none" cap="none" strike="noStrike">
              <a:solidFill>
                <a:schemeClr val="dk1"/>
              </a:solidFill>
              <a:latin typeface="Calibri"/>
              <a:ea typeface="Calibri"/>
              <a:cs typeface="Calibri"/>
              <a:sym typeface="Calibri"/>
            </a:endParaRPr>
          </a:p>
        </p:txBody>
      </p:sp>
      <p:sp>
        <p:nvSpPr>
          <p:cNvPr id="1013" name="Google Shape;1013;g3e955750272_3_954"/>
          <p:cNvSpPr/>
          <p:nvPr/>
        </p:nvSpPr>
        <p:spPr>
          <a:xfrm>
            <a:off x="9601200" y="4630521"/>
            <a:ext cx="257860" cy="257861"/>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14" name="Google Shape;1014;g3e955750272_3_954"/>
          <p:cNvSpPr/>
          <p:nvPr/>
        </p:nvSpPr>
        <p:spPr>
          <a:xfrm>
            <a:off x="9601200" y="4630521"/>
            <a:ext cx="257860" cy="2578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1015" name="Google Shape;1015;g3e955750272_3_954"/>
          <p:cNvSpPr/>
          <p:nvPr/>
        </p:nvSpPr>
        <p:spPr>
          <a:xfrm>
            <a:off x="9972903" y="4572915"/>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나이 조건은 공고의 연령 범위와 비교</a:t>
            </a:r>
            <a:endParaRPr b="0" i="0" sz="1700" u="none" cap="none" strike="noStrike">
              <a:solidFill>
                <a:schemeClr val="dk1"/>
              </a:solidFill>
              <a:latin typeface="Calibri"/>
              <a:ea typeface="Calibri"/>
              <a:cs typeface="Calibri"/>
              <a:sym typeface="Calibri"/>
            </a:endParaRPr>
          </a:p>
        </p:txBody>
      </p:sp>
      <p:sp>
        <p:nvSpPr>
          <p:cNvPr id="1016" name="Google Shape;1016;g3e955750272_3_954"/>
          <p:cNvSpPr/>
          <p:nvPr/>
        </p:nvSpPr>
        <p:spPr>
          <a:xfrm>
            <a:off x="9601200" y="5173675"/>
            <a:ext cx="257860" cy="257861"/>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17" name="Google Shape;1017;g3e955750272_3_954"/>
          <p:cNvSpPr/>
          <p:nvPr/>
        </p:nvSpPr>
        <p:spPr>
          <a:xfrm>
            <a:off x="9601200" y="5173675"/>
            <a:ext cx="257860" cy="2578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1018" name="Google Shape;1018;g3e955750272_3_954"/>
          <p:cNvSpPr/>
          <p:nvPr/>
        </p:nvSpPr>
        <p:spPr>
          <a:xfrm>
            <a:off x="9972903" y="5116068"/>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나이는 선택 입력값으로 처리 (미입력 허용)</a:t>
            </a:r>
            <a:endParaRPr b="0" i="0" sz="1700" u="none" cap="none" strike="noStrike">
              <a:solidFill>
                <a:schemeClr val="dk1"/>
              </a:solidFill>
              <a:latin typeface="Calibri"/>
              <a:ea typeface="Calibri"/>
              <a:cs typeface="Calibri"/>
              <a:sym typeface="Calibri"/>
            </a:endParaRPr>
          </a:p>
        </p:txBody>
      </p:sp>
      <p:sp>
        <p:nvSpPr>
          <p:cNvPr id="1019" name="Google Shape;1019;g3e955750272_3_954"/>
          <p:cNvSpPr/>
          <p:nvPr/>
        </p:nvSpPr>
        <p:spPr>
          <a:xfrm>
            <a:off x="914857" y="6114593"/>
            <a:ext cx="8058150" cy="257175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20" name="Google Shape;1020;g3e955750272_3_954"/>
          <p:cNvSpPr/>
          <p:nvPr/>
        </p:nvSpPr>
        <p:spPr>
          <a:xfrm>
            <a:off x="914857" y="6114592"/>
            <a:ext cx="8058150" cy="571958"/>
          </a:xfrm>
          <a:prstGeom prst="rect">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21" name="Google Shape;1021;g3e955750272_3_954"/>
          <p:cNvSpPr/>
          <p:nvPr/>
        </p:nvSpPr>
        <p:spPr>
          <a:xfrm>
            <a:off x="1257757" y="6114592"/>
            <a:ext cx="7372350" cy="5719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2300"/>
              <a:buFont typeface="Arial"/>
              <a:buNone/>
            </a:pPr>
            <a:r>
              <a:rPr b="1" i="0" lang="en-US" sz="2300" u="none" cap="none" strike="noStrike">
                <a:solidFill>
                  <a:srgbClr val="166534"/>
                </a:solidFill>
                <a:latin typeface="Arial"/>
                <a:ea typeface="Arial"/>
                <a:cs typeface="Arial"/>
                <a:sym typeface="Arial"/>
              </a:rPr>
              <a:t>맞춤 추천</a:t>
            </a:r>
            <a:endParaRPr b="0" i="0" sz="2300" u="none" cap="none" strike="noStrike">
              <a:solidFill>
                <a:schemeClr val="dk1"/>
              </a:solidFill>
              <a:latin typeface="Calibri"/>
              <a:ea typeface="Calibri"/>
              <a:cs typeface="Calibri"/>
              <a:sym typeface="Calibri"/>
            </a:endParaRPr>
          </a:p>
        </p:txBody>
      </p:sp>
      <p:sp>
        <p:nvSpPr>
          <p:cNvPr id="1022" name="Google Shape;1022;g3e955750272_3_954"/>
          <p:cNvSpPr/>
          <p:nvPr/>
        </p:nvSpPr>
        <p:spPr>
          <a:xfrm>
            <a:off x="1200150" y="6944411"/>
            <a:ext cx="257860" cy="257860"/>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23" name="Google Shape;1023;g3e955750272_3_954"/>
          <p:cNvSpPr/>
          <p:nvPr/>
        </p:nvSpPr>
        <p:spPr>
          <a:xfrm>
            <a:off x="1200150" y="6944411"/>
            <a:ext cx="257860" cy="2578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1024" name="Google Shape;1024;g3e955750272_3_954"/>
          <p:cNvSpPr/>
          <p:nvPr/>
        </p:nvSpPr>
        <p:spPr>
          <a:xfrm>
            <a:off x="1571853" y="6886803"/>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저장된 프로필 조건 활용</a:t>
            </a:r>
            <a:endParaRPr b="0" i="0" sz="1700" u="none" cap="none" strike="noStrike">
              <a:solidFill>
                <a:schemeClr val="dk1"/>
              </a:solidFill>
              <a:latin typeface="Calibri"/>
              <a:ea typeface="Calibri"/>
              <a:cs typeface="Calibri"/>
              <a:sym typeface="Calibri"/>
            </a:endParaRPr>
          </a:p>
        </p:txBody>
      </p:sp>
      <p:sp>
        <p:nvSpPr>
          <p:cNvPr id="1025" name="Google Shape;1025;g3e955750272_3_954"/>
          <p:cNvSpPr/>
          <p:nvPr/>
        </p:nvSpPr>
        <p:spPr>
          <a:xfrm>
            <a:off x="1200150" y="7487565"/>
            <a:ext cx="257860" cy="257860"/>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26" name="Google Shape;1026;g3e955750272_3_954"/>
          <p:cNvSpPr/>
          <p:nvPr/>
        </p:nvSpPr>
        <p:spPr>
          <a:xfrm>
            <a:off x="1200150" y="7487565"/>
            <a:ext cx="257860" cy="2578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1027" name="Google Shape;1027;g3e955750272_3_954"/>
          <p:cNvSpPr/>
          <p:nvPr/>
        </p:nvSpPr>
        <p:spPr>
          <a:xfrm>
            <a:off x="1571853" y="7429958"/>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스크랩 이력 중 사용 가능한 신호 참고</a:t>
            </a:r>
            <a:endParaRPr b="0" i="0" sz="1700" u="none" cap="none" strike="noStrike">
              <a:solidFill>
                <a:schemeClr val="dk1"/>
              </a:solidFill>
              <a:latin typeface="Calibri"/>
              <a:ea typeface="Calibri"/>
              <a:cs typeface="Calibri"/>
              <a:sym typeface="Calibri"/>
            </a:endParaRPr>
          </a:p>
        </p:txBody>
      </p:sp>
      <p:sp>
        <p:nvSpPr>
          <p:cNvPr id="1028" name="Google Shape;1028;g3e955750272_3_954"/>
          <p:cNvSpPr/>
          <p:nvPr/>
        </p:nvSpPr>
        <p:spPr>
          <a:xfrm>
            <a:off x="1200150" y="8030718"/>
            <a:ext cx="257860" cy="257860"/>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29" name="Google Shape;1029;g3e955750272_3_954"/>
          <p:cNvSpPr/>
          <p:nvPr/>
        </p:nvSpPr>
        <p:spPr>
          <a:xfrm>
            <a:off x="1200150" y="8030718"/>
            <a:ext cx="257860" cy="2578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1030" name="Google Shape;1030;g3e955750272_3_954"/>
          <p:cNvSpPr/>
          <p:nvPr/>
        </p:nvSpPr>
        <p:spPr>
          <a:xfrm>
            <a:off x="1571853" y="7973111"/>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관련 공고를 우선 노출하는 방식</a:t>
            </a:r>
            <a:endParaRPr b="0" i="0" sz="1700" u="none" cap="none" strike="noStrike">
              <a:solidFill>
                <a:schemeClr val="dk1"/>
              </a:solidFill>
              <a:latin typeface="Calibri"/>
              <a:ea typeface="Calibri"/>
              <a:cs typeface="Calibri"/>
              <a:sym typeface="Calibri"/>
            </a:endParaRPr>
          </a:p>
        </p:txBody>
      </p:sp>
      <p:sp>
        <p:nvSpPr>
          <p:cNvPr id="1031" name="Google Shape;1031;g3e955750272_3_954"/>
          <p:cNvSpPr/>
          <p:nvPr/>
        </p:nvSpPr>
        <p:spPr>
          <a:xfrm>
            <a:off x="9315908" y="6114593"/>
            <a:ext cx="8058150" cy="257175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32" name="Google Shape;1032;g3e955750272_3_954"/>
          <p:cNvSpPr/>
          <p:nvPr/>
        </p:nvSpPr>
        <p:spPr>
          <a:xfrm>
            <a:off x="9315908" y="6114592"/>
            <a:ext cx="8058150" cy="571958"/>
          </a:xfrm>
          <a:prstGeom prst="rect">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33" name="Google Shape;1033;g3e955750272_3_954"/>
          <p:cNvSpPr/>
          <p:nvPr/>
        </p:nvSpPr>
        <p:spPr>
          <a:xfrm>
            <a:off x="9658808" y="6114592"/>
            <a:ext cx="7372350" cy="5719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2300"/>
              <a:buFont typeface="Arial"/>
              <a:buNone/>
            </a:pPr>
            <a:r>
              <a:rPr b="1" i="0" lang="en-US" sz="2300" u="none" cap="none" strike="noStrike">
                <a:solidFill>
                  <a:srgbClr val="9A3412"/>
                </a:solidFill>
                <a:latin typeface="Arial"/>
                <a:ea typeface="Arial"/>
                <a:cs typeface="Arial"/>
                <a:sym typeface="Arial"/>
              </a:rPr>
              <a:t>챗봇</a:t>
            </a:r>
            <a:endParaRPr b="0" i="0" sz="2300" u="none" cap="none" strike="noStrike">
              <a:solidFill>
                <a:schemeClr val="dk1"/>
              </a:solidFill>
              <a:latin typeface="Calibri"/>
              <a:ea typeface="Calibri"/>
              <a:cs typeface="Calibri"/>
              <a:sym typeface="Calibri"/>
            </a:endParaRPr>
          </a:p>
        </p:txBody>
      </p:sp>
      <p:sp>
        <p:nvSpPr>
          <p:cNvPr id="1034" name="Google Shape;1034;g3e955750272_3_954"/>
          <p:cNvSpPr/>
          <p:nvPr/>
        </p:nvSpPr>
        <p:spPr>
          <a:xfrm>
            <a:off x="9601200" y="6944411"/>
            <a:ext cx="257860" cy="257860"/>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35" name="Google Shape;1035;g3e955750272_3_954"/>
          <p:cNvSpPr/>
          <p:nvPr/>
        </p:nvSpPr>
        <p:spPr>
          <a:xfrm>
            <a:off x="9601200" y="6944411"/>
            <a:ext cx="257860" cy="2578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1036" name="Google Shape;1036;g3e955750272_3_954"/>
          <p:cNvSpPr/>
          <p:nvPr/>
        </p:nvSpPr>
        <p:spPr>
          <a:xfrm>
            <a:off x="9972903" y="6886803"/>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현재 질문으로 관련 공고를 먼저 검색</a:t>
            </a:r>
            <a:endParaRPr b="0" i="0" sz="1700" u="none" cap="none" strike="noStrike">
              <a:solidFill>
                <a:schemeClr val="dk1"/>
              </a:solidFill>
              <a:latin typeface="Calibri"/>
              <a:ea typeface="Calibri"/>
              <a:cs typeface="Calibri"/>
              <a:sym typeface="Calibri"/>
            </a:endParaRPr>
          </a:p>
        </p:txBody>
      </p:sp>
      <p:sp>
        <p:nvSpPr>
          <p:cNvPr id="1037" name="Google Shape;1037;g3e955750272_3_954"/>
          <p:cNvSpPr/>
          <p:nvPr/>
        </p:nvSpPr>
        <p:spPr>
          <a:xfrm>
            <a:off x="9601200" y="7487565"/>
            <a:ext cx="257860" cy="257860"/>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38" name="Google Shape;1038;g3e955750272_3_954"/>
          <p:cNvSpPr/>
          <p:nvPr/>
        </p:nvSpPr>
        <p:spPr>
          <a:xfrm>
            <a:off x="9601200" y="7487565"/>
            <a:ext cx="257860" cy="2578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1039" name="Google Shape;1039;g3e955750272_3_954"/>
          <p:cNvSpPr/>
          <p:nvPr/>
        </p:nvSpPr>
        <p:spPr>
          <a:xfrm>
            <a:off x="9972903" y="7429958"/>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검색 결과를 컨텍스트로 Gemini가 답변 생성</a:t>
            </a:r>
            <a:endParaRPr b="0" i="0" sz="1700" u="none" cap="none" strike="noStrike">
              <a:solidFill>
                <a:schemeClr val="dk1"/>
              </a:solidFill>
              <a:latin typeface="Calibri"/>
              <a:ea typeface="Calibri"/>
              <a:cs typeface="Calibri"/>
              <a:sym typeface="Calibri"/>
            </a:endParaRPr>
          </a:p>
        </p:txBody>
      </p:sp>
      <p:sp>
        <p:nvSpPr>
          <p:cNvPr id="1040" name="Google Shape;1040;g3e955750272_3_954"/>
          <p:cNvSpPr/>
          <p:nvPr/>
        </p:nvSpPr>
        <p:spPr>
          <a:xfrm>
            <a:off x="9601200" y="8030718"/>
            <a:ext cx="257860" cy="257860"/>
          </a:xfrm>
          <a:prstGeom prst="ellipse">
            <a:avLst/>
          </a:prstGeom>
          <a:solidFill>
            <a:srgbClr val="F6F7F9"/>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41" name="Google Shape;1041;g3e955750272_3_954"/>
          <p:cNvSpPr/>
          <p:nvPr/>
        </p:nvSpPr>
        <p:spPr>
          <a:xfrm>
            <a:off x="9601200" y="8030718"/>
            <a:ext cx="257860" cy="2578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1042" name="Google Shape;1042;g3e955750272_3_954"/>
          <p:cNvSpPr/>
          <p:nvPr/>
        </p:nvSpPr>
        <p:spPr>
          <a:xfrm>
            <a:off x="9972903" y="7973111"/>
            <a:ext cx="705825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700"/>
              <a:buFont typeface="Arial"/>
              <a:buNone/>
            </a:pPr>
            <a:r>
              <a:rPr b="0" i="0" lang="en-US" sz="1700" u="none" cap="none" strike="noStrike">
                <a:solidFill>
                  <a:srgbClr val="1A1A22"/>
                </a:solidFill>
                <a:latin typeface="Arial"/>
                <a:ea typeface="Arial"/>
                <a:cs typeface="Arial"/>
                <a:sym typeface="Arial"/>
              </a:rPr>
              <a:t>현재 질문 중심의 검색·답변 흐름</a:t>
            </a:r>
            <a:endParaRPr b="0" i="0" sz="1700" u="none" cap="none" strike="noStrike">
              <a:solidFill>
                <a:schemeClr val="dk1"/>
              </a:solidFill>
              <a:latin typeface="Calibri"/>
              <a:ea typeface="Calibri"/>
              <a:cs typeface="Calibri"/>
              <a:sym typeface="Calibri"/>
            </a:endParaRPr>
          </a:p>
        </p:txBody>
      </p:sp>
      <p:sp>
        <p:nvSpPr>
          <p:cNvPr id="1043" name="Google Shape;1043;g3e955750272_3_954"/>
          <p:cNvSpPr/>
          <p:nvPr/>
        </p:nvSpPr>
        <p:spPr>
          <a:xfrm>
            <a:off x="914857" y="8743950"/>
            <a:ext cx="16459200" cy="799643"/>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44" name="Google Shape;1044;g3e955750272_3_954"/>
          <p:cNvSpPr/>
          <p:nvPr/>
        </p:nvSpPr>
        <p:spPr>
          <a:xfrm>
            <a:off x="914858" y="8743950"/>
            <a:ext cx="57608" cy="799643"/>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45" name="Google Shape;1045;g3e955750272_3_954"/>
          <p:cNvSpPr/>
          <p:nvPr/>
        </p:nvSpPr>
        <p:spPr>
          <a:xfrm>
            <a:off x="1257757" y="8743950"/>
            <a:ext cx="15773400" cy="7996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000"/>
              <a:buFont typeface="Arial"/>
              <a:buNone/>
            </a:pPr>
            <a:r>
              <a:rPr b="1" i="0" lang="en-US" sz="2000" u="none" cap="none" strike="noStrike">
                <a:solidFill>
                  <a:srgbClr val="1A1A22"/>
                </a:solidFill>
                <a:latin typeface="Arial"/>
                <a:ea typeface="Arial"/>
                <a:cs typeface="Arial"/>
                <a:sym typeface="Arial"/>
              </a:rPr>
              <a:t>기능별로 다르게 구성</a:t>
            </a:r>
            <a:r>
              <a:rPr b="0" i="0" lang="en-US" sz="2000" u="none" cap="none" strike="noStrike">
                <a:solidFill>
                  <a:srgbClr val="4A4F5A"/>
                </a:solidFill>
                <a:latin typeface="Arial"/>
                <a:ea typeface="Arial"/>
                <a:cs typeface="Arial"/>
                <a:sym typeface="Arial"/>
              </a:rPr>
              <a:t>  ·  검색 / 추천 / 챗봇은 같은 데이터를 쓰되 서로 다른 로직으로 동작합니다.</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0" name="Shape 1050"/>
        <p:cNvGrpSpPr/>
        <p:nvPr/>
      </p:nvGrpSpPr>
      <p:grpSpPr>
        <a:xfrm>
          <a:off x="0" y="0"/>
          <a:ext cx="0" cy="0"/>
          <a:chOff x="0" y="0"/>
          <a:chExt cx="0" cy="0"/>
        </a:xfrm>
      </p:grpSpPr>
      <p:sp>
        <p:nvSpPr>
          <p:cNvPr id="1051" name="Google Shape;1051;g3e955750272_3_1016"/>
          <p:cNvSpPr/>
          <p:nvPr/>
        </p:nvSpPr>
        <p:spPr>
          <a:xfrm>
            <a:off x="914858" y="772211"/>
            <a:ext cx="113850" cy="113850"/>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52" name="Google Shape;1052;g3e955750272_3_1016"/>
          <p:cNvSpPr/>
          <p:nvPr/>
        </p:nvSpPr>
        <p:spPr>
          <a:xfrm>
            <a:off x="1143915" y="685800"/>
            <a:ext cx="16230150" cy="28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CH.06  ·  프로그램 구조</a:t>
            </a:r>
            <a:endParaRPr b="0" i="0" sz="1400" u="none" cap="none" strike="noStrike">
              <a:solidFill>
                <a:schemeClr val="dk1"/>
              </a:solidFill>
              <a:latin typeface="Calibri"/>
              <a:ea typeface="Calibri"/>
              <a:cs typeface="Calibri"/>
              <a:sym typeface="Calibri"/>
            </a:endParaRPr>
          </a:p>
        </p:txBody>
      </p:sp>
      <p:sp>
        <p:nvSpPr>
          <p:cNvPr id="1053" name="Google Shape;1053;g3e955750272_3_1016"/>
          <p:cNvSpPr/>
          <p:nvPr/>
        </p:nvSpPr>
        <p:spPr>
          <a:xfrm>
            <a:off x="914857" y="1200150"/>
            <a:ext cx="16459200" cy="799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프로그램 구조</a:t>
            </a:r>
            <a:endParaRPr b="0" i="0" sz="4200" u="none" cap="none" strike="noStrike">
              <a:solidFill>
                <a:schemeClr val="dk1"/>
              </a:solidFill>
              <a:latin typeface="Calibri"/>
              <a:ea typeface="Calibri"/>
              <a:cs typeface="Calibri"/>
              <a:sym typeface="Calibri"/>
            </a:endParaRPr>
          </a:p>
        </p:txBody>
      </p:sp>
      <p:sp>
        <p:nvSpPr>
          <p:cNvPr id="1054" name="Google Shape;1054;g3e955750272_3_1016"/>
          <p:cNvSpPr/>
          <p:nvPr/>
        </p:nvSpPr>
        <p:spPr>
          <a:xfrm>
            <a:off x="914857" y="2115007"/>
            <a:ext cx="16459200" cy="40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화면, API, DB, AI 역할을 나눠 구현했습니다.</a:t>
            </a:r>
            <a:endParaRPr b="0" i="0" sz="2000" u="none" cap="none" strike="noStrike">
              <a:solidFill>
                <a:schemeClr val="dk1"/>
              </a:solidFill>
              <a:latin typeface="Calibri"/>
              <a:ea typeface="Calibri"/>
              <a:cs typeface="Calibri"/>
              <a:sym typeface="Calibri"/>
            </a:endParaRPr>
          </a:p>
        </p:txBody>
      </p:sp>
      <p:sp>
        <p:nvSpPr>
          <p:cNvPr id="1055" name="Google Shape;1055;g3e955750272_3_1016"/>
          <p:cNvSpPr/>
          <p:nvPr/>
        </p:nvSpPr>
        <p:spPr>
          <a:xfrm>
            <a:off x="914857" y="2685593"/>
            <a:ext cx="16459200" cy="135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56" name="Google Shape;1056;g3e955750272_3_1016"/>
          <p:cNvSpPr/>
          <p:nvPr/>
        </p:nvSpPr>
        <p:spPr>
          <a:xfrm>
            <a:off x="914857" y="9543592"/>
            <a:ext cx="1142955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프로그램 구조</a:t>
            </a:r>
            <a:endParaRPr b="0" i="0" sz="1400" u="none" cap="none" strike="noStrike">
              <a:solidFill>
                <a:schemeClr val="dk1"/>
              </a:solidFill>
              <a:latin typeface="Calibri"/>
              <a:ea typeface="Calibri"/>
              <a:cs typeface="Calibri"/>
              <a:sym typeface="Calibri"/>
            </a:endParaRPr>
          </a:p>
        </p:txBody>
      </p:sp>
      <p:sp>
        <p:nvSpPr>
          <p:cNvPr id="1057" name="Google Shape;1057;g3e955750272_3_1016"/>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20 / 23</a:t>
            </a:r>
            <a:endParaRPr b="0" i="0" sz="1400" u="none" cap="none" strike="noStrike">
              <a:solidFill>
                <a:schemeClr val="dk1"/>
              </a:solidFill>
              <a:latin typeface="Calibri"/>
              <a:ea typeface="Calibri"/>
              <a:cs typeface="Calibri"/>
              <a:sym typeface="Calibri"/>
            </a:endParaRPr>
          </a:p>
        </p:txBody>
      </p:sp>
      <p:sp>
        <p:nvSpPr>
          <p:cNvPr id="1058" name="Google Shape;1058;g3e955750272_3_1016"/>
          <p:cNvSpPr/>
          <p:nvPr/>
        </p:nvSpPr>
        <p:spPr>
          <a:xfrm>
            <a:off x="914888" y="6830550"/>
            <a:ext cx="16459200" cy="26172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59" name="Google Shape;1059;g3e955750272_3_1016"/>
          <p:cNvSpPr/>
          <p:nvPr/>
        </p:nvSpPr>
        <p:spPr>
          <a:xfrm>
            <a:off x="1127103" y="7030792"/>
            <a:ext cx="11818350" cy="28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스크랩 예시 : USER → Next.js → API Route → Supabase (Gemini 미사용) </a:t>
            </a:r>
            <a:endParaRPr b="0" i="0" sz="1700" u="none" cap="none" strike="noStrike">
              <a:solidFill>
                <a:schemeClr val="dk1"/>
              </a:solidFill>
              <a:latin typeface="Calibri"/>
              <a:ea typeface="Calibri"/>
              <a:cs typeface="Calibri"/>
              <a:sym typeface="Calibri"/>
            </a:endParaRPr>
          </a:p>
        </p:txBody>
      </p:sp>
      <p:grpSp>
        <p:nvGrpSpPr>
          <p:cNvPr id="1060" name="Google Shape;1060;g3e955750272_3_1016"/>
          <p:cNvGrpSpPr/>
          <p:nvPr/>
        </p:nvGrpSpPr>
        <p:grpSpPr>
          <a:xfrm>
            <a:off x="1127052" y="7365954"/>
            <a:ext cx="11896469" cy="636461"/>
            <a:chOff x="751402" y="5010893"/>
            <a:chExt cx="7878977" cy="609900"/>
          </a:xfrm>
        </p:grpSpPr>
        <p:sp>
          <p:nvSpPr>
            <p:cNvPr id="1061" name="Google Shape;1061;g3e955750272_3_1016"/>
            <p:cNvSpPr/>
            <p:nvPr/>
          </p:nvSpPr>
          <p:spPr>
            <a:xfrm>
              <a:off x="751402" y="5010893"/>
              <a:ext cx="2437200" cy="609900"/>
            </a:xfrm>
            <a:prstGeom prst="rect">
              <a:avLst/>
            </a:prstGeom>
            <a:solidFill>
              <a:srgbClr val="FFFFFF"/>
            </a:solidFill>
            <a:ln cap="flat" cmpd="sng" w="9600">
              <a:solidFill>
                <a:srgbClr val="E5E7EB"/>
              </a:solidFill>
              <a:prstDash val="solid"/>
              <a:round/>
              <a:headEnd len="sm" w="sm" type="none"/>
              <a:tailEnd len="sm" w="sm" type="none"/>
            </a:ln>
          </p:spPr>
          <p:txBody>
            <a:bodyPr anchorCtr="0" anchor="ctr" bIns="138050" lIns="138050" spcFirstLastPara="1" rIns="138050" wrap="square" tIns="1380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62" name="Google Shape;1062;g3e955750272_3_1016"/>
            <p:cNvSpPr/>
            <p:nvPr/>
          </p:nvSpPr>
          <p:spPr>
            <a:xfrm>
              <a:off x="751402" y="5010893"/>
              <a:ext cx="21000" cy="609900"/>
            </a:xfrm>
            <a:prstGeom prst="rect">
              <a:avLst/>
            </a:prstGeom>
            <a:solidFill>
              <a:srgbClr val="3F3FB8"/>
            </a:solidFill>
            <a:ln cap="flat" cmpd="sng" w="12775">
              <a:solidFill>
                <a:srgbClr val="3F3FB8"/>
              </a:solidFill>
              <a:prstDash val="solid"/>
              <a:round/>
              <a:headEnd len="sm" w="sm" type="none"/>
              <a:tailEnd len="sm" w="sm" type="none"/>
            </a:ln>
          </p:spPr>
          <p:txBody>
            <a:bodyPr anchorCtr="0" anchor="ctr" bIns="138050" lIns="138050" spcFirstLastPara="1" rIns="138050" wrap="square" tIns="1380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63" name="Google Shape;1063;g3e955750272_3_1016"/>
            <p:cNvSpPr/>
            <p:nvPr/>
          </p:nvSpPr>
          <p:spPr>
            <a:xfrm>
              <a:off x="850714" y="5105991"/>
              <a:ext cx="2238600" cy="15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USER</a:t>
              </a:r>
              <a:endParaRPr b="0" i="0" sz="1400" u="none" cap="none" strike="noStrike">
                <a:solidFill>
                  <a:schemeClr val="dk1"/>
                </a:solidFill>
                <a:latin typeface="Calibri"/>
                <a:ea typeface="Calibri"/>
                <a:cs typeface="Calibri"/>
                <a:sym typeface="Calibri"/>
              </a:endParaRPr>
            </a:p>
          </p:txBody>
        </p:sp>
        <p:sp>
          <p:nvSpPr>
            <p:cNvPr id="1064" name="Google Shape;1064;g3e955750272_3_1016"/>
            <p:cNvSpPr/>
            <p:nvPr/>
          </p:nvSpPr>
          <p:spPr>
            <a:xfrm>
              <a:off x="850714" y="5277898"/>
              <a:ext cx="22386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별표 클릭</a:t>
              </a:r>
              <a:endParaRPr b="0" i="0" sz="1800" u="none" cap="none" strike="noStrike">
                <a:solidFill>
                  <a:schemeClr val="dk1"/>
                </a:solidFill>
                <a:latin typeface="Calibri"/>
                <a:ea typeface="Calibri"/>
                <a:cs typeface="Calibri"/>
                <a:sym typeface="Calibri"/>
              </a:endParaRPr>
            </a:p>
          </p:txBody>
        </p:sp>
        <p:sp>
          <p:nvSpPr>
            <p:cNvPr id="1065" name="Google Shape;1065;g3e955750272_3_1016"/>
            <p:cNvSpPr/>
            <p:nvPr/>
          </p:nvSpPr>
          <p:spPr>
            <a:xfrm>
              <a:off x="3188638" y="5182800"/>
              <a:ext cx="283800" cy="2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700"/>
                <a:buFont typeface="Arial"/>
                <a:buNone/>
              </a:pPr>
              <a:r>
                <a:rPr b="1" i="0" lang="en-US" sz="2700" u="none" cap="none" strike="noStrike">
                  <a:solidFill>
                    <a:srgbClr val="8A8F99"/>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1066" name="Google Shape;1066;g3e955750272_3_1016"/>
            <p:cNvSpPr/>
            <p:nvPr/>
          </p:nvSpPr>
          <p:spPr>
            <a:xfrm>
              <a:off x="3472291" y="5010893"/>
              <a:ext cx="2437200" cy="609900"/>
            </a:xfrm>
            <a:prstGeom prst="rect">
              <a:avLst/>
            </a:prstGeom>
            <a:solidFill>
              <a:srgbClr val="FFFFFF"/>
            </a:solidFill>
            <a:ln cap="flat" cmpd="sng" w="9600">
              <a:solidFill>
                <a:srgbClr val="E5E7EB"/>
              </a:solidFill>
              <a:prstDash val="solid"/>
              <a:round/>
              <a:headEnd len="sm" w="sm" type="none"/>
              <a:tailEnd len="sm" w="sm" type="none"/>
            </a:ln>
          </p:spPr>
          <p:txBody>
            <a:bodyPr anchorCtr="0" anchor="ctr" bIns="138050" lIns="138050" spcFirstLastPara="1" rIns="138050" wrap="square" tIns="1380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67" name="Google Shape;1067;g3e955750272_3_1016"/>
            <p:cNvSpPr/>
            <p:nvPr/>
          </p:nvSpPr>
          <p:spPr>
            <a:xfrm>
              <a:off x="3472291" y="5010893"/>
              <a:ext cx="21000" cy="609900"/>
            </a:xfrm>
            <a:prstGeom prst="rect">
              <a:avLst/>
            </a:prstGeom>
            <a:solidFill>
              <a:srgbClr val="1D4ED8"/>
            </a:solidFill>
            <a:ln cap="flat" cmpd="sng" w="12775">
              <a:solidFill>
                <a:srgbClr val="1D4ED8"/>
              </a:solidFill>
              <a:prstDash val="solid"/>
              <a:round/>
              <a:headEnd len="sm" w="sm" type="none"/>
              <a:tailEnd len="sm" w="sm" type="none"/>
            </a:ln>
          </p:spPr>
          <p:txBody>
            <a:bodyPr anchorCtr="0" anchor="ctr" bIns="138050" lIns="138050" spcFirstLastPara="1" rIns="138050" wrap="square" tIns="1380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68" name="Google Shape;1068;g3e955750272_3_1016"/>
            <p:cNvSpPr/>
            <p:nvPr/>
          </p:nvSpPr>
          <p:spPr>
            <a:xfrm>
              <a:off x="3571603" y="5105991"/>
              <a:ext cx="2238600" cy="15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API ROUTE</a:t>
              </a:r>
              <a:endParaRPr b="0" i="0" sz="1400" u="none" cap="none" strike="noStrike">
                <a:solidFill>
                  <a:schemeClr val="dk1"/>
                </a:solidFill>
                <a:latin typeface="Calibri"/>
                <a:ea typeface="Calibri"/>
                <a:cs typeface="Calibri"/>
                <a:sym typeface="Calibri"/>
              </a:endParaRPr>
            </a:p>
          </p:txBody>
        </p:sp>
        <p:sp>
          <p:nvSpPr>
            <p:cNvPr id="1069" name="Google Shape;1069;g3e955750272_3_1016"/>
            <p:cNvSpPr/>
            <p:nvPr/>
          </p:nvSpPr>
          <p:spPr>
            <a:xfrm>
              <a:off x="3571603" y="5277898"/>
              <a:ext cx="22386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스크랩 저장 요청 처리</a:t>
              </a:r>
              <a:endParaRPr b="0" i="0" sz="1800" u="none" cap="none" strike="noStrike">
                <a:solidFill>
                  <a:schemeClr val="dk1"/>
                </a:solidFill>
                <a:latin typeface="Calibri"/>
                <a:ea typeface="Calibri"/>
                <a:cs typeface="Calibri"/>
                <a:sym typeface="Calibri"/>
              </a:endParaRPr>
            </a:p>
          </p:txBody>
        </p:sp>
        <p:sp>
          <p:nvSpPr>
            <p:cNvPr id="1070" name="Google Shape;1070;g3e955750272_3_1016"/>
            <p:cNvSpPr/>
            <p:nvPr/>
          </p:nvSpPr>
          <p:spPr>
            <a:xfrm>
              <a:off x="5909527" y="5182800"/>
              <a:ext cx="283800" cy="2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700"/>
                <a:buFont typeface="Arial"/>
                <a:buNone/>
              </a:pPr>
              <a:r>
                <a:rPr b="1" i="0" lang="en-US" sz="2700" u="none" cap="none" strike="noStrike">
                  <a:solidFill>
                    <a:srgbClr val="8A8F99"/>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1071" name="Google Shape;1071;g3e955750272_3_1016"/>
            <p:cNvSpPr/>
            <p:nvPr/>
          </p:nvSpPr>
          <p:spPr>
            <a:xfrm>
              <a:off x="6193179" y="5010893"/>
              <a:ext cx="2437200" cy="609900"/>
            </a:xfrm>
            <a:prstGeom prst="rect">
              <a:avLst/>
            </a:prstGeom>
            <a:solidFill>
              <a:srgbClr val="FFFFFF"/>
            </a:solidFill>
            <a:ln cap="flat" cmpd="sng" w="9600">
              <a:solidFill>
                <a:srgbClr val="E5E7EB"/>
              </a:solidFill>
              <a:prstDash val="solid"/>
              <a:round/>
              <a:headEnd len="sm" w="sm" type="none"/>
              <a:tailEnd len="sm" w="sm" type="none"/>
            </a:ln>
          </p:spPr>
          <p:txBody>
            <a:bodyPr anchorCtr="0" anchor="ctr" bIns="138050" lIns="138050" spcFirstLastPara="1" rIns="138050" wrap="square" tIns="1380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72" name="Google Shape;1072;g3e955750272_3_1016"/>
            <p:cNvSpPr/>
            <p:nvPr/>
          </p:nvSpPr>
          <p:spPr>
            <a:xfrm>
              <a:off x="6193179" y="5010893"/>
              <a:ext cx="21000" cy="609900"/>
            </a:xfrm>
            <a:prstGeom prst="rect">
              <a:avLst/>
            </a:prstGeom>
            <a:solidFill>
              <a:srgbClr val="166534"/>
            </a:solidFill>
            <a:ln cap="flat" cmpd="sng" w="12775">
              <a:solidFill>
                <a:srgbClr val="166534"/>
              </a:solidFill>
              <a:prstDash val="solid"/>
              <a:round/>
              <a:headEnd len="sm" w="sm" type="none"/>
              <a:tailEnd len="sm" w="sm" type="none"/>
            </a:ln>
          </p:spPr>
          <p:txBody>
            <a:bodyPr anchorCtr="0" anchor="ctr" bIns="138050" lIns="138050" spcFirstLastPara="1" rIns="138050" wrap="square" tIns="1380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73" name="Google Shape;1073;g3e955750272_3_1016"/>
            <p:cNvSpPr/>
            <p:nvPr/>
          </p:nvSpPr>
          <p:spPr>
            <a:xfrm>
              <a:off x="6292492" y="5105991"/>
              <a:ext cx="2238600" cy="15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SUPABASE</a:t>
              </a:r>
              <a:endParaRPr b="0" i="0" sz="1400" u="none" cap="none" strike="noStrike">
                <a:solidFill>
                  <a:schemeClr val="dk1"/>
                </a:solidFill>
                <a:latin typeface="Calibri"/>
                <a:ea typeface="Calibri"/>
                <a:cs typeface="Calibri"/>
                <a:sym typeface="Calibri"/>
              </a:endParaRPr>
            </a:p>
          </p:txBody>
        </p:sp>
        <p:sp>
          <p:nvSpPr>
            <p:cNvPr id="1074" name="Google Shape;1074;g3e955750272_3_1016"/>
            <p:cNvSpPr/>
            <p:nvPr/>
          </p:nvSpPr>
          <p:spPr>
            <a:xfrm>
              <a:off x="6292492" y="5277898"/>
              <a:ext cx="22386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scraps 테이블에 저장</a:t>
              </a:r>
              <a:endParaRPr b="0" i="0" sz="1800" u="none" cap="none" strike="noStrike">
                <a:solidFill>
                  <a:schemeClr val="dk1"/>
                </a:solidFill>
                <a:latin typeface="Calibri"/>
                <a:ea typeface="Calibri"/>
                <a:cs typeface="Calibri"/>
                <a:sym typeface="Calibri"/>
              </a:endParaRPr>
            </a:p>
          </p:txBody>
        </p:sp>
      </p:grpSp>
      <p:sp>
        <p:nvSpPr>
          <p:cNvPr id="1075" name="Google Shape;1075;g3e955750272_3_1016"/>
          <p:cNvSpPr/>
          <p:nvPr/>
        </p:nvSpPr>
        <p:spPr>
          <a:xfrm>
            <a:off x="1121250" y="8549513"/>
            <a:ext cx="3681000" cy="636300"/>
          </a:xfrm>
          <a:prstGeom prst="rect">
            <a:avLst/>
          </a:prstGeom>
          <a:solidFill>
            <a:srgbClr val="FFFFFF"/>
          </a:solidFill>
          <a:ln cap="flat" cmpd="sng" w="9600">
            <a:solidFill>
              <a:srgbClr val="E5E7EB"/>
            </a:solidFill>
            <a:prstDash val="solid"/>
            <a:round/>
            <a:headEnd len="sm" w="sm" type="none"/>
            <a:tailEnd len="sm" w="sm" type="none"/>
          </a:ln>
        </p:spPr>
        <p:txBody>
          <a:bodyPr anchorCtr="0" anchor="ctr" bIns="138075" lIns="138075" spcFirstLastPara="1" rIns="138075" wrap="square" tIns="13807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76" name="Google Shape;1076;g3e955750272_3_1016"/>
          <p:cNvSpPr/>
          <p:nvPr/>
        </p:nvSpPr>
        <p:spPr>
          <a:xfrm>
            <a:off x="1121250" y="8549513"/>
            <a:ext cx="31500" cy="636300"/>
          </a:xfrm>
          <a:prstGeom prst="rect">
            <a:avLst/>
          </a:prstGeom>
          <a:solidFill>
            <a:srgbClr val="3F3FB8"/>
          </a:solidFill>
          <a:ln cap="flat" cmpd="sng" w="12775">
            <a:solidFill>
              <a:srgbClr val="3F3FB8"/>
            </a:solidFill>
            <a:prstDash val="solid"/>
            <a:round/>
            <a:headEnd len="sm" w="sm" type="none"/>
            <a:tailEnd len="sm" w="sm" type="none"/>
          </a:ln>
        </p:spPr>
        <p:txBody>
          <a:bodyPr anchorCtr="0" anchor="ctr" bIns="138075" lIns="138075" spcFirstLastPara="1" rIns="138075" wrap="square" tIns="13807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77" name="Google Shape;1077;g3e955750272_3_1016"/>
          <p:cNvSpPr/>
          <p:nvPr/>
        </p:nvSpPr>
        <p:spPr>
          <a:xfrm>
            <a:off x="1271245" y="8648775"/>
            <a:ext cx="3380850" cy="15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1400"/>
              <a:buFont typeface="Arial"/>
              <a:buNone/>
            </a:pPr>
            <a:r>
              <a:rPr b="1" i="0" lang="en-US" sz="1400" u="none" cap="none" strike="noStrike">
                <a:solidFill>
                  <a:srgbClr val="3F3FB8"/>
                </a:solidFill>
                <a:latin typeface="Arial"/>
                <a:ea typeface="Arial"/>
                <a:cs typeface="Arial"/>
                <a:sym typeface="Arial"/>
              </a:rPr>
              <a:t>USER</a:t>
            </a:r>
            <a:endParaRPr b="0" i="0" sz="1400" u="none" cap="none" strike="noStrike">
              <a:solidFill>
                <a:schemeClr val="dk1"/>
              </a:solidFill>
              <a:latin typeface="Calibri"/>
              <a:ea typeface="Calibri"/>
              <a:cs typeface="Calibri"/>
              <a:sym typeface="Calibri"/>
            </a:endParaRPr>
          </a:p>
        </p:txBody>
      </p:sp>
      <p:sp>
        <p:nvSpPr>
          <p:cNvPr id="1078" name="Google Shape;1078;g3e955750272_3_1016"/>
          <p:cNvSpPr/>
          <p:nvPr/>
        </p:nvSpPr>
        <p:spPr>
          <a:xfrm>
            <a:off x="1271245" y="8828211"/>
            <a:ext cx="3380850" cy="278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질문 입력 </a:t>
            </a:r>
            <a:endParaRPr b="0" i="0" sz="1800" u="none" cap="none" strike="noStrike">
              <a:solidFill>
                <a:schemeClr val="dk1"/>
              </a:solidFill>
              <a:latin typeface="Calibri"/>
              <a:ea typeface="Calibri"/>
              <a:cs typeface="Calibri"/>
              <a:sym typeface="Calibri"/>
            </a:endParaRPr>
          </a:p>
        </p:txBody>
      </p:sp>
      <p:sp>
        <p:nvSpPr>
          <p:cNvPr id="1079" name="Google Shape;1079;g3e955750272_3_1016"/>
          <p:cNvSpPr/>
          <p:nvPr/>
        </p:nvSpPr>
        <p:spPr>
          <a:xfrm>
            <a:off x="4802319" y="8728949"/>
            <a:ext cx="428400" cy="2785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700"/>
              <a:buFont typeface="Arial"/>
              <a:buNone/>
            </a:pPr>
            <a:r>
              <a:rPr b="1" i="0" lang="en-US" sz="2700" u="none" cap="none" strike="noStrike">
                <a:solidFill>
                  <a:srgbClr val="8A8F99"/>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1080" name="Google Shape;1080;g3e955750272_3_1016"/>
          <p:cNvSpPr/>
          <p:nvPr/>
        </p:nvSpPr>
        <p:spPr>
          <a:xfrm>
            <a:off x="5230734" y="8549513"/>
            <a:ext cx="3681000" cy="636300"/>
          </a:xfrm>
          <a:prstGeom prst="rect">
            <a:avLst/>
          </a:prstGeom>
          <a:solidFill>
            <a:srgbClr val="FFFFFF"/>
          </a:solidFill>
          <a:ln cap="flat" cmpd="sng" w="9600">
            <a:solidFill>
              <a:srgbClr val="E5E7EB"/>
            </a:solidFill>
            <a:prstDash val="solid"/>
            <a:round/>
            <a:headEnd len="sm" w="sm" type="none"/>
            <a:tailEnd len="sm" w="sm" type="none"/>
          </a:ln>
        </p:spPr>
        <p:txBody>
          <a:bodyPr anchorCtr="0" anchor="ctr" bIns="138075" lIns="138075" spcFirstLastPara="1" rIns="138075" wrap="square" tIns="13807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81" name="Google Shape;1081;g3e955750272_3_1016"/>
          <p:cNvSpPr/>
          <p:nvPr/>
        </p:nvSpPr>
        <p:spPr>
          <a:xfrm>
            <a:off x="5230734" y="8549513"/>
            <a:ext cx="31500" cy="636300"/>
          </a:xfrm>
          <a:prstGeom prst="rect">
            <a:avLst/>
          </a:prstGeom>
          <a:solidFill>
            <a:srgbClr val="1D4ED8"/>
          </a:solidFill>
          <a:ln cap="flat" cmpd="sng" w="12775">
            <a:solidFill>
              <a:srgbClr val="1D4ED8"/>
            </a:solidFill>
            <a:prstDash val="solid"/>
            <a:round/>
            <a:headEnd len="sm" w="sm" type="none"/>
            <a:tailEnd len="sm" w="sm" type="none"/>
          </a:ln>
        </p:spPr>
        <p:txBody>
          <a:bodyPr anchorCtr="0" anchor="ctr" bIns="138075" lIns="138075" spcFirstLastPara="1" rIns="138075" wrap="square" tIns="13807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82" name="Google Shape;1082;g3e955750272_3_1016"/>
          <p:cNvSpPr/>
          <p:nvPr/>
        </p:nvSpPr>
        <p:spPr>
          <a:xfrm>
            <a:off x="5380730" y="8648775"/>
            <a:ext cx="3380850" cy="15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API ROUTE</a:t>
            </a:r>
            <a:endParaRPr b="0" i="0" sz="1400" u="none" cap="none" strike="noStrike">
              <a:solidFill>
                <a:schemeClr val="dk1"/>
              </a:solidFill>
              <a:latin typeface="Calibri"/>
              <a:ea typeface="Calibri"/>
              <a:cs typeface="Calibri"/>
              <a:sym typeface="Calibri"/>
            </a:endParaRPr>
          </a:p>
        </p:txBody>
      </p:sp>
      <p:sp>
        <p:nvSpPr>
          <p:cNvPr id="1083" name="Google Shape;1083;g3e955750272_3_1016"/>
          <p:cNvSpPr/>
          <p:nvPr/>
        </p:nvSpPr>
        <p:spPr>
          <a:xfrm>
            <a:off x="5380730" y="8828211"/>
            <a:ext cx="3380850" cy="278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챗봇 검색 요청 처리 </a:t>
            </a:r>
            <a:endParaRPr b="0" i="0" sz="1800" u="none" cap="none" strike="noStrike">
              <a:solidFill>
                <a:schemeClr val="dk1"/>
              </a:solidFill>
              <a:latin typeface="Calibri"/>
              <a:ea typeface="Calibri"/>
              <a:cs typeface="Calibri"/>
              <a:sym typeface="Calibri"/>
            </a:endParaRPr>
          </a:p>
        </p:txBody>
      </p:sp>
      <p:sp>
        <p:nvSpPr>
          <p:cNvPr id="1084" name="Google Shape;1084;g3e955750272_3_1016"/>
          <p:cNvSpPr/>
          <p:nvPr/>
        </p:nvSpPr>
        <p:spPr>
          <a:xfrm>
            <a:off x="8911803" y="8728949"/>
            <a:ext cx="428400" cy="2785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700"/>
              <a:buFont typeface="Arial"/>
              <a:buNone/>
            </a:pPr>
            <a:r>
              <a:rPr b="1" i="0" lang="en-US" sz="2700" u="none" cap="none" strike="noStrike">
                <a:solidFill>
                  <a:srgbClr val="8A8F99"/>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1085" name="Google Shape;1085;g3e955750272_3_1016"/>
          <p:cNvSpPr/>
          <p:nvPr/>
        </p:nvSpPr>
        <p:spPr>
          <a:xfrm>
            <a:off x="9340217" y="8549513"/>
            <a:ext cx="3681000" cy="636300"/>
          </a:xfrm>
          <a:prstGeom prst="rect">
            <a:avLst/>
          </a:prstGeom>
          <a:solidFill>
            <a:srgbClr val="FFFFFF"/>
          </a:solidFill>
          <a:ln cap="flat" cmpd="sng" w="9600">
            <a:solidFill>
              <a:srgbClr val="E5E7EB"/>
            </a:solidFill>
            <a:prstDash val="solid"/>
            <a:round/>
            <a:headEnd len="sm" w="sm" type="none"/>
            <a:tailEnd len="sm" w="sm" type="none"/>
          </a:ln>
        </p:spPr>
        <p:txBody>
          <a:bodyPr anchorCtr="0" anchor="ctr" bIns="138075" lIns="138075" spcFirstLastPara="1" rIns="138075" wrap="square" tIns="13807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86" name="Google Shape;1086;g3e955750272_3_1016"/>
          <p:cNvSpPr/>
          <p:nvPr/>
        </p:nvSpPr>
        <p:spPr>
          <a:xfrm>
            <a:off x="9340217" y="8549513"/>
            <a:ext cx="31500" cy="636300"/>
          </a:xfrm>
          <a:prstGeom prst="rect">
            <a:avLst/>
          </a:prstGeom>
          <a:solidFill>
            <a:srgbClr val="166534"/>
          </a:solidFill>
          <a:ln cap="flat" cmpd="sng" w="12775">
            <a:solidFill>
              <a:srgbClr val="166534"/>
            </a:solidFill>
            <a:prstDash val="solid"/>
            <a:round/>
            <a:headEnd len="sm" w="sm" type="none"/>
            <a:tailEnd len="sm" w="sm" type="none"/>
          </a:ln>
        </p:spPr>
        <p:txBody>
          <a:bodyPr anchorCtr="0" anchor="ctr" bIns="138075" lIns="138075" spcFirstLastPara="1" rIns="138075" wrap="square" tIns="13807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87" name="Google Shape;1087;g3e955750272_3_1016"/>
          <p:cNvSpPr/>
          <p:nvPr/>
        </p:nvSpPr>
        <p:spPr>
          <a:xfrm>
            <a:off x="9490212" y="8648775"/>
            <a:ext cx="3380850" cy="15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SUPABASE</a:t>
            </a:r>
            <a:endParaRPr b="0" i="0" sz="1400" u="none" cap="none" strike="noStrike">
              <a:solidFill>
                <a:schemeClr val="dk1"/>
              </a:solidFill>
              <a:latin typeface="Calibri"/>
              <a:ea typeface="Calibri"/>
              <a:cs typeface="Calibri"/>
              <a:sym typeface="Calibri"/>
            </a:endParaRPr>
          </a:p>
        </p:txBody>
      </p:sp>
      <p:sp>
        <p:nvSpPr>
          <p:cNvPr id="1088" name="Google Shape;1088;g3e955750272_3_1016"/>
          <p:cNvSpPr/>
          <p:nvPr/>
        </p:nvSpPr>
        <p:spPr>
          <a:xfrm>
            <a:off x="9490212" y="8828211"/>
            <a:ext cx="3380850" cy="27855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dk1"/>
              </a:buClr>
              <a:buSzPts val="1700"/>
              <a:buFont typeface="Arial"/>
              <a:buNone/>
            </a:pPr>
            <a:r>
              <a:rPr b="1" i="0" lang="en-US" sz="1800" u="none" cap="none" strike="noStrike">
                <a:solidFill>
                  <a:srgbClr val="1A1A22"/>
                </a:solidFill>
                <a:latin typeface="Arial"/>
                <a:ea typeface="Arial"/>
                <a:cs typeface="Arial"/>
                <a:sym typeface="Arial"/>
              </a:rPr>
              <a:t>관련 공고 검색</a:t>
            </a:r>
            <a:endParaRPr b="1" i="0" sz="1800" u="none" cap="none" strike="noStrike">
              <a:solidFill>
                <a:srgbClr val="1A1A22"/>
              </a:solidFill>
              <a:latin typeface="Arial"/>
              <a:ea typeface="Arial"/>
              <a:cs typeface="Arial"/>
              <a:sym typeface="Arial"/>
            </a:endParaRPr>
          </a:p>
        </p:txBody>
      </p:sp>
      <p:grpSp>
        <p:nvGrpSpPr>
          <p:cNvPr id="1089" name="Google Shape;1089;g3e955750272_3_1016"/>
          <p:cNvGrpSpPr/>
          <p:nvPr/>
        </p:nvGrpSpPr>
        <p:grpSpPr>
          <a:xfrm>
            <a:off x="13052883" y="8553697"/>
            <a:ext cx="4081278" cy="632253"/>
            <a:chOff x="8772752" y="5048405"/>
            <a:chExt cx="2720852" cy="609900"/>
          </a:xfrm>
        </p:grpSpPr>
        <p:sp>
          <p:nvSpPr>
            <p:cNvPr id="1090" name="Google Shape;1090;g3e955750272_3_1016"/>
            <p:cNvSpPr/>
            <p:nvPr/>
          </p:nvSpPr>
          <p:spPr>
            <a:xfrm>
              <a:off x="8772752" y="5220312"/>
              <a:ext cx="283800" cy="2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2700"/>
                <a:buFont typeface="Arial"/>
                <a:buNone/>
              </a:pPr>
              <a:r>
                <a:rPr b="1" i="0" lang="en-US" sz="2700" u="none" cap="none" strike="noStrike">
                  <a:solidFill>
                    <a:srgbClr val="8A8F99"/>
                  </a:solidFill>
                  <a:latin typeface="Arial"/>
                  <a:ea typeface="Arial"/>
                  <a:cs typeface="Arial"/>
                  <a:sym typeface="Arial"/>
                </a:rPr>
                <a:t>→</a:t>
              </a:r>
              <a:endParaRPr b="0" i="0" sz="2700" u="none" cap="none" strike="noStrike">
                <a:solidFill>
                  <a:schemeClr val="dk1"/>
                </a:solidFill>
                <a:latin typeface="Calibri"/>
                <a:ea typeface="Calibri"/>
                <a:cs typeface="Calibri"/>
                <a:sym typeface="Calibri"/>
              </a:endParaRPr>
            </a:p>
          </p:txBody>
        </p:sp>
        <p:sp>
          <p:nvSpPr>
            <p:cNvPr id="1091" name="Google Shape;1091;g3e955750272_3_1016"/>
            <p:cNvSpPr/>
            <p:nvPr/>
          </p:nvSpPr>
          <p:spPr>
            <a:xfrm>
              <a:off x="9056404" y="5048405"/>
              <a:ext cx="2437200" cy="60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92" name="Google Shape;1092;g3e955750272_3_1016"/>
            <p:cNvSpPr/>
            <p:nvPr/>
          </p:nvSpPr>
          <p:spPr>
            <a:xfrm>
              <a:off x="9056404" y="5048405"/>
              <a:ext cx="21000" cy="609900"/>
            </a:xfrm>
            <a:prstGeom prst="rect">
              <a:avLst/>
            </a:prstGeom>
            <a:solidFill>
              <a:srgbClr val="FFEDE3"/>
            </a:solidFill>
            <a:ln cap="flat" cmpd="sng" w="12700">
              <a:solidFill>
                <a:srgbClr val="FFE3EC"/>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93" name="Google Shape;1093;g3e955750272_3_1016"/>
            <p:cNvSpPr/>
            <p:nvPr/>
          </p:nvSpPr>
          <p:spPr>
            <a:xfrm>
              <a:off x="9155717" y="5143503"/>
              <a:ext cx="2238600" cy="15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400"/>
                <a:buFont typeface="Arial"/>
                <a:buNone/>
              </a:pPr>
              <a:r>
                <a:rPr b="1" i="0" lang="en-US" sz="1400" u="none" cap="none" strike="noStrike">
                  <a:solidFill>
                    <a:srgbClr val="9A3412"/>
                  </a:solidFill>
                  <a:latin typeface="Arial"/>
                  <a:ea typeface="Arial"/>
                  <a:cs typeface="Arial"/>
                  <a:sym typeface="Arial"/>
                </a:rPr>
                <a:t>AI</a:t>
              </a:r>
              <a:endParaRPr b="0" i="0" sz="1400" u="none" cap="none" strike="noStrike">
                <a:solidFill>
                  <a:srgbClr val="9A3412"/>
                </a:solidFill>
                <a:latin typeface="Calibri"/>
                <a:ea typeface="Calibri"/>
                <a:cs typeface="Calibri"/>
                <a:sym typeface="Calibri"/>
              </a:endParaRPr>
            </a:p>
          </p:txBody>
        </p:sp>
        <p:sp>
          <p:nvSpPr>
            <p:cNvPr id="1094" name="Google Shape;1094;g3e955750272_3_1016"/>
            <p:cNvSpPr/>
            <p:nvPr/>
          </p:nvSpPr>
          <p:spPr>
            <a:xfrm>
              <a:off x="9155717" y="5315410"/>
              <a:ext cx="2238600" cy="2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800"/>
                <a:buFont typeface="Arial"/>
                <a:buNone/>
              </a:pPr>
              <a:r>
                <a:rPr b="1" i="0" lang="en-US" sz="1800" u="none" cap="none" strike="noStrike">
                  <a:solidFill>
                    <a:srgbClr val="1A1A22"/>
                  </a:solidFill>
                  <a:latin typeface="Arial"/>
                  <a:ea typeface="Arial"/>
                  <a:cs typeface="Arial"/>
                  <a:sym typeface="Arial"/>
                </a:rPr>
                <a:t>Gemini 답변 생성 </a:t>
              </a:r>
              <a:endParaRPr b="0" i="0" sz="1800" u="none" cap="none" strike="noStrike">
                <a:solidFill>
                  <a:schemeClr val="dk1"/>
                </a:solidFill>
                <a:latin typeface="Calibri"/>
                <a:ea typeface="Calibri"/>
                <a:cs typeface="Calibri"/>
                <a:sym typeface="Calibri"/>
              </a:endParaRPr>
            </a:p>
          </p:txBody>
        </p:sp>
      </p:grpSp>
      <p:sp>
        <p:nvSpPr>
          <p:cNvPr id="1095" name="Google Shape;1095;g3e955750272_3_1016"/>
          <p:cNvSpPr/>
          <p:nvPr/>
        </p:nvSpPr>
        <p:spPr>
          <a:xfrm>
            <a:off x="1127028" y="8206436"/>
            <a:ext cx="11818350" cy="28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00"/>
              <a:buFont typeface="Arial"/>
              <a:buNone/>
            </a:pPr>
            <a:r>
              <a:rPr b="1" i="0" lang="en-US" sz="1700" u="none" cap="none" strike="noStrike">
                <a:solidFill>
                  <a:srgbClr val="6B7280"/>
                </a:solidFill>
                <a:latin typeface="Arial"/>
                <a:ea typeface="Arial"/>
                <a:cs typeface="Arial"/>
                <a:sym typeface="Arial"/>
              </a:rPr>
              <a:t>챗봇 예시 : USER → Next.js → API Route → Supabase 검색 → Gemini 답변 생성 </a:t>
            </a:r>
            <a:endParaRPr b="0" i="0" sz="1700" u="none" cap="none" strike="noStrike">
              <a:solidFill>
                <a:schemeClr val="dk1"/>
              </a:solidFill>
              <a:latin typeface="Calibri"/>
              <a:ea typeface="Calibri"/>
              <a:cs typeface="Calibri"/>
              <a:sym typeface="Calibri"/>
            </a:endParaRPr>
          </a:p>
        </p:txBody>
      </p:sp>
      <p:grpSp>
        <p:nvGrpSpPr>
          <p:cNvPr id="1096" name="Google Shape;1096;g3e955750272_3_1016"/>
          <p:cNvGrpSpPr/>
          <p:nvPr/>
        </p:nvGrpSpPr>
        <p:grpSpPr>
          <a:xfrm>
            <a:off x="907958" y="3094200"/>
            <a:ext cx="16473068" cy="3157665"/>
            <a:chOff x="609905" y="2239200"/>
            <a:chExt cx="10982045" cy="2105110"/>
          </a:xfrm>
        </p:grpSpPr>
        <p:sp>
          <p:nvSpPr>
            <p:cNvPr id="1097" name="Google Shape;1097;g3e955750272_3_1016"/>
            <p:cNvSpPr/>
            <p:nvPr/>
          </p:nvSpPr>
          <p:spPr>
            <a:xfrm>
              <a:off x="609905" y="2248510"/>
              <a:ext cx="2542800" cy="20958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98" name="Google Shape;1098;g3e955750272_3_1016"/>
            <p:cNvSpPr/>
            <p:nvPr/>
          </p:nvSpPr>
          <p:spPr>
            <a:xfrm>
              <a:off x="800100" y="2438705"/>
              <a:ext cx="841200" cy="209400"/>
            </a:xfrm>
            <a:prstGeom prst="roundRect">
              <a:avLst>
                <a:gd fmla="val 17467" name="adj"/>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099" name="Google Shape;1099;g3e955750272_3_1016"/>
            <p:cNvSpPr/>
            <p:nvPr/>
          </p:nvSpPr>
          <p:spPr>
            <a:xfrm>
              <a:off x="800100" y="2438705"/>
              <a:ext cx="8412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FRONTEND</a:t>
              </a:r>
              <a:endParaRPr b="0" i="0" sz="1400" u="none" cap="none" strike="noStrike">
                <a:solidFill>
                  <a:schemeClr val="dk1"/>
                </a:solidFill>
                <a:latin typeface="Calibri"/>
                <a:ea typeface="Calibri"/>
                <a:cs typeface="Calibri"/>
                <a:sym typeface="Calibri"/>
              </a:endParaRPr>
            </a:p>
          </p:txBody>
        </p:sp>
        <p:sp>
          <p:nvSpPr>
            <p:cNvPr id="1100" name="Google Shape;1100;g3e955750272_3_1016"/>
            <p:cNvSpPr/>
            <p:nvPr/>
          </p:nvSpPr>
          <p:spPr>
            <a:xfrm>
              <a:off x="800100" y="2763317"/>
              <a:ext cx="2161500" cy="28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Next.js 화면</a:t>
              </a:r>
              <a:endParaRPr b="0" i="0" sz="2400" u="none" cap="none" strike="noStrike">
                <a:solidFill>
                  <a:schemeClr val="dk1"/>
                </a:solidFill>
                <a:latin typeface="Calibri"/>
                <a:ea typeface="Calibri"/>
                <a:cs typeface="Calibri"/>
                <a:sym typeface="Calibri"/>
              </a:endParaRPr>
            </a:p>
          </p:txBody>
        </p:sp>
        <p:sp>
          <p:nvSpPr>
            <p:cNvPr id="1101" name="Google Shape;1101;g3e955750272_3_1016"/>
            <p:cNvSpPr/>
            <p:nvPr/>
          </p:nvSpPr>
          <p:spPr>
            <a:xfrm>
              <a:off x="800100" y="3124505"/>
              <a:ext cx="2161500" cy="9000"/>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02" name="Google Shape;1102;g3e955750272_3_1016"/>
            <p:cNvSpPr/>
            <p:nvPr/>
          </p:nvSpPr>
          <p:spPr>
            <a:xfrm>
              <a:off x="800100" y="3220517"/>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메인</a:t>
              </a:r>
              <a:endParaRPr b="0" i="0" sz="1700" u="none" cap="none" strike="noStrike">
                <a:solidFill>
                  <a:schemeClr val="dk1"/>
                </a:solidFill>
                <a:latin typeface="Calibri"/>
                <a:ea typeface="Calibri"/>
                <a:cs typeface="Calibri"/>
                <a:sym typeface="Calibri"/>
              </a:endParaRPr>
            </a:p>
          </p:txBody>
        </p:sp>
        <p:sp>
          <p:nvSpPr>
            <p:cNvPr id="1103" name="Google Shape;1103;g3e955750272_3_1016"/>
            <p:cNvSpPr/>
            <p:nvPr/>
          </p:nvSpPr>
          <p:spPr>
            <a:xfrm>
              <a:off x="800100" y="3468319"/>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스크랩</a:t>
              </a:r>
              <a:endParaRPr b="0" i="0" sz="1700" u="none" cap="none" strike="noStrike">
                <a:solidFill>
                  <a:schemeClr val="dk1"/>
                </a:solidFill>
                <a:latin typeface="Calibri"/>
                <a:ea typeface="Calibri"/>
                <a:cs typeface="Calibri"/>
                <a:sym typeface="Calibri"/>
              </a:endParaRPr>
            </a:p>
          </p:txBody>
        </p:sp>
        <p:sp>
          <p:nvSpPr>
            <p:cNvPr id="1104" name="Google Shape;1104;g3e955750272_3_1016"/>
            <p:cNvSpPr/>
            <p:nvPr/>
          </p:nvSpPr>
          <p:spPr>
            <a:xfrm>
              <a:off x="800100" y="3716122"/>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프로필</a:t>
              </a:r>
              <a:endParaRPr b="0" i="0" sz="1700" u="none" cap="none" strike="noStrike">
                <a:solidFill>
                  <a:schemeClr val="dk1"/>
                </a:solidFill>
                <a:latin typeface="Calibri"/>
                <a:ea typeface="Calibri"/>
                <a:cs typeface="Calibri"/>
                <a:sym typeface="Calibri"/>
              </a:endParaRPr>
            </a:p>
          </p:txBody>
        </p:sp>
        <p:sp>
          <p:nvSpPr>
            <p:cNvPr id="1105" name="Google Shape;1105;g3e955750272_3_1016"/>
            <p:cNvSpPr/>
            <p:nvPr/>
          </p:nvSpPr>
          <p:spPr>
            <a:xfrm>
              <a:off x="800100" y="3963924"/>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관리자</a:t>
              </a:r>
              <a:endParaRPr b="0" i="0" sz="1700" u="none" cap="none" strike="noStrike">
                <a:solidFill>
                  <a:schemeClr val="dk1"/>
                </a:solidFill>
                <a:latin typeface="Calibri"/>
                <a:ea typeface="Calibri"/>
                <a:cs typeface="Calibri"/>
                <a:sym typeface="Calibri"/>
              </a:endParaRPr>
            </a:p>
          </p:txBody>
        </p:sp>
        <p:sp>
          <p:nvSpPr>
            <p:cNvPr id="1106" name="Google Shape;1106;g3e955750272_3_1016"/>
            <p:cNvSpPr/>
            <p:nvPr/>
          </p:nvSpPr>
          <p:spPr>
            <a:xfrm>
              <a:off x="3152851" y="3010205"/>
              <a:ext cx="267000" cy="38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3000"/>
                <a:buFont typeface="Arial"/>
                <a:buNone/>
              </a:pPr>
              <a:r>
                <a:rPr b="1" i="0" lang="en-US" sz="3000" u="none" cap="none" strike="noStrike">
                  <a:solidFill>
                    <a:srgbClr val="8A8F99"/>
                  </a:solidFill>
                  <a:latin typeface="Arial"/>
                  <a:ea typeface="Arial"/>
                  <a:cs typeface="Arial"/>
                  <a:sym typeface="Arial"/>
                </a:rPr>
                <a:t>→</a:t>
              </a:r>
              <a:endParaRPr b="0" i="0" sz="3000" u="none" cap="none" strike="noStrike">
                <a:solidFill>
                  <a:schemeClr val="dk1"/>
                </a:solidFill>
                <a:latin typeface="Calibri"/>
                <a:ea typeface="Calibri"/>
                <a:cs typeface="Calibri"/>
                <a:sym typeface="Calibri"/>
              </a:endParaRPr>
            </a:p>
          </p:txBody>
        </p:sp>
        <p:sp>
          <p:nvSpPr>
            <p:cNvPr id="1107" name="Google Shape;1107;g3e955750272_3_1016"/>
            <p:cNvSpPr/>
            <p:nvPr/>
          </p:nvSpPr>
          <p:spPr>
            <a:xfrm>
              <a:off x="3419856" y="2248510"/>
              <a:ext cx="2542800" cy="20958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08" name="Google Shape;1108;g3e955750272_3_1016"/>
            <p:cNvSpPr/>
            <p:nvPr/>
          </p:nvSpPr>
          <p:spPr>
            <a:xfrm>
              <a:off x="3610051" y="2438705"/>
              <a:ext cx="761700" cy="209400"/>
            </a:xfrm>
            <a:prstGeom prst="roundRect">
              <a:avLst>
                <a:gd fmla="val 17467" name="adj"/>
              </a:avLst>
            </a:prstGeom>
            <a:solidFill>
              <a:srgbClr val="E0F2FE"/>
            </a:solidFill>
            <a:ln cap="flat" cmpd="sng" w="12700">
              <a:solidFill>
                <a:srgbClr val="E0F2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09" name="Google Shape;1109;g3e955750272_3_1016"/>
            <p:cNvSpPr/>
            <p:nvPr/>
          </p:nvSpPr>
          <p:spPr>
            <a:xfrm>
              <a:off x="3610051" y="2438705"/>
              <a:ext cx="7617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400"/>
                <a:buFont typeface="Arial"/>
                <a:buNone/>
              </a:pPr>
              <a:r>
                <a:rPr b="1" i="0" lang="en-US" sz="1400" u="none" cap="none" strike="noStrike">
                  <a:solidFill>
                    <a:srgbClr val="1D4ED8"/>
                  </a:solidFill>
                  <a:latin typeface="Arial"/>
                  <a:ea typeface="Arial"/>
                  <a:cs typeface="Arial"/>
                  <a:sym typeface="Arial"/>
                </a:rPr>
                <a:t>API</a:t>
              </a:r>
              <a:endParaRPr b="0" i="0" sz="1400" u="none" cap="none" strike="noStrike">
                <a:solidFill>
                  <a:schemeClr val="dk1"/>
                </a:solidFill>
                <a:latin typeface="Calibri"/>
                <a:ea typeface="Calibri"/>
                <a:cs typeface="Calibri"/>
                <a:sym typeface="Calibri"/>
              </a:endParaRPr>
            </a:p>
          </p:txBody>
        </p:sp>
        <p:sp>
          <p:nvSpPr>
            <p:cNvPr id="1110" name="Google Shape;1110;g3e955750272_3_1016"/>
            <p:cNvSpPr/>
            <p:nvPr/>
          </p:nvSpPr>
          <p:spPr>
            <a:xfrm>
              <a:off x="3610051" y="2763317"/>
              <a:ext cx="2161500" cy="28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API Route</a:t>
              </a:r>
              <a:endParaRPr b="0" i="0" sz="2400" u="none" cap="none" strike="noStrike">
                <a:solidFill>
                  <a:schemeClr val="dk1"/>
                </a:solidFill>
                <a:latin typeface="Calibri"/>
                <a:ea typeface="Calibri"/>
                <a:cs typeface="Calibri"/>
                <a:sym typeface="Calibri"/>
              </a:endParaRPr>
            </a:p>
          </p:txBody>
        </p:sp>
        <p:sp>
          <p:nvSpPr>
            <p:cNvPr id="1111" name="Google Shape;1111;g3e955750272_3_1016"/>
            <p:cNvSpPr/>
            <p:nvPr/>
          </p:nvSpPr>
          <p:spPr>
            <a:xfrm>
              <a:off x="3610051" y="3124505"/>
              <a:ext cx="2161500" cy="9000"/>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12" name="Google Shape;1112;g3e955750272_3_1016"/>
            <p:cNvSpPr/>
            <p:nvPr/>
          </p:nvSpPr>
          <p:spPr>
            <a:xfrm>
              <a:off x="3610051" y="3220517"/>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/api/search</a:t>
              </a:r>
              <a:endParaRPr b="0" i="0" sz="1700" u="none" cap="none" strike="noStrike">
                <a:solidFill>
                  <a:schemeClr val="dk1"/>
                </a:solidFill>
                <a:latin typeface="Calibri"/>
                <a:ea typeface="Calibri"/>
                <a:cs typeface="Calibri"/>
                <a:sym typeface="Calibri"/>
              </a:endParaRPr>
            </a:p>
          </p:txBody>
        </p:sp>
        <p:sp>
          <p:nvSpPr>
            <p:cNvPr id="1113" name="Google Shape;1113;g3e955750272_3_1016"/>
            <p:cNvSpPr/>
            <p:nvPr/>
          </p:nvSpPr>
          <p:spPr>
            <a:xfrm>
              <a:off x="3610051" y="3468319"/>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/api/mypage/*</a:t>
              </a:r>
              <a:endParaRPr b="0" i="0" sz="1700" u="none" cap="none" strike="noStrike">
                <a:solidFill>
                  <a:schemeClr val="dk1"/>
                </a:solidFill>
                <a:latin typeface="Calibri"/>
                <a:ea typeface="Calibri"/>
                <a:cs typeface="Calibri"/>
                <a:sym typeface="Calibri"/>
              </a:endParaRPr>
            </a:p>
          </p:txBody>
        </p:sp>
        <p:sp>
          <p:nvSpPr>
            <p:cNvPr id="1114" name="Google Shape;1114;g3e955750272_3_1016"/>
            <p:cNvSpPr/>
            <p:nvPr/>
          </p:nvSpPr>
          <p:spPr>
            <a:xfrm>
              <a:off x="3610051" y="3716122"/>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/api/chat/rag</a:t>
              </a:r>
              <a:endParaRPr b="0" i="0" sz="1700" u="none" cap="none" strike="noStrike">
                <a:solidFill>
                  <a:schemeClr val="dk1"/>
                </a:solidFill>
                <a:latin typeface="Calibri"/>
                <a:ea typeface="Calibri"/>
                <a:cs typeface="Calibri"/>
                <a:sym typeface="Calibri"/>
              </a:endParaRPr>
            </a:p>
          </p:txBody>
        </p:sp>
        <p:sp>
          <p:nvSpPr>
            <p:cNvPr id="1115" name="Google Shape;1115;g3e955750272_3_1016"/>
            <p:cNvSpPr/>
            <p:nvPr/>
          </p:nvSpPr>
          <p:spPr>
            <a:xfrm>
              <a:off x="5962802" y="3010205"/>
              <a:ext cx="267000" cy="38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3000"/>
                <a:buFont typeface="Arial"/>
                <a:buNone/>
              </a:pPr>
              <a:r>
                <a:rPr b="1" i="0" lang="en-US" sz="3000" u="none" cap="none" strike="noStrike">
                  <a:solidFill>
                    <a:srgbClr val="8A8F99"/>
                  </a:solidFill>
                  <a:latin typeface="Arial"/>
                  <a:ea typeface="Arial"/>
                  <a:cs typeface="Arial"/>
                  <a:sym typeface="Arial"/>
                </a:rPr>
                <a:t>→</a:t>
              </a:r>
              <a:endParaRPr b="0" i="0" sz="3000" u="none" cap="none" strike="noStrike">
                <a:solidFill>
                  <a:schemeClr val="dk1"/>
                </a:solidFill>
                <a:latin typeface="Calibri"/>
                <a:ea typeface="Calibri"/>
                <a:cs typeface="Calibri"/>
                <a:sym typeface="Calibri"/>
              </a:endParaRPr>
            </a:p>
          </p:txBody>
        </p:sp>
        <p:sp>
          <p:nvSpPr>
            <p:cNvPr id="1116" name="Google Shape;1116;g3e955750272_3_1016"/>
            <p:cNvSpPr/>
            <p:nvPr/>
          </p:nvSpPr>
          <p:spPr>
            <a:xfrm>
              <a:off x="6229807" y="2248510"/>
              <a:ext cx="2542800" cy="20958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17" name="Google Shape;1117;g3e955750272_3_1016"/>
            <p:cNvSpPr/>
            <p:nvPr/>
          </p:nvSpPr>
          <p:spPr>
            <a:xfrm>
              <a:off x="6420002" y="2438705"/>
              <a:ext cx="761700" cy="209400"/>
            </a:xfrm>
            <a:prstGeom prst="roundRect">
              <a:avLst>
                <a:gd fmla="val 17467" name="adj"/>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18" name="Google Shape;1118;g3e955750272_3_1016"/>
            <p:cNvSpPr/>
            <p:nvPr/>
          </p:nvSpPr>
          <p:spPr>
            <a:xfrm>
              <a:off x="6420002" y="2438705"/>
              <a:ext cx="7617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DB</a:t>
              </a:r>
              <a:endParaRPr b="0" i="0" sz="1400" u="none" cap="none" strike="noStrike">
                <a:solidFill>
                  <a:schemeClr val="dk1"/>
                </a:solidFill>
                <a:latin typeface="Calibri"/>
                <a:ea typeface="Calibri"/>
                <a:cs typeface="Calibri"/>
                <a:sym typeface="Calibri"/>
              </a:endParaRPr>
            </a:p>
          </p:txBody>
        </p:sp>
        <p:sp>
          <p:nvSpPr>
            <p:cNvPr id="1119" name="Google Shape;1119;g3e955750272_3_1016"/>
            <p:cNvSpPr/>
            <p:nvPr/>
          </p:nvSpPr>
          <p:spPr>
            <a:xfrm>
              <a:off x="6420002" y="2763317"/>
              <a:ext cx="2161500" cy="28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Supabase</a:t>
              </a:r>
              <a:endParaRPr b="0" i="0" sz="2400" u="none" cap="none" strike="noStrike">
                <a:solidFill>
                  <a:schemeClr val="dk1"/>
                </a:solidFill>
                <a:latin typeface="Calibri"/>
                <a:ea typeface="Calibri"/>
                <a:cs typeface="Calibri"/>
                <a:sym typeface="Calibri"/>
              </a:endParaRPr>
            </a:p>
          </p:txBody>
        </p:sp>
        <p:sp>
          <p:nvSpPr>
            <p:cNvPr id="1120" name="Google Shape;1120;g3e955750272_3_1016"/>
            <p:cNvSpPr/>
            <p:nvPr/>
          </p:nvSpPr>
          <p:spPr>
            <a:xfrm>
              <a:off x="6420002" y="3124505"/>
              <a:ext cx="2161500" cy="9000"/>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21" name="Google Shape;1121;g3e955750272_3_1016"/>
            <p:cNvSpPr/>
            <p:nvPr/>
          </p:nvSpPr>
          <p:spPr>
            <a:xfrm>
              <a:off x="6420002" y="3220517"/>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announcements</a:t>
              </a:r>
              <a:endParaRPr b="0" i="0" sz="1700" u="none" cap="none" strike="noStrike">
                <a:solidFill>
                  <a:schemeClr val="dk1"/>
                </a:solidFill>
                <a:latin typeface="Calibri"/>
                <a:ea typeface="Calibri"/>
                <a:cs typeface="Calibri"/>
                <a:sym typeface="Calibri"/>
              </a:endParaRPr>
            </a:p>
          </p:txBody>
        </p:sp>
        <p:sp>
          <p:nvSpPr>
            <p:cNvPr id="1122" name="Google Shape;1122;g3e955750272_3_1016"/>
            <p:cNvSpPr/>
            <p:nvPr/>
          </p:nvSpPr>
          <p:spPr>
            <a:xfrm>
              <a:off x="6420002" y="3468319"/>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users · user_info</a:t>
              </a:r>
              <a:endParaRPr b="0" i="0" sz="1700" u="none" cap="none" strike="noStrike">
                <a:solidFill>
                  <a:schemeClr val="dk1"/>
                </a:solidFill>
                <a:latin typeface="Calibri"/>
                <a:ea typeface="Calibri"/>
                <a:cs typeface="Calibri"/>
                <a:sym typeface="Calibri"/>
              </a:endParaRPr>
            </a:p>
          </p:txBody>
        </p:sp>
        <p:sp>
          <p:nvSpPr>
            <p:cNvPr id="1123" name="Google Shape;1123;g3e955750272_3_1016"/>
            <p:cNvSpPr/>
            <p:nvPr/>
          </p:nvSpPr>
          <p:spPr>
            <a:xfrm>
              <a:off x="6420002" y="3716122"/>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scraps · chat_history</a:t>
              </a:r>
              <a:endParaRPr b="0" i="0" sz="1700" u="none" cap="none" strike="noStrike">
                <a:solidFill>
                  <a:schemeClr val="dk1"/>
                </a:solidFill>
                <a:latin typeface="Calibri"/>
                <a:ea typeface="Calibri"/>
                <a:cs typeface="Calibri"/>
                <a:sym typeface="Calibri"/>
              </a:endParaRPr>
            </a:p>
          </p:txBody>
        </p:sp>
        <p:sp>
          <p:nvSpPr>
            <p:cNvPr id="1124" name="Google Shape;1124;g3e955750272_3_1016"/>
            <p:cNvSpPr/>
            <p:nvPr/>
          </p:nvSpPr>
          <p:spPr>
            <a:xfrm>
              <a:off x="8772754" y="3010205"/>
              <a:ext cx="267000" cy="38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F99"/>
                </a:buClr>
                <a:buSzPts val="3000"/>
                <a:buFont typeface="Arial"/>
                <a:buNone/>
              </a:pPr>
              <a:r>
                <a:rPr b="1" i="0" lang="en-US" sz="3000" u="none" cap="none" strike="noStrike">
                  <a:solidFill>
                    <a:srgbClr val="8A8F99"/>
                  </a:solidFill>
                  <a:latin typeface="Arial"/>
                  <a:ea typeface="Arial"/>
                  <a:cs typeface="Arial"/>
                  <a:sym typeface="Arial"/>
                </a:rPr>
                <a:t>→</a:t>
              </a:r>
              <a:endParaRPr b="0" i="0" sz="3000" u="none" cap="none" strike="noStrike">
                <a:solidFill>
                  <a:schemeClr val="dk1"/>
                </a:solidFill>
                <a:latin typeface="Calibri"/>
                <a:ea typeface="Calibri"/>
                <a:cs typeface="Calibri"/>
                <a:sym typeface="Calibri"/>
              </a:endParaRPr>
            </a:p>
          </p:txBody>
        </p:sp>
        <p:sp>
          <p:nvSpPr>
            <p:cNvPr id="1125" name="Google Shape;1125;g3e955750272_3_1016"/>
            <p:cNvSpPr/>
            <p:nvPr/>
          </p:nvSpPr>
          <p:spPr>
            <a:xfrm>
              <a:off x="9039758" y="2248510"/>
              <a:ext cx="2542800" cy="20958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26" name="Google Shape;1126;g3e955750272_3_1016"/>
            <p:cNvSpPr/>
            <p:nvPr/>
          </p:nvSpPr>
          <p:spPr>
            <a:xfrm>
              <a:off x="9229954" y="2438705"/>
              <a:ext cx="761700" cy="209400"/>
            </a:xfrm>
            <a:prstGeom prst="roundRect">
              <a:avLst>
                <a:gd fmla="val 17467" name="adj"/>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27" name="Google Shape;1127;g3e955750272_3_1016"/>
            <p:cNvSpPr/>
            <p:nvPr/>
          </p:nvSpPr>
          <p:spPr>
            <a:xfrm>
              <a:off x="9229954" y="2438705"/>
              <a:ext cx="7617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AI</a:t>
              </a:r>
              <a:endParaRPr b="0" i="0" sz="1400" u="none" cap="none" strike="noStrike">
                <a:solidFill>
                  <a:schemeClr val="dk1"/>
                </a:solidFill>
                <a:latin typeface="Calibri"/>
                <a:ea typeface="Calibri"/>
                <a:cs typeface="Calibri"/>
                <a:sym typeface="Calibri"/>
              </a:endParaRPr>
            </a:p>
          </p:txBody>
        </p:sp>
        <p:sp>
          <p:nvSpPr>
            <p:cNvPr id="1128" name="Google Shape;1128;g3e955750272_3_1016"/>
            <p:cNvSpPr/>
            <p:nvPr/>
          </p:nvSpPr>
          <p:spPr>
            <a:xfrm>
              <a:off x="9229954" y="2763317"/>
              <a:ext cx="2161500" cy="28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Gemini</a:t>
              </a:r>
              <a:endParaRPr b="0" i="0" sz="2400" u="none" cap="none" strike="noStrike">
                <a:solidFill>
                  <a:schemeClr val="dk1"/>
                </a:solidFill>
                <a:latin typeface="Calibri"/>
                <a:ea typeface="Calibri"/>
                <a:cs typeface="Calibri"/>
                <a:sym typeface="Calibri"/>
              </a:endParaRPr>
            </a:p>
          </p:txBody>
        </p:sp>
        <p:sp>
          <p:nvSpPr>
            <p:cNvPr id="1129" name="Google Shape;1129;g3e955750272_3_1016"/>
            <p:cNvSpPr/>
            <p:nvPr/>
          </p:nvSpPr>
          <p:spPr>
            <a:xfrm>
              <a:off x="9229954" y="3124505"/>
              <a:ext cx="2161500" cy="9000"/>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30" name="Google Shape;1130;g3e955750272_3_1016"/>
            <p:cNvSpPr/>
            <p:nvPr/>
          </p:nvSpPr>
          <p:spPr>
            <a:xfrm>
              <a:off x="9229954" y="3220517"/>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embedding</a:t>
              </a:r>
              <a:endParaRPr b="0" i="0" sz="1700" u="none" cap="none" strike="noStrike">
                <a:solidFill>
                  <a:schemeClr val="dk1"/>
                </a:solidFill>
                <a:latin typeface="Calibri"/>
                <a:ea typeface="Calibri"/>
                <a:cs typeface="Calibri"/>
                <a:sym typeface="Calibri"/>
              </a:endParaRPr>
            </a:p>
          </p:txBody>
        </p:sp>
        <p:sp>
          <p:nvSpPr>
            <p:cNvPr id="1131" name="Google Shape;1131;g3e955750272_3_1016"/>
            <p:cNvSpPr/>
            <p:nvPr/>
          </p:nvSpPr>
          <p:spPr>
            <a:xfrm>
              <a:off x="9229954" y="3468319"/>
              <a:ext cx="2161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답변 생성 (RAG)</a:t>
              </a:r>
              <a:endParaRPr b="0" i="0" sz="1700" u="none" cap="none" strike="noStrike">
                <a:solidFill>
                  <a:schemeClr val="dk1"/>
                </a:solidFill>
                <a:latin typeface="Calibri"/>
                <a:ea typeface="Calibri"/>
                <a:cs typeface="Calibri"/>
                <a:sym typeface="Calibri"/>
              </a:endParaRPr>
            </a:p>
          </p:txBody>
        </p:sp>
        <p:sp>
          <p:nvSpPr>
            <p:cNvPr id="1132" name="Google Shape;1132;g3e955750272_3_1016"/>
            <p:cNvSpPr txBox="1"/>
            <p:nvPr/>
          </p:nvSpPr>
          <p:spPr>
            <a:xfrm>
              <a:off x="2009700" y="2239203"/>
              <a:ext cx="1143000" cy="323100"/>
            </a:xfrm>
            <a:prstGeom prst="rect">
              <a:avLst/>
            </a:prstGeom>
            <a:noFill/>
            <a:ln>
              <a:noFill/>
            </a:ln>
          </p:spPr>
          <p:txBody>
            <a:bodyPr anchorCtr="0" anchor="t" bIns="137150" lIns="137150" spcFirstLastPara="1" rIns="137150" wrap="square" tIns="13715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4A4F5A"/>
                  </a:solidFill>
                  <a:latin typeface="Arial"/>
                  <a:ea typeface="Arial"/>
                  <a:cs typeface="Arial"/>
                  <a:sym typeface="Arial"/>
                </a:rPr>
                <a:t>사용자가 보는 화면</a:t>
              </a:r>
              <a:endParaRPr b="0" i="0" sz="1400" u="none" cap="none" strike="noStrike">
                <a:solidFill>
                  <a:srgbClr val="4A4F5A"/>
                </a:solidFill>
                <a:latin typeface="Arial"/>
                <a:ea typeface="Arial"/>
                <a:cs typeface="Arial"/>
                <a:sym typeface="Arial"/>
              </a:endParaRPr>
            </a:p>
          </p:txBody>
        </p:sp>
        <p:sp>
          <p:nvSpPr>
            <p:cNvPr id="1133" name="Google Shape;1133;g3e955750272_3_1016"/>
            <p:cNvSpPr txBox="1"/>
            <p:nvPr/>
          </p:nvSpPr>
          <p:spPr>
            <a:xfrm>
              <a:off x="7027400" y="2243250"/>
              <a:ext cx="1749900" cy="323100"/>
            </a:xfrm>
            <a:prstGeom prst="rect">
              <a:avLst/>
            </a:prstGeom>
            <a:noFill/>
            <a:ln>
              <a:noFill/>
            </a:ln>
          </p:spPr>
          <p:txBody>
            <a:bodyPr anchorCtr="0" anchor="t" bIns="137150" lIns="137150" spcFirstLastPara="1" rIns="137150" wrap="square" tIns="13715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4A4F5A"/>
                  </a:solidFill>
                  <a:latin typeface="Arial"/>
                  <a:ea typeface="Arial"/>
                  <a:cs typeface="Arial"/>
                  <a:sym typeface="Arial"/>
                </a:rPr>
                <a:t>실제 데이터 저장관리</a:t>
              </a:r>
              <a:endParaRPr b="0" i="0" sz="1400" u="none" cap="none" strike="noStrike">
                <a:solidFill>
                  <a:srgbClr val="4A4F5A"/>
                </a:solidFill>
                <a:latin typeface="Arial"/>
                <a:ea typeface="Arial"/>
                <a:cs typeface="Arial"/>
                <a:sym typeface="Arial"/>
              </a:endParaRPr>
            </a:p>
          </p:txBody>
        </p:sp>
        <p:sp>
          <p:nvSpPr>
            <p:cNvPr id="1134" name="Google Shape;1134;g3e955750272_3_1016"/>
            <p:cNvSpPr txBox="1"/>
            <p:nvPr/>
          </p:nvSpPr>
          <p:spPr>
            <a:xfrm>
              <a:off x="9842050" y="2239200"/>
              <a:ext cx="1749900" cy="323100"/>
            </a:xfrm>
            <a:prstGeom prst="rect">
              <a:avLst/>
            </a:prstGeom>
            <a:noFill/>
            <a:ln>
              <a:noFill/>
            </a:ln>
          </p:spPr>
          <p:txBody>
            <a:bodyPr anchorCtr="0" anchor="t" bIns="137150" lIns="137150" spcFirstLastPara="1" rIns="137150" wrap="square" tIns="13715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4A4F5A"/>
                  </a:solidFill>
                  <a:latin typeface="Arial"/>
                  <a:ea typeface="Arial"/>
                  <a:cs typeface="Arial"/>
                  <a:sym typeface="Arial"/>
                </a:rPr>
                <a:t>검색용 임베딩 생성, 챗봇 사용</a:t>
              </a:r>
              <a:endParaRPr b="0" i="0" sz="1400" u="none" cap="none" strike="noStrike">
                <a:solidFill>
                  <a:srgbClr val="4A4F5A"/>
                </a:solidFill>
                <a:latin typeface="Arial"/>
                <a:ea typeface="Arial"/>
                <a:cs typeface="Arial"/>
                <a:sym typeface="Arial"/>
              </a:endParaRPr>
            </a:p>
          </p:txBody>
        </p:sp>
        <p:sp>
          <p:nvSpPr>
            <p:cNvPr id="1135" name="Google Shape;1135;g3e955750272_3_1016"/>
            <p:cNvSpPr txBox="1"/>
            <p:nvPr/>
          </p:nvSpPr>
          <p:spPr>
            <a:xfrm>
              <a:off x="4215100" y="2243250"/>
              <a:ext cx="1749900" cy="323100"/>
            </a:xfrm>
            <a:prstGeom prst="rect">
              <a:avLst/>
            </a:prstGeom>
            <a:noFill/>
            <a:ln>
              <a:noFill/>
            </a:ln>
          </p:spPr>
          <p:txBody>
            <a:bodyPr anchorCtr="0" anchor="t" bIns="137150" lIns="137150" spcFirstLastPara="1" rIns="137150" wrap="square" tIns="13715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4A4F5A"/>
                  </a:solidFill>
                  <a:latin typeface="Arial"/>
                  <a:ea typeface="Arial"/>
                  <a:cs typeface="Arial"/>
                  <a:sym typeface="Arial"/>
                </a:rPr>
                <a:t>요청 중간 역할</a:t>
              </a:r>
              <a:endParaRPr b="0" i="0" sz="1400" u="none" cap="none" strike="noStrike">
                <a:solidFill>
                  <a:srgbClr val="4A4F5A"/>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0" name="Shape 1140"/>
        <p:cNvGrpSpPr/>
        <p:nvPr/>
      </p:nvGrpSpPr>
      <p:grpSpPr>
        <a:xfrm>
          <a:off x="0" y="0"/>
          <a:ext cx="0" cy="0"/>
          <a:chOff x="0" y="0"/>
          <a:chExt cx="0" cy="0"/>
        </a:xfrm>
      </p:grpSpPr>
      <p:sp>
        <p:nvSpPr>
          <p:cNvPr id="1141" name="Google Shape;1141;g3e955750272_3_1105"/>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42" name="Google Shape;1142;g3e955750272_3_1105"/>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CH.07  ·  회고</a:t>
            </a:r>
            <a:endParaRPr b="0" i="0" sz="1400" u="none" cap="none" strike="noStrike">
              <a:solidFill>
                <a:schemeClr val="dk1"/>
              </a:solidFill>
              <a:latin typeface="Calibri"/>
              <a:ea typeface="Calibri"/>
              <a:cs typeface="Calibri"/>
              <a:sym typeface="Calibri"/>
            </a:endParaRPr>
          </a:p>
        </p:txBody>
      </p:sp>
      <p:sp>
        <p:nvSpPr>
          <p:cNvPr id="1143" name="Google Shape;1143;g3e955750272_3_1105"/>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어려웠던 점과 해결</a:t>
            </a:r>
            <a:endParaRPr b="0" i="0" sz="4200" u="none" cap="none" strike="noStrike">
              <a:solidFill>
                <a:schemeClr val="dk1"/>
              </a:solidFill>
              <a:latin typeface="Calibri"/>
              <a:ea typeface="Calibri"/>
              <a:cs typeface="Calibri"/>
              <a:sym typeface="Calibri"/>
            </a:endParaRPr>
          </a:p>
        </p:txBody>
      </p:sp>
      <p:sp>
        <p:nvSpPr>
          <p:cNvPr id="1144" name="Google Shape;1144;g3e955750272_3_1105"/>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기능 수보다 ‘같은 기준으로 보이게 만드는 것’이 더 어려웠습니다.</a:t>
            </a:r>
            <a:endParaRPr b="0" i="0" sz="2000" u="none" cap="none" strike="noStrike">
              <a:solidFill>
                <a:schemeClr val="dk1"/>
              </a:solidFill>
              <a:latin typeface="Calibri"/>
              <a:ea typeface="Calibri"/>
              <a:cs typeface="Calibri"/>
              <a:sym typeface="Calibri"/>
            </a:endParaRPr>
          </a:p>
        </p:txBody>
      </p:sp>
      <p:sp>
        <p:nvSpPr>
          <p:cNvPr id="1145" name="Google Shape;1145;g3e955750272_3_1105"/>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46" name="Google Shape;1146;g3e955750272_3_1105"/>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회고</a:t>
            </a:r>
            <a:endParaRPr b="0" i="0" sz="1400" u="none" cap="none" strike="noStrike">
              <a:solidFill>
                <a:schemeClr val="dk1"/>
              </a:solidFill>
              <a:latin typeface="Calibri"/>
              <a:ea typeface="Calibri"/>
              <a:cs typeface="Calibri"/>
              <a:sym typeface="Calibri"/>
            </a:endParaRPr>
          </a:p>
        </p:txBody>
      </p:sp>
      <p:sp>
        <p:nvSpPr>
          <p:cNvPr id="1147" name="Google Shape;1147;g3e955750272_3_1105"/>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21 / 23</a:t>
            </a:r>
            <a:endParaRPr b="0" i="0" sz="1400" u="none" cap="none" strike="noStrike">
              <a:solidFill>
                <a:schemeClr val="dk1"/>
              </a:solidFill>
              <a:latin typeface="Calibri"/>
              <a:ea typeface="Calibri"/>
              <a:cs typeface="Calibri"/>
              <a:sym typeface="Calibri"/>
            </a:endParaRPr>
          </a:p>
        </p:txBody>
      </p:sp>
      <p:grpSp>
        <p:nvGrpSpPr>
          <p:cNvPr id="1148" name="Google Shape;1148;g3e955750272_3_1105"/>
          <p:cNvGrpSpPr/>
          <p:nvPr/>
        </p:nvGrpSpPr>
        <p:grpSpPr>
          <a:xfrm>
            <a:off x="914857" y="3372765"/>
            <a:ext cx="5257800" cy="5143500"/>
            <a:chOff x="609905" y="2248510"/>
            <a:chExt cx="3505200" cy="3429000"/>
          </a:xfrm>
        </p:grpSpPr>
        <p:sp>
          <p:nvSpPr>
            <p:cNvPr id="1149" name="Google Shape;1149;g3e955750272_3_1105"/>
            <p:cNvSpPr/>
            <p:nvPr/>
          </p:nvSpPr>
          <p:spPr>
            <a:xfrm>
              <a:off x="609905" y="2248510"/>
              <a:ext cx="3505200" cy="3429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50" name="Google Shape;1150;g3e955750272_3_1105"/>
            <p:cNvSpPr/>
            <p:nvPr/>
          </p:nvSpPr>
          <p:spPr>
            <a:xfrm>
              <a:off x="800100" y="2438705"/>
              <a:ext cx="761695" cy="5330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EDE3"/>
                </a:buClr>
                <a:buSzPts val="6600"/>
                <a:buFont typeface="Arial"/>
                <a:buNone/>
              </a:pPr>
              <a:r>
                <a:rPr b="0" i="0" lang="en-US" sz="6600" u="none" cap="none" strike="noStrike">
                  <a:solidFill>
                    <a:srgbClr val="FFEDE3"/>
                  </a:solidFill>
                  <a:latin typeface="Arial"/>
                  <a:ea typeface="Arial"/>
                  <a:cs typeface="Arial"/>
                  <a:sym typeface="Arial"/>
                </a:rPr>
                <a:t>01</a:t>
              </a:r>
              <a:endParaRPr b="0" i="0" sz="6600" u="none" cap="none" strike="noStrike">
                <a:solidFill>
                  <a:schemeClr val="dk1"/>
                </a:solidFill>
                <a:latin typeface="Calibri"/>
                <a:ea typeface="Calibri"/>
                <a:cs typeface="Calibri"/>
                <a:sym typeface="Calibri"/>
              </a:endParaRPr>
            </a:p>
          </p:txBody>
        </p:sp>
        <p:sp>
          <p:nvSpPr>
            <p:cNvPr id="1151" name="Google Shape;1151;g3e955750272_3_1105"/>
            <p:cNvSpPr/>
            <p:nvPr/>
          </p:nvSpPr>
          <p:spPr>
            <a:xfrm>
              <a:off x="800100" y="3010205"/>
              <a:ext cx="3123895" cy="2862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700"/>
                <a:buFont typeface="Arial"/>
                <a:buNone/>
              </a:pPr>
              <a:r>
                <a:rPr b="1" i="0" lang="en-US" sz="2700" u="none" cap="none" strike="noStrike">
                  <a:solidFill>
                    <a:srgbClr val="1A1A22"/>
                  </a:solidFill>
                  <a:latin typeface="Arial"/>
                  <a:ea typeface="Arial"/>
                  <a:cs typeface="Arial"/>
                  <a:sym typeface="Arial"/>
                </a:rPr>
                <a:t>데이터 표현 차이</a:t>
              </a:r>
              <a:endParaRPr b="0" i="0" sz="2700" u="none" cap="none" strike="noStrike">
                <a:solidFill>
                  <a:schemeClr val="dk1"/>
                </a:solidFill>
                <a:latin typeface="Calibri"/>
                <a:ea typeface="Calibri"/>
                <a:cs typeface="Calibri"/>
                <a:sym typeface="Calibri"/>
              </a:endParaRPr>
            </a:p>
          </p:txBody>
        </p:sp>
        <p:sp>
          <p:nvSpPr>
            <p:cNvPr id="1152" name="Google Shape;1152;g3e955750272_3_1105"/>
            <p:cNvSpPr/>
            <p:nvPr/>
          </p:nvSpPr>
          <p:spPr>
            <a:xfrm>
              <a:off x="800100" y="3391510"/>
              <a:ext cx="3123895" cy="9144"/>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53" name="Google Shape;1153;g3e955750272_3_1105"/>
            <p:cNvSpPr/>
            <p:nvPr/>
          </p:nvSpPr>
          <p:spPr>
            <a:xfrm>
              <a:off x="800100" y="3525012"/>
              <a:ext cx="3123895"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PROBLEM</a:t>
              </a:r>
              <a:endParaRPr b="0" i="0" sz="1400" u="none" cap="none" strike="noStrike">
                <a:solidFill>
                  <a:schemeClr val="dk1"/>
                </a:solidFill>
                <a:latin typeface="Calibri"/>
                <a:ea typeface="Calibri"/>
                <a:cs typeface="Calibri"/>
                <a:sym typeface="Calibri"/>
              </a:endParaRPr>
            </a:p>
          </p:txBody>
        </p:sp>
        <p:sp>
          <p:nvSpPr>
            <p:cNvPr id="1154" name="Google Shape;1154;g3e955750272_3_1105"/>
            <p:cNvSpPr/>
            <p:nvPr/>
          </p:nvSpPr>
          <p:spPr>
            <a:xfrm>
              <a:off x="800100" y="3715207"/>
              <a:ext cx="3123895" cy="6665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API마다 날짜, 지역, 분야 표현이 달라</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그대로 합치면 검색이 불안정</a:t>
              </a:r>
              <a:endParaRPr b="0" i="0" sz="1800" u="none" cap="none" strike="noStrike">
                <a:solidFill>
                  <a:schemeClr val="dk1"/>
                </a:solidFill>
                <a:latin typeface="Calibri"/>
                <a:ea typeface="Calibri"/>
                <a:cs typeface="Calibri"/>
                <a:sym typeface="Calibri"/>
              </a:endParaRPr>
            </a:p>
          </p:txBody>
        </p:sp>
        <p:sp>
          <p:nvSpPr>
            <p:cNvPr id="1155" name="Google Shape;1155;g3e955750272_3_1105"/>
            <p:cNvSpPr/>
            <p:nvPr/>
          </p:nvSpPr>
          <p:spPr>
            <a:xfrm>
              <a:off x="800100" y="4515307"/>
              <a:ext cx="3123895" cy="952805"/>
            </a:xfrm>
            <a:prstGeom prst="rect">
              <a:avLst/>
            </a:prstGeom>
            <a:solidFill>
              <a:srgbClr val="FFEDE3"/>
            </a:solidFill>
            <a:ln cap="flat" cmpd="sng" w="12700">
              <a:solidFill>
                <a:srgbClr val="FFEDE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56" name="Google Shape;1156;g3e955750272_3_1105"/>
            <p:cNvSpPr/>
            <p:nvPr/>
          </p:nvSpPr>
          <p:spPr>
            <a:xfrm>
              <a:off x="952805" y="4648810"/>
              <a:ext cx="2819400"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3412"/>
                </a:buClr>
                <a:buSzPts val="1400"/>
                <a:buFont typeface="Arial"/>
                <a:buNone/>
              </a:pPr>
              <a:r>
                <a:rPr b="1" i="0" lang="en-US" sz="1400" u="none" cap="none" strike="noStrike">
                  <a:solidFill>
                    <a:srgbClr val="9A3412"/>
                  </a:solidFill>
                  <a:latin typeface="Arial"/>
                  <a:ea typeface="Arial"/>
                  <a:cs typeface="Arial"/>
                  <a:sym typeface="Arial"/>
                </a:rPr>
                <a:t>SOLUTION</a:t>
              </a:r>
              <a:endParaRPr b="0" i="0" sz="1400" u="none" cap="none" strike="noStrike">
                <a:solidFill>
                  <a:schemeClr val="dk1"/>
                </a:solidFill>
                <a:latin typeface="Calibri"/>
                <a:ea typeface="Calibri"/>
                <a:cs typeface="Calibri"/>
                <a:sym typeface="Calibri"/>
              </a:endParaRPr>
            </a:p>
          </p:txBody>
        </p:sp>
        <p:sp>
          <p:nvSpPr>
            <p:cNvPr id="1157" name="Google Shape;1157;g3e955750272_3_1105"/>
            <p:cNvSpPr/>
            <p:nvPr/>
          </p:nvSpPr>
          <p:spPr>
            <a:xfrm>
              <a:off x="952805" y="4839005"/>
              <a:ext cx="28194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2000"/>
                <a:buFont typeface="Arial"/>
                <a:buNone/>
              </a:pPr>
              <a:r>
                <a:rPr b="1" i="0" lang="en-US" sz="2000" u="none" cap="none" strike="noStrike">
                  <a:solidFill>
                    <a:srgbClr val="2A2A33"/>
                  </a:solidFill>
                  <a:latin typeface="Arial"/>
                  <a:ea typeface="Arial"/>
                  <a:cs typeface="Arial"/>
                  <a:sym typeface="Arial"/>
                </a:rPr>
                <a:t>4종 룰표로 정제 기준을 맞춤</a:t>
              </a:r>
              <a:endParaRPr b="0" i="0" sz="2000" u="none" cap="none" strike="noStrike">
                <a:solidFill>
                  <a:schemeClr val="dk1"/>
                </a:solidFill>
                <a:latin typeface="Calibri"/>
                <a:ea typeface="Calibri"/>
                <a:cs typeface="Calibri"/>
                <a:sym typeface="Calibri"/>
              </a:endParaRPr>
            </a:p>
          </p:txBody>
        </p:sp>
      </p:grpSp>
      <p:grpSp>
        <p:nvGrpSpPr>
          <p:cNvPr id="1158" name="Google Shape;1158;g3e955750272_3_1105"/>
          <p:cNvGrpSpPr/>
          <p:nvPr/>
        </p:nvGrpSpPr>
        <p:grpSpPr>
          <a:xfrm>
            <a:off x="6515558" y="3372765"/>
            <a:ext cx="5257800" cy="5143500"/>
            <a:chOff x="4343705" y="2248510"/>
            <a:chExt cx="3505200" cy="3429000"/>
          </a:xfrm>
        </p:grpSpPr>
        <p:sp>
          <p:nvSpPr>
            <p:cNvPr id="1159" name="Google Shape;1159;g3e955750272_3_1105"/>
            <p:cNvSpPr/>
            <p:nvPr/>
          </p:nvSpPr>
          <p:spPr>
            <a:xfrm>
              <a:off x="4343705" y="2248510"/>
              <a:ext cx="3505200" cy="3429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60" name="Google Shape;1160;g3e955750272_3_1105"/>
            <p:cNvSpPr/>
            <p:nvPr/>
          </p:nvSpPr>
          <p:spPr>
            <a:xfrm>
              <a:off x="4533900" y="2438705"/>
              <a:ext cx="761695" cy="5330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DE9FE"/>
                </a:buClr>
                <a:buSzPts val="6600"/>
                <a:buFont typeface="Arial"/>
                <a:buNone/>
              </a:pPr>
              <a:r>
                <a:rPr b="0" i="0" lang="en-US" sz="6600" u="none" cap="none" strike="noStrike">
                  <a:solidFill>
                    <a:srgbClr val="EDE9FE"/>
                  </a:solidFill>
                  <a:latin typeface="Arial"/>
                  <a:ea typeface="Arial"/>
                  <a:cs typeface="Arial"/>
                  <a:sym typeface="Arial"/>
                </a:rPr>
                <a:t>02</a:t>
              </a:r>
              <a:endParaRPr b="0" i="0" sz="6600" u="none" cap="none" strike="noStrike">
                <a:solidFill>
                  <a:schemeClr val="dk1"/>
                </a:solidFill>
                <a:latin typeface="Calibri"/>
                <a:ea typeface="Calibri"/>
                <a:cs typeface="Calibri"/>
                <a:sym typeface="Calibri"/>
              </a:endParaRPr>
            </a:p>
          </p:txBody>
        </p:sp>
        <p:sp>
          <p:nvSpPr>
            <p:cNvPr id="1161" name="Google Shape;1161;g3e955750272_3_1105"/>
            <p:cNvSpPr/>
            <p:nvPr/>
          </p:nvSpPr>
          <p:spPr>
            <a:xfrm>
              <a:off x="4533900" y="3010205"/>
              <a:ext cx="3123895" cy="2862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700"/>
                <a:buFont typeface="Arial"/>
                <a:buNone/>
              </a:pPr>
              <a:r>
                <a:rPr b="1" i="0" lang="en-US" sz="2700" u="none" cap="none" strike="noStrike">
                  <a:solidFill>
                    <a:srgbClr val="1A1A22"/>
                  </a:solidFill>
                  <a:latin typeface="Arial"/>
                  <a:ea typeface="Arial"/>
                  <a:cs typeface="Arial"/>
                  <a:sym typeface="Arial"/>
                </a:rPr>
                <a:t>조건 우선순위</a:t>
              </a:r>
              <a:endParaRPr b="0" i="0" sz="2700" u="none" cap="none" strike="noStrike">
                <a:solidFill>
                  <a:schemeClr val="dk1"/>
                </a:solidFill>
                <a:latin typeface="Calibri"/>
                <a:ea typeface="Calibri"/>
                <a:cs typeface="Calibri"/>
                <a:sym typeface="Calibri"/>
              </a:endParaRPr>
            </a:p>
          </p:txBody>
        </p:sp>
        <p:sp>
          <p:nvSpPr>
            <p:cNvPr id="1162" name="Google Shape;1162;g3e955750272_3_1105"/>
            <p:cNvSpPr/>
            <p:nvPr/>
          </p:nvSpPr>
          <p:spPr>
            <a:xfrm>
              <a:off x="4533900" y="3391510"/>
              <a:ext cx="3123895" cy="9144"/>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63" name="Google Shape;1163;g3e955750272_3_1105"/>
            <p:cNvSpPr/>
            <p:nvPr/>
          </p:nvSpPr>
          <p:spPr>
            <a:xfrm>
              <a:off x="4533900" y="3525012"/>
              <a:ext cx="3123895"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PROBLEM</a:t>
              </a:r>
              <a:endParaRPr b="0" i="0" sz="1400" u="none" cap="none" strike="noStrike">
                <a:solidFill>
                  <a:schemeClr val="dk1"/>
                </a:solidFill>
                <a:latin typeface="Calibri"/>
                <a:ea typeface="Calibri"/>
                <a:cs typeface="Calibri"/>
                <a:sym typeface="Calibri"/>
              </a:endParaRPr>
            </a:p>
          </p:txBody>
        </p:sp>
        <p:sp>
          <p:nvSpPr>
            <p:cNvPr id="1164" name="Google Shape;1164;g3e955750272_3_1105"/>
            <p:cNvSpPr/>
            <p:nvPr/>
          </p:nvSpPr>
          <p:spPr>
            <a:xfrm>
              <a:off x="4533900" y="3715207"/>
              <a:ext cx="3123895" cy="6665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검색어, UI 필터, 프로필 조건이</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섞일 때 결과가 흔들림</a:t>
              </a:r>
              <a:endParaRPr b="0" i="0" sz="1800" u="none" cap="none" strike="noStrike">
                <a:solidFill>
                  <a:schemeClr val="dk1"/>
                </a:solidFill>
                <a:latin typeface="Calibri"/>
                <a:ea typeface="Calibri"/>
                <a:cs typeface="Calibri"/>
                <a:sym typeface="Calibri"/>
              </a:endParaRPr>
            </a:p>
          </p:txBody>
        </p:sp>
        <p:sp>
          <p:nvSpPr>
            <p:cNvPr id="1165" name="Google Shape;1165;g3e955750272_3_1105"/>
            <p:cNvSpPr/>
            <p:nvPr/>
          </p:nvSpPr>
          <p:spPr>
            <a:xfrm>
              <a:off x="4533900" y="4515307"/>
              <a:ext cx="3123895" cy="952805"/>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66" name="Google Shape;1166;g3e955750272_3_1105"/>
            <p:cNvSpPr/>
            <p:nvPr/>
          </p:nvSpPr>
          <p:spPr>
            <a:xfrm>
              <a:off x="4686605" y="4648810"/>
              <a:ext cx="2819400"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1400"/>
                <a:buFont typeface="Arial"/>
                <a:buNone/>
              </a:pPr>
              <a:r>
                <a:rPr b="1" i="0" lang="en-US" sz="1400" u="none" cap="none" strike="noStrike">
                  <a:solidFill>
                    <a:srgbClr val="5B21B6"/>
                  </a:solidFill>
                  <a:latin typeface="Arial"/>
                  <a:ea typeface="Arial"/>
                  <a:cs typeface="Arial"/>
                  <a:sym typeface="Arial"/>
                </a:rPr>
                <a:t>SOLUTION</a:t>
              </a:r>
              <a:endParaRPr b="0" i="0" sz="1400" u="none" cap="none" strike="noStrike">
                <a:solidFill>
                  <a:schemeClr val="dk1"/>
                </a:solidFill>
                <a:latin typeface="Calibri"/>
                <a:ea typeface="Calibri"/>
                <a:cs typeface="Calibri"/>
                <a:sym typeface="Calibri"/>
              </a:endParaRPr>
            </a:p>
          </p:txBody>
        </p:sp>
        <p:sp>
          <p:nvSpPr>
            <p:cNvPr id="1167" name="Google Shape;1167;g3e955750272_3_1105"/>
            <p:cNvSpPr/>
            <p:nvPr/>
          </p:nvSpPr>
          <p:spPr>
            <a:xfrm>
              <a:off x="4686605" y="4839005"/>
              <a:ext cx="28194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2000"/>
                <a:buFont typeface="Arial"/>
                <a:buNone/>
              </a:pPr>
              <a:r>
                <a:rPr b="1" i="0" lang="en-US" sz="1800" u="none" cap="none" strike="noStrike">
                  <a:solidFill>
                    <a:srgbClr val="2A2A33"/>
                  </a:solidFill>
                  <a:latin typeface="Arial"/>
                  <a:ea typeface="Arial"/>
                  <a:cs typeface="Arial"/>
                  <a:sym typeface="Arial"/>
                </a:rPr>
                <a:t>통합·조건·추천·챗봇을</a:t>
              </a:r>
              <a:r>
                <a:rPr lang="en-US" sz="1800">
                  <a:solidFill>
                    <a:schemeClr val="dk1"/>
                  </a:solidFill>
                  <a:latin typeface="Calibri"/>
                  <a:ea typeface="Calibri"/>
                  <a:cs typeface="Calibri"/>
                  <a:sym typeface="Calibri"/>
                </a:rPr>
                <a:t> </a:t>
              </a:r>
              <a:r>
                <a:rPr b="1" i="0" lang="en-US" sz="1800" u="none" cap="none" strike="noStrike">
                  <a:solidFill>
                    <a:srgbClr val="2A2A33"/>
                  </a:solidFill>
                  <a:latin typeface="Arial"/>
                  <a:ea typeface="Arial"/>
                  <a:cs typeface="Arial"/>
                  <a:sym typeface="Arial"/>
                </a:rPr>
                <a:t>기능별 흐름으로 분리해</a:t>
              </a:r>
              <a:r>
                <a:rPr lang="en-US" sz="1800">
                  <a:solidFill>
                    <a:schemeClr val="dk1"/>
                  </a:solidFill>
                  <a:latin typeface="Calibri"/>
                  <a:ea typeface="Calibri"/>
                  <a:cs typeface="Calibri"/>
                  <a:sym typeface="Calibri"/>
                </a:rPr>
                <a:t> </a:t>
              </a:r>
              <a:r>
                <a:rPr b="1" i="0" lang="en-US" sz="1800" u="none" cap="none" strike="noStrike">
                  <a:solidFill>
                    <a:srgbClr val="2A2A33"/>
                  </a:solidFill>
                  <a:latin typeface="Arial"/>
                  <a:ea typeface="Arial"/>
                  <a:cs typeface="Arial"/>
                  <a:sym typeface="Arial"/>
                </a:rPr>
                <a:t>결과 해석 가능성을 확보</a:t>
              </a:r>
              <a:endParaRPr b="0" i="0" sz="1800" u="none" cap="none" strike="noStrike">
                <a:solidFill>
                  <a:schemeClr val="dk1"/>
                </a:solidFill>
                <a:latin typeface="Calibri"/>
                <a:ea typeface="Calibri"/>
                <a:cs typeface="Calibri"/>
                <a:sym typeface="Calibri"/>
              </a:endParaRPr>
            </a:p>
          </p:txBody>
        </p:sp>
      </p:grpSp>
      <p:grpSp>
        <p:nvGrpSpPr>
          <p:cNvPr id="1168" name="Google Shape;1168;g3e955750272_3_1105"/>
          <p:cNvGrpSpPr/>
          <p:nvPr/>
        </p:nvGrpSpPr>
        <p:grpSpPr>
          <a:xfrm>
            <a:off x="12116258" y="3372765"/>
            <a:ext cx="5257800" cy="5143500"/>
            <a:chOff x="8077505" y="2248510"/>
            <a:chExt cx="3505200" cy="3429000"/>
          </a:xfrm>
        </p:grpSpPr>
        <p:sp>
          <p:nvSpPr>
            <p:cNvPr id="1169" name="Google Shape;1169;g3e955750272_3_1105"/>
            <p:cNvSpPr/>
            <p:nvPr/>
          </p:nvSpPr>
          <p:spPr>
            <a:xfrm>
              <a:off x="8077505" y="2248510"/>
              <a:ext cx="3505200" cy="3429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70" name="Google Shape;1170;g3e955750272_3_1105"/>
            <p:cNvSpPr/>
            <p:nvPr/>
          </p:nvSpPr>
          <p:spPr>
            <a:xfrm>
              <a:off x="8267700" y="2438705"/>
              <a:ext cx="761695" cy="53309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3F5E8"/>
                </a:buClr>
                <a:buSzPts val="6600"/>
                <a:buFont typeface="Arial"/>
                <a:buNone/>
              </a:pPr>
              <a:r>
                <a:rPr b="0" i="0" lang="en-US" sz="6600" u="none" cap="none" strike="noStrike">
                  <a:solidFill>
                    <a:srgbClr val="E3F5E8"/>
                  </a:solidFill>
                  <a:latin typeface="Arial"/>
                  <a:ea typeface="Arial"/>
                  <a:cs typeface="Arial"/>
                  <a:sym typeface="Arial"/>
                </a:rPr>
                <a:t>03</a:t>
              </a:r>
              <a:endParaRPr b="0" i="0" sz="6600" u="none" cap="none" strike="noStrike">
                <a:solidFill>
                  <a:schemeClr val="dk1"/>
                </a:solidFill>
                <a:latin typeface="Calibri"/>
                <a:ea typeface="Calibri"/>
                <a:cs typeface="Calibri"/>
                <a:sym typeface="Calibri"/>
              </a:endParaRPr>
            </a:p>
          </p:txBody>
        </p:sp>
        <p:sp>
          <p:nvSpPr>
            <p:cNvPr id="1171" name="Google Shape;1171;g3e955750272_3_1105"/>
            <p:cNvSpPr/>
            <p:nvPr/>
          </p:nvSpPr>
          <p:spPr>
            <a:xfrm>
              <a:off x="8267700" y="3010205"/>
              <a:ext cx="3123895" cy="2862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700"/>
                <a:buFont typeface="Arial"/>
                <a:buNone/>
              </a:pPr>
              <a:r>
                <a:rPr b="1" i="0" lang="en-US" sz="2700" u="none" cap="none" strike="noStrike">
                  <a:solidFill>
                    <a:srgbClr val="1A1A22"/>
                  </a:solidFill>
                  <a:latin typeface="Arial"/>
                  <a:ea typeface="Arial"/>
                  <a:cs typeface="Arial"/>
                  <a:sym typeface="Arial"/>
                </a:rPr>
                <a:t>유사 · 중복 공고 처리</a:t>
              </a:r>
              <a:endParaRPr b="0" i="0" sz="2700" u="none" cap="none" strike="noStrike">
                <a:solidFill>
                  <a:schemeClr val="dk1"/>
                </a:solidFill>
                <a:latin typeface="Calibri"/>
                <a:ea typeface="Calibri"/>
                <a:cs typeface="Calibri"/>
                <a:sym typeface="Calibri"/>
              </a:endParaRPr>
            </a:p>
          </p:txBody>
        </p:sp>
        <p:sp>
          <p:nvSpPr>
            <p:cNvPr id="1172" name="Google Shape;1172;g3e955750272_3_1105"/>
            <p:cNvSpPr/>
            <p:nvPr/>
          </p:nvSpPr>
          <p:spPr>
            <a:xfrm>
              <a:off x="8267700" y="3391510"/>
              <a:ext cx="3123895" cy="9144"/>
            </a:xfrm>
            <a:prstGeom prst="rect">
              <a:avLst/>
            </a:prstGeom>
            <a:solidFill>
              <a:srgbClr val="EEF0F3"/>
            </a:solidFill>
            <a:ln cap="flat" cmpd="sng" w="12700">
              <a:solidFill>
                <a:srgbClr val="EEF0F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73" name="Google Shape;1173;g3e955750272_3_1105"/>
            <p:cNvSpPr/>
            <p:nvPr/>
          </p:nvSpPr>
          <p:spPr>
            <a:xfrm>
              <a:off x="8267700" y="3525012"/>
              <a:ext cx="3123895"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PROBLEM</a:t>
              </a:r>
              <a:endParaRPr b="0" i="0" sz="1400" u="none" cap="none" strike="noStrike">
                <a:solidFill>
                  <a:schemeClr val="dk1"/>
                </a:solidFill>
                <a:latin typeface="Calibri"/>
                <a:ea typeface="Calibri"/>
                <a:cs typeface="Calibri"/>
                <a:sym typeface="Calibri"/>
              </a:endParaRPr>
            </a:p>
          </p:txBody>
        </p:sp>
        <p:sp>
          <p:nvSpPr>
            <p:cNvPr id="1174" name="Google Shape;1174;g3e955750272_3_1105"/>
            <p:cNvSpPr/>
            <p:nvPr/>
          </p:nvSpPr>
          <p:spPr>
            <a:xfrm>
              <a:off x="8267700" y="3715207"/>
              <a:ext cx="3123895" cy="6665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같은 정책명처럼 보여도</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중앙부처와 지자체 안내가</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4F5A"/>
                </a:buClr>
                <a:buSzPts val="1800"/>
                <a:buFont typeface="Arial"/>
                <a:buNone/>
              </a:pPr>
              <a:r>
                <a:rPr b="0" i="0" lang="en-US" sz="1800" u="none" cap="none" strike="noStrike">
                  <a:solidFill>
                    <a:srgbClr val="4A4F5A"/>
                  </a:solidFill>
                  <a:latin typeface="Arial"/>
                  <a:ea typeface="Arial"/>
                  <a:cs typeface="Arial"/>
                  <a:sym typeface="Arial"/>
                </a:rPr>
                <a:t>기관·지역·URL이 달라 중복처럼 보임</a:t>
              </a:r>
              <a:endParaRPr b="0" i="0" sz="1800" u="none" cap="none" strike="noStrike">
                <a:solidFill>
                  <a:schemeClr val="dk1"/>
                </a:solidFill>
                <a:latin typeface="Calibri"/>
                <a:ea typeface="Calibri"/>
                <a:cs typeface="Calibri"/>
                <a:sym typeface="Calibri"/>
              </a:endParaRPr>
            </a:p>
          </p:txBody>
        </p:sp>
        <p:sp>
          <p:nvSpPr>
            <p:cNvPr id="1175" name="Google Shape;1175;g3e955750272_3_1105"/>
            <p:cNvSpPr/>
            <p:nvPr/>
          </p:nvSpPr>
          <p:spPr>
            <a:xfrm>
              <a:off x="8267700" y="4515307"/>
              <a:ext cx="3123895" cy="952805"/>
            </a:xfrm>
            <a:prstGeom prst="rect">
              <a:avLst/>
            </a:prstGeom>
            <a:solidFill>
              <a:srgbClr val="E3F5E8"/>
            </a:solidFill>
            <a:ln cap="flat" cmpd="sng" w="12700">
              <a:solidFill>
                <a:srgbClr val="E3F5E8"/>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76" name="Google Shape;1176;g3e955750272_3_1105"/>
            <p:cNvSpPr/>
            <p:nvPr/>
          </p:nvSpPr>
          <p:spPr>
            <a:xfrm>
              <a:off x="8420405" y="4648810"/>
              <a:ext cx="2819400"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6534"/>
                </a:buClr>
                <a:buSzPts val="1400"/>
                <a:buFont typeface="Arial"/>
                <a:buNone/>
              </a:pPr>
              <a:r>
                <a:rPr b="1" i="0" lang="en-US" sz="1400" u="none" cap="none" strike="noStrike">
                  <a:solidFill>
                    <a:srgbClr val="166534"/>
                  </a:solidFill>
                  <a:latin typeface="Arial"/>
                  <a:ea typeface="Arial"/>
                  <a:cs typeface="Arial"/>
                  <a:sym typeface="Arial"/>
                </a:rPr>
                <a:t>SOLUTION</a:t>
              </a:r>
              <a:endParaRPr b="0" i="0" sz="1400" u="none" cap="none" strike="noStrike">
                <a:solidFill>
                  <a:schemeClr val="dk1"/>
                </a:solidFill>
                <a:latin typeface="Calibri"/>
                <a:ea typeface="Calibri"/>
                <a:cs typeface="Calibri"/>
                <a:sym typeface="Calibri"/>
              </a:endParaRPr>
            </a:p>
          </p:txBody>
        </p:sp>
        <p:sp>
          <p:nvSpPr>
            <p:cNvPr id="1177" name="Google Shape;1177;g3e955750272_3_1105"/>
            <p:cNvSpPr/>
            <p:nvPr/>
          </p:nvSpPr>
          <p:spPr>
            <a:xfrm>
              <a:off x="8420405" y="4839005"/>
              <a:ext cx="28194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2000"/>
                <a:buFont typeface="Arial"/>
                <a:buNone/>
              </a:pPr>
              <a:r>
                <a:rPr b="1" i="0" lang="en-US" sz="2000" u="none" cap="none" strike="noStrike">
                  <a:solidFill>
                    <a:srgbClr val="2A2A33"/>
                  </a:solidFill>
                  <a:latin typeface="Arial"/>
                  <a:ea typeface="Arial"/>
                  <a:cs typeface="Arial"/>
                  <a:sym typeface="Arial"/>
                </a:rPr>
                <a:t>정보 손실 방지 위해</a:t>
              </a:r>
              <a:r>
                <a:rPr lang="en-US" sz="2000">
                  <a:solidFill>
                    <a:schemeClr val="dk1"/>
                  </a:solidFill>
                  <a:latin typeface="Calibri"/>
                  <a:ea typeface="Calibri"/>
                  <a:cs typeface="Calibri"/>
                  <a:sym typeface="Calibri"/>
                </a:rPr>
                <a:t> </a:t>
              </a:r>
              <a:r>
                <a:rPr b="1" i="0" lang="en-US" sz="2000" u="none" cap="none" strike="noStrike">
                  <a:solidFill>
                    <a:srgbClr val="2A2A33"/>
                  </a:solidFill>
                  <a:latin typeface="Arial"/>
                  <a:ea typeface="Arial"/>
                  <a:cs typeface="Arial"/>
                  <a:sym typeface="Arial"/>
                </a:rPr>
                <a:t>별도 공고로 유지, 향후</a:t>
              </a:r>
              <a:r>
                <a:rPr lang="en-US" sz="2000">
                  <a:solidFill>
                    <a:schemeClr val="dk1"/>
                  </a:solidFill>
                  <a:latin typeface="Calibri"/>
                  <a:ea typeface="Calibri"/>
                  <a:cs typeface="Calibri"/>
                  <a:sym typeface="Calibri"/>
                </a:rPr>
                <a:t> </a:t>
              </a:r>
              <a:r>
                <a:rPr b="1" i="0" lang="en-US" sz="2000" u="none" cap="none" strike="noStrike">
                  <a:solidFill>
                    <a:srgbClr val="2A2A33"/>
                  </a:solidFill>
                  <a:latin typeface="Arial"/>
                  <a:ea typeface="Arial"/>
                  <a:cs typeface="Arial"/>
                  <a:sym typeface="Arial"/>
                </a:rPr>
                <a:t>유사 공고 묶어보기로 개선 예정</a:t>
              </a:r>
              <a:endParaRPr b="0" i="0" sz="20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1000"/>
                                        <p:tgtEl>
                                          <p:spTgt spid="1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1000"/>
                                        <p:tgtEl>
                                          <p:spTgt spid="1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1000"/>
                                        <p:tgtEl>
                                          <p:spTgt spid="1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2" name="Shape 1182"/>
        <p:cNvGrpSpPr/>
        <p:nvPr/>
      </p:nvGrpSpPr>
      <p:grpSpPr>
        <a:xfrm>
          <a:off x="0" y="0"/>
          <a:ext cx="0" cy="0"/>
          <a:chOff x="0" y="0"/>
          <a:chExt cx="0" cy="0"/>
        </a:xfrm>
      </p:grpSpPr>
      <p:sp>
        <p:nvSpPr>
          <p:cNvPr id="1183" name="Google Shape;1183;g3e955750272_3_1146"/>
          <p:cNvSpPr/>
          <p:nvPr/>
        </p:nvSpPr>
        <p:spPr>
          <a:xfrm>
            <a:off x="914858" y="772211"/>
            <a:ext cx="113842" cy="113842"/>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84" name="Google Shape;1184;g3e955750272_3_1146"/>
          <p:cNvSpPr/>
          <p:nvPr/>
        </p:nvSpPr>
        <p:spPr>
          <a:xfrm>
            <a:off x="1143915" y="685800"/>
            <a:ext cx="16230143" cy="2852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CH.08  ·  정리</a:t>
            </a:r>
            <a:endParaRPr b="0" i="0" sz="1400" u="none" cap="none" strike="noStrike">
              <a:solidFill>
                <a:schemeClr val="dk1"/>
              </a:solidFill>
              <a:latin typeface="Calibri"/>
              <a:ea typeface="Calibri"/>
              <a:cs typeface="Calibri"/>
              <a:sym typeface="Calibri"/>
            </a:endParaRPr>
          </a:p>
        </p:txBody>
      </p:sp>
      <p:sp>
        <p:nvSpPr>
          <p:cNvPr id="1185" name="Google Shape;1185;g3e955750272_3_1146"/>
          <p:cNvSpPr/>
          <p:nvPr/>
        </p:nvSpPr>
        <p:spPr>
          <a:xfrm>
            <a:off x="914857" y="1200150"/>
            <a:ext cx="16459200" cy="79964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2"/>
              </a:buClr>
              <a:buSzPts val="4200"/>
              <a:buFont typeface="Arial"/>
              <a:buNone/>
            </a:pPr>
            <a:r>
              <a:rPr b="1" i="0" lang="en-US" sz="4200" u="none" cap="none" strike="noStrike">
                <a:solidFill>
                  <a:srgbClr val="1A1A22"/>
                </a:solidFill>
                <a:latin typeface="Arial"/>
                <a:ea typeface="Arial"/>
                <a:cs typeface="Arial"/>
                <a:sym typeface="Arial"/>
              </a:rPr>
              <a:t>하나의 흐름으로 연결</a:t>
            </a:r>
            <a:endParaRPr b="0" i="0" sz="4200" u="none" cap="none" strike="noStrike">
              <a:solidFill>
                <a:schemeClr val="dk1"/>
              </a:solidFill>
              <a:latin typeface="Calibri"/>
              <a:ea typeface="Calibri"/>
              <a:cs typeface="Calibri"/>
              <a:sym typeface="Calibri"/>
            </a:endParaRPr>
          </a:p>
        </p:txBody>
      </p:sp>
      <p:sp>
        <p:nvSpPr>
          <p:cNvPr id="1186" name="Google Shape;1186;g3e955750272_3_1146"/>
          <p:cNvSpPr/>
          <p:nvPr/>
        </p:nvSpPr>
        <p:spPr>
          <a:xfrm>
            <a:off x="914857" y="2115007"/>
            <a:ext cx="16459200" cy="400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F5A"/>
              </a:buClr>
              <a:buSzPts val="2000"/>
              <a:buFont typeface="Arial"/>
              <a:buNone/>
            </a:pPr>
            <a:r>
              <a:rPr b="0" i="0" lang="en-US" sz="2000" u="none" cap="none" strike="noStrike">
                <a:solidFill>
                  <a:srgbClr val="4A4F5A"/>
                </a:solidFill>
                <a:latin typeface="Arial"/>
                <a:ea typeface="Arial"/>
                <a:cs typeface="Arial"/>
                <a:sym typeface="Arial"/>
              </a:rPr>
              <a:t>제한된 시간 안에서 웹 서비스 흐름을 우선 완성했습니다.</a:t>
            </a:r>
            <a:endParaRPr b="0" i="0" sz="2000" u="none" cap="none" strike="noStrike">
              <a:solidFill>
                <a:schemeClr val="dk1"/>
              </a:solidFill>
              <a:latin typeface="Calibri"/>
              <a:ea typeface="Calibri"/>
              <a:cs typeface="Calibri"/>
              <a:sym typeface="Calibri"/>
            </a:endParaRPr>
          </a:p>
        </p:txBody>
      </p:sp>
      <p:sp>
        <p:nvSpPr>
          <p:cNvPr id="1187" name="Google Shape;1187;g3e955750272_3_1146"/>
          <p:cNvSpPr/>
          <p:nvPr/>
        </p:nvSpPr>
        <p:spPr>
          <a:xfrm>
            <a:off x="914857" y="2685593"/>
            <a:ext cx="1645920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88" name="Google Shape;1188;g3e955750272_3_1146"/>
          <p:cNvSpPr/>
          <p:nvPr/>
        </p:nvSpPr>
        <p:spPr>
          <a:xfrm>
            <a:off x="914858" y="9543592"/>
            <a:ext cx="1142954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1400"/>
              <a:buFont typeface="Arial"/>
              <a:buNone/>
            </a:pPr>
            <a:r>
              <a:rPr b="1" i="0" lang="en-US" sz="1400" u="none" cap="none" strike="noStrike">
                <a:solidFill>
                  <a:srgbClr val="1A1A22"/>
                </a:solidFill>
                <a:latin typeface="Arial"/>
                <a:ea typeface="Arial"/>
                <a:cs typeface="Arial"/>
                <a:sym typeface="Arial"/>
              </a:rPr>
              <a:t>PolicyRec</a:t>
            </a:r>
            <a:r>
              <a:rPr b="0" i="0" lang="en-US" sz="1400" u="none" cap="none" strike="noStrike">
                <a:solidFill>
                  <a:srgbClr val="6B7280"/>
                </a:solidFill>
                <a:latin typeface="Arial"/>
                <a:ea typeface="Arial"/>
                <a:cs typeface="Arial"/>
                <a:sym typeface="Arial"/>
              </a:rPr>
              <a:t>  ·  정리 · 다음 방향</a:t>
            </a:r>
            <a:endParaRPr b="0" i="0" sz="1400" u="none" cap="none" strike="noStrike">
              <a:solidFill>
                <a:schemeClr val="dk1"/>
              </a:solidFill>
              <a:latin typeface="Calibri"/>
              <a:ea typeface="Calibri"/>
              <a:cs typeface="Calibri"/>
              <a:sym typeface="Calibri"/>
            </a:endParaRPr>
          </a:p>
        </p:txBody>
      </p:sp>
      <p:sp>
        <p:nvSpPr>
          <p:cNvPr id="1189" name="Google Shape;1189;g3e955750272_3_1146"/>
          <p:cNvSpPr/>
          <p:nvPr/>
        </p:nvSpPr>
        <p:spPr>
          <a:xfrm>
            <a:off x="15659558" y="9543592"/>
            <a:ext cx="17145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22 / 23</a:t>
            </a:r>
            <a:endParaRPr b="0" i="0" sz="1400" u="none" cap="none" strike="noStrike">
              <a:solidFill>
                <a:schemeClr val="dk1"/>
              </a:solidFill>
              <a:latin typeface="Calibri"/>
              <a:ea typeface="Calibri"/>
              <a:cs typeface="Calibri"/>
              <a:sym typeface="Calibri"/>
            </a:endParaRPr>
          </a:p>
        </p:txBody>
      </p:sp>
      <p:sp>
        <p:nvSpPr>
          <p:cNvPr id="1190" name="Google Shape;1190;g3e955750272_3_1146"/>
          <p:cNvSpPr/>
          <p:nvPr/>
        </p:nvSpPr>
        <p:spPr>
          <a:xfrm>
            <a:off x="914857" y="3372765"/>
            <a:ext cx="8000542"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2100"/>
              <a:buFont typeface="Arial"/>
              <a:buNone/>
            </a:pPr>
            <a:r>
              <a:rPr b="1" i="0" lang="en-US" sz="2100" u="none" cap="none" strike="noStrike">
                <a:solidFill>
                  <a:srgbClr val="6B7280"/>
                </a:solidFill>
                <a:latin typeface="Arial"/>
                <a:ea typeface="Arial"/>
                <a:cs typeface="Arial"/>
                <a:sym typeface="Arial"/>
              </a:rPr>
              <a:t>연결된 흐름</a:t>
            </a:r>
            <a:endParaRPr b="0" i="0" sz="2100" u="none" cap="none" strike="noStrike">
              <a:solidFill>
                <a:schemeClr val="dk1"/>
              </a:solidFill>
              <a:latin typeface="Calibri"/>
              <a:ea typeface="Calibri"/>
              <a:cs typeface="Calibri"/>
              <a:sym typeface="Calibri"/>
            </a:endParaRPr>
          </a:p>
        </p:txBody>
      </p:sp>
      <p:sp>
        <p:nvSpPr>
          <p:cNvPr id="1191" name="Google Shape;1191;g3e955750272_3_1146"/>
          <p:cNvSpPr/>
          <p:nvPr/>
        </p:nvSpPr>
        <p:spPr>
          <a:xfrm>
            <a:off x="914858" y="4058565"/>
            <a:ext cx="400508" cy="400507"/>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92" name="Google Shape;1192;g3e955750272_3_1146"/>
          <p:cNvSpPr/>
          <p:nvPr/>
        </p:nvSpPr>
        <p:spPr>
          <a:xfrm>
            <a:off x="914858" y="4058565"/>
            <a:ext cx="400508" cy="4005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1193" name="Google Shape;1193;g3e955750272_3_1146"/>
          <p:cNvSpPr/>
          <p:nvPr/>
        </p:nvSpPr>
        <p:spPr>
          <a:xfrm>
            <a:off x="1543050" y="3944721"/>
            <a:ext cx="7372350" cy="6281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공식 API 수집</a:t>
            </a:r>
            <a:endParaRPr b="0" i="0" sz="2400" u="none" cap="none" strike="noStrike">
              <a:solidFill>
                <a:schemeClr val="dk1"/>
              </a:solidFill>
              <a:latin typeface="Calibri"/>
              <a:ea typeface="Calibri"/>
              <a:cs typeface="Calibri"/>
              <a:sym typeface="Calibri"/>
            </a:endParaRPr>
          </a:p>
        </p:txBody>
      </p:sp>
      <p:sp>
        <p:nvSpPr>
          <p:cNvPr id="1194" name="Google Shape;1194;g3e955750272_3_1146"/>
          <p:cNvSpPr/>
          <p:nvPr/>
        </p:nvSpPr>
        <p:spPr>
          <a:xfrm>
            <a:off x="1100024" y="4516679"/>
            <a:ext cx="28803" cy="3429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95" name="Google Shape;1195;g3e955750272_3_1146"/>
          <p:cNvSpPr/>
          <p:nvPr/>
        </p:nvSpPr>
        <p:spPr>
          <a:xfrm>
            <a:off x="914858" y="4973421"/>
            <a:ext cx="400508" cy="400508"/>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96" name="Google Shape;1196;g3e955750272_3_1146"/>
          <p:cNvSpPr/>
          <p:nvPr/>
        </p:nvSpPr>
        <p:spPr>
          <a:xfrm>
            <a:off x="914858" y="4973421"/>
            <a:ext cx="400508" cy="4005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1197" name="Google Shape;1197;g3e955750272_3_1146"/>
          <p:cNvSpPr/>
          <p:nvPr/>
        </p:nvSpPr>
        <p:spPr>
          <a:xfrm>
            <a:off x="1543050" y="4859579"/>
            <a:ext cx="7372350" cy="6281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EDA · 전처리</a:t>
            </a:r>
            <a:endParaRPr b="0" i="0" sz="2400" u="none" cap="none" strike="noStrike">
              <a:solidFill>
                <a:schemeClr val="dk1"/>
              </a:solidFill>
              <a:latin typeface="Calibri"/>
              <a:ea typeface="Calibri"/>
              <a:cs typeface="Calibri"/>
              <a:sym typeface="Calibri"/>
            </a:endParaRPr>
          </a:p>
        </p:txBody>
      </p:sp>
      <p:sp>
        <p:nvSpPr>
          <p:cNvPr id="1198" name="Google Shape;1198;g3e955750272_3_1146"/>
          <p:cNvSpPr/>
          <p:nvPr/>
        </p:nvSpPr>
        <p:spPr>
          <a:xfrm>
            <a:off x="1100024" y="5431536"/>
            <a:ext cx="28803" cy="3429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199" name="Google Shape;1199;g3e955750272_3_1146"/>
          <p:cNvSpPr/>
          <p:nvPr/>
        </p:nvSpPr>
        <p:spPr>
          <a:xfrm>
            <a:off x="914858" y="5888279"/>
            <a:ext cx="400508" cy="400507"/>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00" name="Google Shape;1200;g3e955750272_3_1146"/>
          <p:cNvSpPr/>
          <p:nvPr/>
        </p:nvSpPr>
        <p:spPr>
          <a:xfrm>
            <a:off x="914858" y="5888279"/>
            <a:ext cx="400508" cy="4005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1201" name="Google Shape;1201;g3e955750272_3_1146"/>
          <p:cNvSpPr/>
          <p:nvPr/>
        </p:nvSpPr>
        <p:spPr>
          <a:xfrm>
            <a:off x="1543050" y="5774436"/>
            <a:ext cx="7372350" cy="6281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Supabase 저장</a:t>
            </a:r>
            <a:endParaRPr b="0" i="0" sz="2400" u="none" cap="none" strike="noStrike">
              <a:solidFill>
                <a:schemeClr val="dk1"/>
              </a:solidFill>
              <a:latin typeface="Calibri"/>
              <a:ea typeface="Calibri"/>
              <a:cs typeface="Calibri"/>
              <a:sym typeface="Calibri"/>
            </a:endParaRPr>
          </a:p>
        </p:txBody>
      </p:sp>
      <p:sp>
        <p:nvSpPr>
          <p:cNvPr id="1202" name="Google Shape;1202;g3e955750272_3_1146"/>
          <p:cNvSpPr/>
          <p:nvPr/>
        </p:nvSpPr>
        <p:spPr>
          <a:xfrm>
            <a:off x="1100024" y="6346394"/>
            <a:ext cx="28803" cy="34290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03" name="Google Shape;1203;g3e955750272_3_1146"/>
          <p:cNvSpPr/>
          <p:nvPr/>
        </p:nvSpPr>
        <p:spPr>
          <a:xfrm>
            <a:off x="914858" y="6803136"/>
            <a:ext cx="400508" cy="400507"/>
          </a:xfrm>
          <a:prstGeom prst="ellipse">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04" name="Google Shape;1204;g3e955750272_3_1146"/>
          <p:cNvSpPr/>
          <p:nvPr/>
        </p:nvSpPr>
        <p:spPr>
          <a:xfrm>
            <a:off x="914858" y="6803136"/>
            <a:ext cx="400508" cy="4005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
        <p:nvSpPr>
          <p:cNvPr id="1205" name="Google Shape;1205;g3e955750272_3_1146"/>
          <p:cNvSpPr/>
          <p:nvPr/>
        </p:nvSpPr>
        <p:spPr>
          <a:xfrm>
            <a:off x="1543050" y="6689294"/>
            <a:ext cx="7372350" cy="6281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2"/>
              </a:buClr>
              <a:buSzPts val="2400"/>
              <a:buFont typeface="Arial"/>
              <a:buNone/>
            </a:pPr>
            <a:r>
              <a:rPr b="1" i="0" lang="en-US" sz="2400" u="none" cap="none" strike="noStrike">
                <a:solidFill>
                  <a:srgbClr val="1A1A22"/>
                </a:solidFill>
                <a:latin typeface="Arial"/>
                <a:ea typeface="Arial"/>
                <a:cs typeface="Arial"/>
                <a:sym typeface="Arial"/>
              </a:rPr>
              <a:t>Next.js 웹 · 검색 / 추천 / 챗봇</a:t>
            </a:r>
            <a:endParaRPr b="0" i="0" sz="2400" u="none" cap="none" strike="noStrike">
              <a:solidFill>
                <a:schemeClr val="dk1"/>
              </a:solidFill>
              <a:latin typeface="Calibri"/>
              <a:ea typeface="Calibri"/>
              <a:cs typeface="Calibri"/>
              <a:sym typeface="Calibri"/>
            </a:endParaRPr>
          </a:p>
        </p:txBody>
      </p:sp>
      <p:sp>
        <p:nvSpPr>
          <p:cNvPr id="1206" name="Google Shape;1206;g3e955750272_3_1146"/>
          <p:cNvSpPr/>
          <p:nvPr/>
        </p:nvSpPr>
        <p:spPr>
          <a:xfrm>
            <a:off x="10059315" y="3372765"/>
            <a:ext cx="7314743"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2100"/>
              <a:buFont typeface="Arial"/>
              <a:buNone/>
            </a:pPr>
            <a:r>
              <a:rPr b="1" i="0" lang="en-US" sz="2100" u="none" cap="none" strike="noStrike">
                <a:solidFill>
                  <a:srgbClr val="6B7280"/>
                </a:solidFill>
                <a:latin typeface="Arial"/>
                <a:ea typeface="Arial"/>
                <a:cs typeface="Arial"/>
                <a:sym typeface="Arial"/>
              </a:rPr>
              <a:t>다음 방향</a:t>
            </a:r>
            <a:endParaRPr b="0" i="0" sz="2100" u="none" cap="none" strike="noStrike">
              <a:solidFill>
                <a:schemeClr val="dk1"/>
              </a:solidFill>
              <a:latin typeface="Calibri"/>
              <a:ea typeface="Calibri"/>
              <a:cs typeface="Calibri"/>
              <a:sym typeface="Calibri"/>
            </a:endParaRPr>
          </a:p>
        </p:txBody>
      </p:sp>
      <p:sp>
        <p:nvSpPr>
          <p:cNvPr id="1207" name="Google Shape;1207;g3e955750272_3_1146"/>
          <p:cNvSpPr/>
          <p:nvPr/>
        </p:nvSpPr>
        <p:spPr>
          <a:xfrm>
            <a:off x="10059315" y="3944721"/>
            <a:ext cx="7314743" cy="799643"/>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08" name="Google Shape;1208;g3e955750272_3_1146"/>
          <p:cNvSpPr/>
          <p:nvPr/>
        </p:nvSpPr>
        <p:spPr>
          <a:xfrm>
            <a:off x="10344608" y="4058565"/>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2000"/>
              <a:buFont typeface="Arial"/>
              <a:buNone/>
            </a:pPr>
            <a:r>
              <a:rPr b="1" i="0" lang="en-US" sz="2000" u="none" cap="none" strike="noStrike">
                <a:solidFill>
                  <a:srgbClr val="3F3FB8"/>
                </a:solidFill>
                <a:latin typeface="Arial"/>
                <a:ea typeface="Arial"/>
                <a:cs typeface="Arial"/>
                <a:sym typeface="Arial"/>
              </a:rPr>
              <a:t>데이터 소스 확장</a:t>
            </a:r>
            <a:endParaRPr b="0" i="0" sz="2000" u="none" cap="none" strike="noStrike">
              <a:solidFill>
                <a:schemeClr val="dk1"/>
              </a:solidFill>
              <a:latin typeface="Calibri"/>
              <a:ea typeface="Calibri"/>
              <a:cs typeface="Calibri"/>
              <a:sym typeface="Calibri"/>
            </a:endParaRPr>
          </a:p>
        </p:txBody>
      </p:sp>
      <p:sp>
        <p:nvSpPr>
          <p:cNvPr id="1209" name="Google Shape;1209;g3e955750272_3_1146"/>
          <p:cNvSpPr/>
          <p:nvPr/>
        </p:nvSpPr>
        <p:spPr>
          <a:xfrm>
            <a:off x="10344608" y="4374033"/>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더 많은 공식 API · 지자체 소스 연동</a:t>
            </a:r>
            <a:endParaRPr b="0" i="0" sz="1700" u="none" cap="none" strike="noStrike">
              <a:solidFill>
                <a:schemeClr val="dk1"/>
              </a:solidFill>
              <a:latin typeface="Calibri"/>
              <a:ea typeface="Calibri"/>
              <a:cs typeface="Calibri"/>
              <a:sym typeface="Calibri"/>
            </a:endParaRPr>
          </a:p>
        </p:txBody>
      </p:sp>
      <p:sp>
        <p:nvSpPr>
          <p:cNvPr id="1210" name="Google Shape;1210;g3e955750272_3_1146"/>
          <p:cNvSpPr/>
          <p:nvPr/>
        </p:nvSpPr>
        <p:spPr>
          <a:xfrm>
            <a:off x="10059315" y="4859579"/>
            <a:ext cx="7314743" cy="799643"/>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11" name="Google Shape;1211;g3e955750272_3_1146"/>
          <p:cNvSpPr/>
          <p:nvPr/>
        </p:nvSpPr>
        <p:spPr>
          <a:xfrm>
            <a:off x="10344608" y="4973421"/>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2000"/>
              <a:buFont typeface="Arial"/>
              <a:buNone/>
            </a:pPr>
            <a:r>
              <a:rPr b="1" i="0" lang="en-US" sz="2000" u="none" cap="none" strike="noStrike">
                <a:solidFill>
                  <a:srgbClr val="3F3FB8"/>
                </a:solidFill>
                <a:latin typeface="Arial"/>
                <a:ea typeface="Arial"/>
                <a:cs typeface="Arial"/>
                <a:sym typeface="Arial"/>
              </a:rPr>
              <a:t>유사 공고 묶어 보여주기</a:t>
            </a:r>
            <a:endParaRPr b="0" i="0" sz="2000" u="none" cap="none" strike="noStrike">
              <a:solidFill>
                <a:schemeClr val="dk1"/>
              </a:solidFill>
              <a:latin typeface="Calibri"/>
              <a:ea typeface="Calibri"/>
              <a:cs typeface="Calibri"/>
              <a:sym typeface="Calibri"/>
            </a:endParaRPr>
          </a:p>
        </p:txBody>
      </p:sp>
      <p:sp>
        <p:nvSpPr>
          <p:cNvPr id="1212" name="Google Shape;1212;g3e955750272_3_1146"/>
          <p:cNvSpPr/>
          <p:nvPr/>
        </p:nvSpPr>
        <p:spPr>
          <a:xfrm>
            <a:off x="10344608" y="5288889"/>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중앙 안내 / 지역 안내 구분 노출</a:t>
            </a:r>
            <a:endParaRPr b="0" i="0" sz="1700" u="none" cap="none" strike="noStrike">
              <a:solidFill>
                <a:schemeClr val="dk1"/>
              </a:solidFill>
              <a:latin typeface="Calibri"/>
              <a:ea typeface="Calibri"/>
              <a:cs typeface="Calibri"/>
              <a:sym typeface="Calibri"/>
            </a:endParaRPr>
          </a:p>
        </p:txBody>
      </p:sp>
      <p:sp>
        <p:nvSpPr>
          <p:cNvPr id="1213" name="Google Shape;1213;g3e955750272_3_1146"/>
          <p:cNvSpPr/>
          <p:nvPr/>
        </p:nvSpPr>
        <p:spPr>
          <a:xfrm>
            <a:off x="10059315" y="5774436"/>
            <a:ext cx="7314743" cy="799643"/>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14" name="Google Shape;1214;g3e955750272_3_1146"/>
          <p:cNvSpPr/>
          <p:nvPr/>
        </p:nvSpPr>
        <p:spPr>
          <a:xfrm>
            <a:off x="10344608" y="5888279"/>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2000"/>
              <a:buFont typeface="Arial"/>
              <a:buNone/>
            </a:pPr>
            <a:r>
              <a:rPr b="1" i="0" lang="en-US" sz="2000" u="none" cap="none" strike="noStrike">
                <a:solidFill>
                  <a:srgbClr val="3F3FB8"/>
                </a:solidFill>
                <a:latin typeface="Arial"/>
                <a:ea typeface="Arial"/>
                <a:cs typeface="Arial"/>
                <a:sym typeface="Arial"/>
              </a:rPr>
              <a:t>답변 근거 표시</a:t>
            </a:r>
            <a:endParaRPr b="0" i="0" sz="2000" u="none" cap="none" strike="noStrike">
              <a:solidFill>
                <a:schemeClr val="dk1"/>
              </a:solidFill>
              <a:latin typeface="Calibri"/>
              <a:ea typeface="Calibri"/>
              <a:cs typeface="Calibri"/>
              <a:sym typeface="Calibri"/>
            </a:endParaRPr>
          </a:p>
        </p:txBody>
      </p:sp>
      <p:sp>
        <p:nvSpPr>
          <p:cNvPr id="1215" name="Google Shape;1215;g3e955750272_3_1146"/>
          <p:cNvSpPr/>
          <p:nvPr/>
        </p:nvSpPr>
        <p:spPr>
          <a:xfrm>
            <a:off x="10344608" y="6203747"/>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RAG 답변에 참고 공고 출처 노출</a:t>
            </a:r>
            <a:endParaRPr b="0" i="0" sz="1700" u="none" cap="none" strike="noStrike">
              <a:solidFill>
                <a:schemeClr val="dk1"/>
              </a:solidFill>
              <a:latin typeface="Calibri"/>
              <a:ea typeface="Calibri"/>
              <a:cs typeface="Calibri"/>
              <a:sym typeface="Calibri"/>
            </a:endParaRPr>
          </a:p>
        </p:txBody>
      </p:sp>
      <p:sp>
        <p:nvSpPr>
          <p:cNvPr id="1216" name="Google Shape;1216;g3e955750272_3_1146"/>
          <p:cNvSpPr/>
          <p:nvPr/>
        </p:nvSpPr>
        <p:spPr>
          <a:xfrm>
            <a:off x="10059315" y="6689294"/>
            <a:ext cx="7314743" cy="799643"/>
          </a:xfrm>
          <a:prstGeom prst="rect">
            <a:avLst/>
          </a:prstGeom>
          <a:solidFill>
            <a:srgbClr val="EDE9FE"/>
          </a:solidFill>
          <a:ln cap="flat" cmpd="sng" w="12700">
            <a:solidFill>
              <a:srgbClr val="EDE9FE"/>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17" name="Google Shape;1217;g3e955750272_3_1146"/>
          <p:cNvSpPr/>
          <p:nvPr/>
        </p:nvSpPr>
        <p:spPr>
          <a:xfrm>
            <a:off x="10344608" y="6803136"/>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3FB8"/>
              </a:buClr>
              <a:buSzPts val="2000"/>
              <a:buFont typeface="Arial"/>
              <a:buNone/>
            </a:pPr>
            <a:r>
              <a:rPr b="1" i="0" lang="en-US" sz="2000" u="none" cap="none" strike="noStrike">
                <a:solidFill>
                  <a:srgbClr val="3F3FB8"/>
                </a:solidFill>
                <a:latin typeface="Arial"/>
                <a:ea typeface="Arial"/>
                <a:cs typeface="Arial"/>
                <a:sym typeface="Arial"/>
              </a:rPr>
              <a:t>추천 신호 정교화</a:t>
            </a:r>
            <a:endParaRPr b="0" i="0" sz="2000" u="none" cap="none" strike="noStrike">
              <a:solidFill>
                <a:schemeClr val="dk1"/>
              </a:solidFill>
              <a:latin typeface="Calibri"/>
              <a:ea typeface="Calibri"/>
              <a:cs typeface="Calibri"/>
              <a:sym typeface="Calibri"/>
            </a:endParaRPr>
          </a:p>
        </p:txBody>
      </p:sp>
      <p:sp>
        <p:nvSpPr>
          <p:cNvPr id="1218" name="Google Shape;1218;g3e955750272_3_1146"/>
          <p:cNvSpPr/>
          <p:nvPr/>
        </p:nvSpPr>
        <p:spPr>
          <a:xfrm>
            <a:off x="10344608" y="7118604"/>
            <a:ext cx="6742785" cy="31409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A33"/>
              </a:buClr>
              <a:buSzPts val="1700"/>
              <a:buFont typeface="Arial"/>
              <a:buNone/>
            </a:pPr>
            <a:r>
              <a:rPr b="0" i="0" lang="en-US" sz="1700" u="none" cap="none" strike="noStrike">
                <a:solidFill>
                  <a:srgbClr val="2A2A33"/>
                </a:solidFill>
                <a:latin typeface="Arial"/>
                <a:ea typeface="Arial"/>
                <a:cs typeface="Arial"/>
                <a:sym typeface="Arial"/>
              </a:rPr>
              <a:t>프로필 · 스크랩 이력 활용 확대</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A4A"/>
        </a:solidFill>
      </p:bgPr>
    </p:bg>
    <p:spTree>
      <p:nvGrpSpPr>
        <p:cNvPr id="1223" name="Shape 1223"/>
        <p:cNvGrpSpPr/>
        <p:nvPr/>
      </p:nvGrpSpPr>
      <p:grpSpPr>
        <a:xfrm>
          <a:off x="0" y="0"/>
          <a:ext cx="0" cy="0"/>
          <a:chOff x="0" y="0"/>
          <a:chExt cx="0" cy="0"/>
        </a:xfrm>
      </p:grpSpPr>
      <p:sp>
        <p:nvSpPr>
          <p:cNvPr id="1224" name="Google Shape;1224;g3e955750272_3_1186"/>
          <p:cNvSpPr/>
          <p:nvPr/>
        </p:nvSpPr>
        <p:spPr>
          <a:xfrm>
            <a:off x="0" y="0"/>
            <a:ext cx="18287543" cy="86411"/>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25" name="Google Shape;1225;g3e955750272_3_1186"/>
          <p:cNvSpPr/>
          <p:nvPr/>
        </p:nvSpPr>
        <p:spPr>
          <a:xfrm>
            <a:off x="914858" y="685800"/>
            <a:ext cx="4286250" cy="4005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PolicyRec</a:t>
            </a:r>
            <a:endParaRPr b="0" i="0" sz="2100" u="none" cap="none" strike="noStrike">
              <a:solidFill>
                <a:schemeClr val="dk1"/>
              </a:solidFill>
              <a:latin typeface="Calibri"/>
              <a:ea typeface="Calibri"/>
              <a:cs typeface="Calibri"/>
              <a:sym typeface="Calibri"/>
            </a:endParaRPr>
          </a:p>
        </p:txBody>
      </p:sp>
      <p:sp>
        <p:nvSpPr>
          <p:cNvPr id="1226" name="Google Shape;1226;g3e955750272_3_1186"/>
          <p:cNvSpPr/>
          <p:nvPr/>
        </p:nvSpPr>
        <p:spPr>
          <a:xfrm>
            <a:off x="2486710" y="685800"/>
            <a:ext cx="5715458" cy="4005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0CC"/>
              </a:buClr>
              <a:buSzPts val="1400"/>
              <a:buFont typeface="Arial"/>
              <a:buNone/>
            </a:pPr>
            <a:r>
              <a:rPr b="0" i="0" lang="en-US" sz="1400" u="none" cap="none" strike="noStrike">
                <a:solidFill>
                  <a:srgbClr val="B8C0CC"/>
                </a:solidFill>
                <a:latin typeface="Arial"/>
                <a:ea typeface="Arial"/>
                <a:cs typeface="Arial"/>
                <a:sym typeface="Arial"/>
              </a:rPr>
              <a:t>WEB SERVICE ·  2026</a:t>
            </a:r>
            <a:endParaRPr b="0" i="0" sz="1400" u="none" cap="none" strike="noStrike">
              <a:solidFill>
                <a:schemeClr val="dk1"/>
              </a:solidFill>
              <a:latin typeface="Calibri"/>
              <a:ea typeface="Calibri"/>
              <a:cs typeface="Calibri"/>
              <a:sym typeface="Calibri"/>
            </a:endParaRPr>
          </a:p>
        </p:txBody>
      </p:sp>
      <p:sp>
        <p:nvSpPr>
          <p:cNvPr id="1227" name="Google Shape;1227;g3e955750272_3_1186"/>
          <p:cNvSpPr/>
          <p:nvPr/>
        </p:nvSpPr>
        <p:spPr>
          <a:xfrm>
            <a:off x="0" y="3143707"/>
            <a:ext cx="18287543" cy="1714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0"/>
              <a:buFont typeface="Arial"/>
              <a:buNone/>
            </a:pPr>
            <a:r>
              <a:rPr b="1" i="0" lang="en-US" sz="12000" u="none" cap="none" strike="noStrike">
                <a:solidFill>
                  <a:srgbClr val="FFFFFF"/>
                </a:solidFill>
                <a:latin typeface="Arial"/>
                <a:ea typeface="Arial"/>
                <a:cs typeface="Arial"/>
                <a:sym typeface="Arial"/>
              </a:rPr>
              <a:t>감사합니다</a:t>
            </a:r>
            <a:endParaRPr b="0" i="0" sz="12000" u="none" cap="none" strike="noStrike">
              <a:solidFill>
                <a:schemeClr val="dk1"/>
              </a:solidFill>
              <a:latin typeface="Calibri"/>
              <a:ea typeface="Calibri"/>
              <a:cs typeface="Calibri"/>
              <a:sym typeface="Calibri"/>
            </a:endParaRPr>
          </a:p>
        </p:txBody>
      </p:sp>
      <p:sp>
        <p:nvSpPr>
          <p:cNvPr id="1228" name="Google Shape;1228;g3e955750272_3_1186"/>
          <p:cNvSpPr/>
          <p:nvPr/>
        </p:nvSpPr>
        <p:spPr>
          <a:xfrm>
            <a:off x="0" y="4943247"/>
            <a:ext cx="18287543" cy="57195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0CC"/>
              </a:buClr>
              <a:buSzPts val="3000"/>
              <a:buFont typeface="Arial"/>
              <a:buNone/>
            </a:pPr>
            <a:r>
              <a:rPr b="0" i="0" lang="en-US" sz="3000" u="none" cap="none" strike="noStrike">
                <a:solidFill>
                  <a:srgbClr val="B8C0CC"/>
                </a:solidFill>
                <a:latin typeface="Arial"/>
                <a:ea typeface="Arial"/>
                <a:cs typeface="Arial"/>
                <a:sym typeface="Arial"/>
              </a:rPr>
              <a:t>내 조건에 맞는 정책 탐색의 시작점.</a:t>
            </a:r>
            <a:endParaRPr b="0" i="0" sz="3000" u="none" cap="none" strike="noStrike">
              <a:solidFill>
                <a:schemeClr val="dk1"/>
              </a:solidFill>
              <a:latin typeface="Calibri"/>
              <a:ea typeface="Calibri"/>
              <a:cs typeface="Calibri"/>
              <a:sym typeface="Calibri"/>
            </a:endParaRPr>
          </a:p>
        </p:txBody>
      </p:sp>
      <p:sp>
        <p:nvSpPr>
          <p:cNvPr id="1229" name="Google Shape;1229;g3e955750272_3_1186"/>
          <p:cNvSpPr/>
          <p:nvPr/>
        </p:nvSpPr>
        <p:spPr>
          <a:xfrm>
            <a:off x="2799435" y="6286042"/>
            <a:ext cx="4000958" cy="914858"/>
          </a:xfrm>
          <a:prstGeom prst="rect">
            <a:avLst/>
          </a:prstGeom>
          <a:solidFill>
            <a:srgbClr val="0F1A33"/>
          </a:solidFill>
          <a:ln cap="flat" cmpd="sng" w="12700">
            <a:solidFill>
              <a:srgbClr val="0F1A3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30" name="Google Shape;1230;g3e955750272_3_1186"/>
          <p:cNvSpPr/>
          <p:nvPr/>
        </p:nvSpPr>
        <p:spPr>
          <a:xfrm>
            <a:off x="2799435" y="6286042"/>
            <a:ext cx="42519" cy="9148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31" name="Google Shape;1231;g3e955750272_3_1186"/>
          <p:cNvSpPr/>
          <p:nvPr/>
        </p:nvSpPr>
        <p:spPr>
          <a:xfrm>
            <a:off x="3084729" y="6286042"/>
            <a:ext cx="3429000" cy="9148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공식 API 3종 연결</a:t>
            </a:r>
            <a:endParaRPr b="0" i="0" sz="2100" u="none" cap="none" strike="noStrike">
              <a:solidFill>
                <a:schemeClr val="dk1"/>
              </a:solidFill>
              <a:latin typeface="Calibri"/>
              <a:ea typeface="Calibri"/>
              <a:cs typeface="Calibri"/>
              <a:sym typeface="Calibri"/>
            </a:endParaRPr>
          </a:p>
        </p:txBody>
      </p:sp>
      <p:sp>
        <p:nvSpPr>
          <p:cNvPr id="1232" name="Google Shape;1232;g3e955750272_3_1186"/>
          <p:cNvSpPr/>
          <p:nvPr/>
        </p:nvSpPr>
        <p:spPr>
          <a:xfrm>
            <a:off x="7143292" y="6286042"/>
            <a:ext cx="4000958" cy="914858"/>
          </a:xfrm>
          <a:prstGeom prst="rect">
            <a:avLst/>
          </a:prstGeom>
          <a:solidFill>
            <a:srgbClr val="0F1A33"/>
          </a:solidFill>
          <a:ln cap="flat" cmpd="sng" w="12700">
            <a:solidFill>
              <a:srgbClr val="0F1A3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33" name="Google Shape;1233;g3e955750272_3_1186"/>
          <p:cNvSpPr/>
          <p:nvPr/>
        </p:nvSpPr>
        <p:spPr>
          <a:xfrm>
            <a:off x="7143292" y="6286042"/>
            <a:ext cx="42519" cy="9148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34" name="Google Shape;1234;g3e955750272_3_1186"/>
          <p:cNvSpPr/>
          <p:nvPr/>
        </p:nvSpPr>
        <p:spPr>
          <a:xfrm>
            <a:off x="7428585" y="6286042"/>
            <a:ext cx="3429000" cy="9148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565건 · 29 공통 컬럼</a:t>
            </a:r>
            <a:endParaRPr b="0" i="0" sz="2100" u="none" cap="none" strike="noStrike">
              <a:solidFill>
                <a:schemeClr val="dk1"/>
              </a:solidFill>
              <a:latin typeface="Calibri"/>
              <a:ea typeface="Calibri"/>
              <a:cs typeface="Calibri"/>
              <a:sym typeface="Calibri"/>
            </a:endParaRPr>
          </a:p>
        </p:txBody>
      </p:sp>
      <p:sp>
        <p:nvSpPr>
          <p:cNvPr id="1235" name="Google Shape;1235;g3e955750272_3_1186"/>
          <p:cNvSpPr/>
          <p:nvPr/>
        </p:nvSpPr>
        <p:spPr>
          <a:xfrm>
            <a:off x="11487150" y="6286042"/>
            <a:ext cx="4000958" cy="914858"/>
          </a:xfrm>
          <a:prstGeom prst="rect">
            <a:avLst/>
          </a:prstGeom>
          <a:solidFill>
            <a:srgbClr val="0F1A33"/>
          </a:solidFill>
          <a:ln cap="flat" cmpd="sng" w="12700">
            <a:solidFill>
              <a:srgbClr val="0F1A33"/>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36" name="Google Shape;1236;g3e955750272_3_1186"/>
          <p:cNvSpPr/>
          <p:nvPr/>
        </p:nvSpPr>
        <p:spPr>
          <a:xfrm>
            <a:off x="11487150" y="6286042"/>
            <a:ext cx="42519" cy="914858"/>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237" name="Google Shape;1237;g3e955750272_3_1186"/>
          <p:cNvSpPr/>
          <p:nvPr/>
        </p:nvSpPr>
        <p:spPr>
          <a:xfrm>
            <a:off x="11772442" y="6286042"/>
            <a:ext cx="3429000" cy="9148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검색 · 추천 · 챗봇 연결</a:t>
            </a:r>
            <a:endParaRPr b="0" i="0" sz="2100" u="none" cap="none" strike="noStrike">
              <a:solidFill>
                <a:schemeClr val="dk1"/>
              </a:solidFill>
              <a:latin typeface="Calibri"/>
              <a:ea typeface="Calibri"/>
              <a:cs typeface="Calibri"/>
              <a:sym typeface="Calibri"/>
            </a:endParaRPr>
          </a:p>
        </p:txBody>
      </p:sp>
      <p:sp>
        <p:nvSpPr>
          <p:cNvPr id="1238" name="Google Shape;1238;g3e955750272_3_1186"/>
          <p:cNvSpPr/>
          <p:nvPr/>
        </p:nvSpPr>
        <p:spPr>
          <a:xfrm>
            <a:off x="0" y="9543592"/>
            <a:ext cx="18287543"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PolicyRec</a:t>
            </a:r>
            <a:r>
              <a:rPr b="0" i="0" lang="en-US" sz="1500" u="none" cap="none" strike="noStrike">
                <a:solidFill>
                  <a:srgbClr val="B8C0CC"/>
                </a:solidFill>
                <a:latin typeface="Arial"/>
                <a:ea typeface="Arial"/>
                <a:cs typeface="Arial"/>
                <a:sym typeface="Arial"/>
              </a:rPr>
              <a:t>  ·  WEB SERVICE ·  2026.05.1</a:t>
            </a:r>
            <a:r>
              <a:rPr lang="en-US" sz="1500">
                <a:solidFill>
                  <a:srgbClr val="B8C0CC"/>
                </a:solidFill>
              </a:rPr>
              <a:t>8</a:t>
            </a:r>
            <a:endParaRPr b="0" i="0" sz="1500" u="none" cap="none" strike="noStrike">
              <a:solidFill>
                <a:schemeClr val="dk1"/>
              </a:solidFill>
              <a:latin typeface="Calibri"/>
              <a:ea typeface="Calibri"/>
              <a:cs typeface="Calibri"/>
              <a:sym typeface="Calibri"/>
            </a:endParaRPr>
          </a:p>
        </p:txBody>
      </p:sp>
      <p:sp>
        <p:nvSpPr>
          <p:cNvPr id="1239" name="Google Shape;1239;g3e955750272_3_1186"/>
          <p:cNvSpPr/>
          <p:nvPr/>
        </p:nvSpPr>
        <p:spPr>
          <a:xfrm>
            <a:off x="0" y="10200589"/>
            <a:ext cx="18287543" cy="86410"/>
          </a:xfrm>
          <a:prstGeom prst="rect">
            <a:avLst/>
          </a:prstGeom>
          <a:solidFill>
            <a:srgbClr val="5B5BD6"/>
          </a:solidFill>
          <a:ln cap="flat" cmpd="sng" w="12700">
            <a:solidFill>
              <a:srgbClr val="5B5BD6"/>
            </a:solidFill>
            <a:prstDash val="solid"/>
            <a:round/>
            <a:headEnd len="sm" w="sm" type="none"/>
            <a:tailEnd len="sm" w="sm" type="none"/>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